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61" r:id="rId2"/>
    <p:sldId id="296" r:id="rId3"/>
    <p:sldId id="265" r:id="rId4"/>
    <p:sldId id="365" r:id="rId5"/>
    <p:sldId id="324" r:id="rId6"/>
    <p:sldId id="325" r:id="rId7"/>
    <p:sldId id="326" r:id="rId8"/>
    <p:sldId id="327" r:id="rId9"/>
    <p:sldId id="328" r:id="rId10"/>
    <p:sldId id="329" r:id="rId11"/>
    <p:sldId id="330" r:id="rId12"/>
    <p:sldId id="331" r:id="rId13"/>
    <p:sldId id="332" r:id="rId14"/>
    <p:sldId id="333" r:id="rId15"/>
    <p:sldId id="334" r:id="rId16"/>
    <p:sldId id="335" r:id="rId17"/>
    <p:sldId id="353" r:id="rId18"/>
    <p:sldId id="345" r:id="rId19"/>
    <p:sldId id="358" r:id="rId20"/>
    <p:sldId id="359" r:id="rId21"/>
    <p:sldId id="360" r:id="rId22"/>
    <p:sldId id="361" r:id="rId23"/>
    <p:sldId id="350" r:id="rId24"/>
    <p:sldId id="351" r:id="rId2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DDE3E92-C78C-4306-8529-161AD70A1FE1}" v="44" dt="2026-06-09T05:15:05.079"/>
    <p1510:client id="{75DF3875-CD8A-4AAC-856A-1FEBA80DE610}" v="305" dt="2026-06-08T01:18:04.545"/>
    <p1510:client id="{D600364E-4A8E-4AEF-A6C5-196DDF51CBB2}" v="1651" dt="2026-06-08T07:21:00.14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9" d="100"/>
          <a:sy n="69" d="100"/>
        </p:scale>
        <p:origin x="900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5/10/relationships/revisionInfo" Target="revisionInfo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2026-06-09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9716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2026-06-09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39829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2026-06-09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62341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2026-06-09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1963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2026-06-09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34699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2026-06-09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02725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2026-06-09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56823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2026-06-09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96060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2026-06-09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64931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2026-06-09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05130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6825D-2B69-4989-8861-A6901ABADB6C}" type="datetimeFigureOut">
              <a:rPr lang="ko-KR" altLang="en-US" smtClean="0"/>
              <a:t>2026-06-09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39568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E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566825D-2B69-4989-8861-A6901ABADB6C}" type="datetimeFigureOut">
              <a:rPr lang="ko-KR" altLang="en-US" smtClean="0"/>
              <a:t>2026-06-09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6B6DB3-44B8-41C4-A846-21F6C6172237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00" name="LeftAccentBar"/>
          <p:cNvSpPr/>
          <p:nvPr/>
        </p:nvSpPr>
        <p:spPr>
          <a:xfrm>
            <a:off x="0" y="0"/>
            <a:ext cx="68580" cy="6858000"/>
          </a:xfrm>
          <a:prstGeom prst="rect">
            <a:avLst/>
          </a:prstGeom>
          <a:solidFill>
            <a:srgbClr val="4FD1C5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6867432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E8EAF0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github.com/YongBonJeon/CodeFab/issues/13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github.com/YongBonJeon/CodeFab/issues/14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github.com/YongBonJeon/CodeFab/issues/15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sv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sz="5400" b="1" dirty="0">
                <a:solidFill>
                  <a:srgbClr val="FFFFFF"/>
                </a:solidFill>
              </a:rPr>
              <a:t>CodeFab Interpreter</a:t>
            </a:r>
          </a:p>
        </p:txBody>
      </p:sp>
      <p:sp>
        <p:nvSpPr>
          <p:cNvPr id="50" name="TeamPanel"/>
          <p:cNvSpPr/>
          <p:nvPr/>
        </p:nvSpPr>
        <p:spPr>
          <a:xfrm>
            <a:off x="4151971" y="3811549"/>
            <a:ext cx="3886200" cy="1143000"/>
          </a:xfrm>
          <a:prstGeom prst="roundRect">
            <a:avLst>
              <a:gd name="adj" fmla="val 6000"/>
            </a:avLst>
          </a:prstGeom>
          <a:solidFill>
            <a:srgbClr val="242A3A"/>
          </a:solidFill>
          <a:ln w="12700">
            <a:solidFill>
              <a:srgbClr val="4FD1C5"/>
            </a:solidFill>
          </a:ln>
        </p:spPr>
        <p:txBody>
          <a:bodyPr lIns="137160" tIns="91440" rIns="137160" bIns="91440" anchor="ctr"/>
          <a:lstStyle/>
          <a:p>
            <a:pPr algn="ctr"/>
            <a:r>
              <a:rPr lang="en-US" sz="1400" b="1" dirty="0">
                <a:solidFill>
                  <a:srgbClr val="F6AD55"/>
                </a:solidFill>
              </a:rPr>
              <a:t>TEAM</a:t>
            </a:r>
            <a:r>
              <a:rPr lang="en-US" sz="2000" b="1" dirty="0">
                <a:solidFill>
                  <a:srgbClr val="FFFFFF"/>
                </a:solidFill>
              </a:rPr>
              <a:t>  AceCoder</a:t>
            </a:r>
          </a:p>
          <a:p>
            <a:pPr algn="ctr">
              <a:spcBef>
                <a:spcPts val="600"/>
              </a:spcBef>
            </a:pPr>
            <a:r>
              <a:rPr lang="ko-KR" altLang="ko-KR" sz="1600" dirty="0" err="1">
                <a:solidFill>
                  <a:srgbClr val="E8EAF0"/>
                </a:solidFill>
              </a:rPr>
              <a:t>전용본</a:t>
            </a:r>
            <a:r>
              <a:rPr lang="ko-KR" altLang="ko-KR" sz="1600" dirty="0">
                <a:solidFill>
                  <a:srgbClr val="E8EAF0"/>
                </a:solidFill>
              </a:rPr>
              <a:t> ·</a:t>
            </a:r>
            <a:r>
              <a:rPr lang="en-US" altLang="ko-KR" sz="1600" dirty="0">
                <a:solidFill>
                  <a:srgbClr val="E8EAF0"/>
                </a:solidFill>
              </a:rPr>
              <a:t> </a:t>
            </a:r>
            <a:r>
              <a:rPr lang="ko-KR" altLang="ko-KR" sz="1600" dirty="0">
                <a:solidFill>
                  <a:srgbClr val="E8EAF0"/>
                </a:solidFill>
              </a:rPr>
              <a:t>김용우 · </a:t>
            </a:r>
            <a:r>
              <a:rPr lang="ko-KR" sz="1600" dirty="0" err="1">
                <a:solidFill>
                  <a:srgbClr val="E8EAF0"/>
                </a:solidFill>
              </a:rPr>
              <a:t>안인성</a:t>
            </a:r>
            <a:endParaRPr lang="ko-KR" sz="1600" dirty="0">
              <a:solidFill>
                <a:srgbClr val="E8EAF0"/>
              </a:solidFill>
            </a:endParaRPr>
          </a:p>
        </p:txBody>
      </p:sp>
      <p:sp>
        <p:nvSpPr>
          <p:cNvPr id="60" name="SlideAccentBar"/>
          <p:cNvSpPr/>
          <p:nvPr/>
        </p:nvSpPr>
        <p:spPr>
          <a:xfrm>
            <a:off x="0" y="0"/>
            <a:ext cx="68580" cy="6858000"/>
          </a:xfrm>
          <a:prstGeom prst="rect">
            <a:avLst/>
          </a:prstGeom>
          <a:solidFill>
            <a:srgbClr val="4FD1C5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694662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E2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AccentBar">
            <a:extLst>
              <a:ext uri="{FF2B5EF4-FFF2-40B4-BE49-F238E27FC236}">
                <a16:creationId xmlns:a16="http://schemas.microsoft.com/office/drawing/2014/main" id="{29FF770E-C7F7-4489-AFB0-629CA43003E8}"/>
              </a:ext>
            </a:extLst>
          </p:cNvPr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1" name="Kicker">
            <a:extLst>
              <a:ext uri="{FF2B5EF4-FFF2-40B4-BE49-F238E27FC236}">
                <a16:creationId xmlns:a16="http://schemas.microsoft.com/office/drawing/2014/main" id="{5F14D70F-0A8D-4A1D-953F-A4685CBD72C9}"/>
              </a:ext>
            </a:extLst>
          </p:cNvPr>
          <p:cNvSpPr txBox="1"/>
          <p:nvPr/>
        </p:nvSpPr>
        <p:spPr>
          <a:xfrm>
            <a:off x="609600" y="482600"/>
            <a:ext cx="7620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af-ZA" altLang="ko-KR" sz="1400" b="1">
                <a:solidFill>
                  <a:srgbClr val="F6AD55"/>
                </a:solidFill>
                <a:latin typeface="Segoe UI"/>
                <a:cs typeface="Segoe UI"/>
              </a:rPr>
              <a:t>01  PROJECT OVERVIEW</a:t>
            </a:r>
            <a:endParaRPr lang="ko-KR" altLang="en-US" sz="1400" b="1">
              <a:solidFill>
                <a:srgbClr val="F6AD55"/>
              </a:solidFill>
              <a:latin typeface="Segoe UI"/>
              <a:cs typeface="Segoe UI"/>
            </a:endParaRPr>
          </a:p>
        </p:txBody>
      </p:sp>
      <p:sp>
        <p:nvSpPr>
          <p:cNvPr id="12" name="Title">
            <a:extLst>
              <a:ext uri="{FF2B5EF4-FFF2-40B4-BE49-F238E27FC236}">
                <a16:creationId xmlns:a16="http://schemas.microsoft.com/office/drawing/2014/main" id="{8E244791-8A37-4CDE-A7BA-6EE00A431333}"/>
              </a:ext>
            </a:extLst>
          </p:cNvPr>
          <p:cNvSpPr txBox="1"/>
          <p:nvPr/>
        </p:nvSpPr>
        <p:spPr>
          <a:xfrm>
            <a:off x="596900" y="787400"/>
            <a:ext cx="10972800" cy="660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ko-KR" altLang="en-US" sz="3200" b="1">
                <a:solidFill>
                  <a:srgbClr val="FFFFFF"/>
                </a:solidFill>
                <a:latin typeface="Segoe UI Semibold"/>
                <a:cs typeface="Segoe UI Semibold"/>
              </a:rPr>
              <a:t>프로젝트 개요</a:t>
            </a:r>
          </a:p>
        </p:txBody>
      </p:sp>
      <p:sp>
        <p:nvSpPr>
          <p:cNvPr id="13" name="TitleRule">
            <a:extLst>
              <a:ext uri="{FF2B5EF4-FFF2-40B4-BE49-F238E27FC236}">
                <a16:creationId xmlns:a16="http://schemas.microsoft.com/office/drawing/2014/main" id="{3CCA5443-E819-4314-9D2D-411125898B71}"/>
              </a:ext>
            </a:extLst>
          </p:cNvPr>
          <p:cNvSpPr/>
          <p:nvPr/>
        </p:nvSpPr>
        <p:spPr>
          <a:xfrm>
            <a:off x="609600" y="1549400"/>
            <a:ext cx="812800" cy="508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GoalCard">
            <a:extLst>
              <a:ext uri="{FF2B5EF4-FFF2-40B4-BE49-F238E27FC236}">
                <a16:creationId xmlns:a16="http://schemas.microsoft.com/office/drawing/2014/main" id="{D899334B-48AD-4693-8B67-68DA84742580}"/>
              </a:ext>
            </a:extLst>
          </p:cNvPr>
          <p:cNvSpPr/>
          <p:nvPr/>
        </p:nvSpPr>
        <p:spPr>
          <a:xfrm>
            <a:off x="600308" y="1905000"/>
            <a:ext cx="5485779" cy="4318000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4FD1C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04800" tIns="279400" rIns="304800" bIns="279400" rtlCol="0" anchor="t" anchorCtr="0"/>
          <a:lstStyle/>
          <a:p>
            <a:pPr>
              <a:buNone/>
            </a:pPr>
            <a:r>
              <a:rPr lang="en-US" sz="1500" b="1" dirty="0" err="1">
                <a:solidFill>
                  <a:srgbClr val="4FD1C5"/>
                </a:solidFill>
                <a:latin typeface="Segoe UI"/>
              </a:rPr>
              <a:t>목표</a:t>
            </a:r>
            <a:endParaRPr lang="en-US" sz="1500" b="1" err="1">
              <a:solidFill>
                <a:srgbClr val="4FD1C5"/>
              </a:solidFill>
              <a:latin typeface="Segoe UI"/>
              <a:cs typeface="Segoe UI"/>
            </a:endParaRPr>
          </a:p>
          <a:p>
            <a:pPr>
              <a:spcBef>
                <a:spcPts val="300"/>
              </a:spcBef>
            </a:pPr>
            <a:r>
              <a:rPr lang="ko-KR" sz="1400" dirty="0">
                <a:solidFill>
                  <a:srgbClr val="E8EAF0"/>
                </a:solidFill>
                <a:latin typeface="Segoe UI"/>
                <a:ea typeface="맑은 고딕"/>
              </a:rPr>
              <a:t> </a:t>
            </a:r>
            <a:r>
              <a:rPr lang="ko-KR" altLang="en-US" sz="1400" dirty="0">
                <a:solidFill>
                  <a:srgbClr val="E8EAF0"/>
                </a:solidFill>
                <a:latin typeface="Segoe UI"/>
                <a:ea typeface="맑은 고딕"/>
              </a:rPr>
              <a:t> </a:t>
            </a:r>
            <a:r>
              <a:rPr lang="ko-KR" sz="1400">
                <a:solidFill>
                  <a:srgbClr val="E8EAF0"/>
                </a:solidFill>
                <a:latin typeface="Segoe UI"/>
                <a:ea typeface="맑은 고딕"/>
              </a:rPr>
              <a:t>커스텀 언어의 문법부터 실행까지 직접 구현</a:t>
            </a:r>
            <a:endParaRPr lang="ko-KR" sz="1400">
              <a:solidFill>
                <a:srgbClr val="E8EAF0"/>
              </a:solidFill>
              <a:latin typeface="Segoe UI"/>
              <a:ea typeface="맑은 고딕"/>
              <a:cs typeface="Segoe UI"/>
            </a:endParaRPr>
          </a:p>
          <a:p>
            <a:pPr>
              <a:spcBef>
                <a:spcPts val="800"/>
              </a:spcBef>
              <a:buNone/>
            </a:pPr>
            <a:r>
              <a:rPr lang="ko-KR" sz="1300" b="1" dirty="0">
                <a:solidFill>
                  <a:srgbClr val="63B3ED"/>
                </a:solidFill>
                <a:latin typeface="Segoe UI"/>
              </a:rPr>
              <a:t>일정 (5일)</a:t>
            </a:r>
          </a:p>
          <a:p>
            <a:pPr marL="0" indent="0">
              <a:spcBef>
                <a:spcPts val="500"/>
              </a:spcBef>
              <a:buNone/>
            </a:pPr>
            <a:r>
              <a:rPr lang="ko-KR" sz="1400" b="1" dirty="0">
                <a:solidFill>
                  <a:srgbClr val="F6AD55"/>
                </a:solidFill>
                <a:latin typeface="Segoe UI"/>
              </a:rPr>
              <a:t>1일차  </a:t>
            </a:r>
            <a:r>
              <a:rPr lang="ko-KR" sz="1400" dirty="0">
                <a:solidFill>
                  <a:srgbClr val="E8EAF0"/>
                </a:solidFill>
                <a:latin typeface="Segoe UI"/>
              </a:rPr>
              <a:t>파이프라인 설계 · Assembler(Lexer+Parser) · Checker · Executor 기초</a:t>
            </a:r>
          </a:p>
          <a:p>
            <a:pPr marL="0" indent="0">
              <a:spcBef>
                <a:spcPts val="500"/>
              </a:spcBef>
              <a:buNone/>
            </a:pPr>
            <a:r>
              <a:rPr lang="ko-KR" sz="1400" b="1" dirty="0">
                <a:solidFill>
                  <a:srgbClr val="F6AD55"/>
                </a:solidFill>
                <a:latin typeface="Segoe UI"/>
              </a:rPr>
              <a:t>2일차  </a:t>
            </a:r>
            <a:r>
              <a:rPr lang="ko-KR" sz="1400" dirty="0">
                <a:solidFill>
                  <a:srgbClr val="E8EAF0"/>
                </a:solidFill>
                <a:latin typeface="Segoe UI"/>
              </a:rPr>
              <a:t>기능 확장(if·for·scope) + TDD + 리팩토링</a:t>
            </a:r>
          </a:p>
          <a:p>
            <a:pPr marL="0" indent="0">
              <a:spcBef>
                <a:spcPts val="500"/>
              </a:spcBef>
              <a:buNone/>
            </a:pPr>
            <a:r>
              <a:rPr lang="ko-KR" sz="1400" b="1" dirty="0">
                <a:solidFill>
                  <a:srgbClr val="F6AD55"/>
                </a:solidFill>
                <a:latin typeface="Segoe UI"/>
              </a:rPr>
              <a:t>3일차  </a:t>
            </a:r>
            <a:r>
              <a:rPr lang="ko-KR" sz="1400" dirty="0">
                <a:solidFill>
                  <a:srgbClr val="E8EAF0"/>
                </a:solidFill>
                <a:latin typeface="Segoe UI"/>
              </a:rPr>
              <a:t>함수 · 정적 배열 · 최적화 · 쉘 추가</a:t>
            </a:r>
          </a:p>
          <a:p>
            <a:pPr marL="0" indent="0">
              <a:spcBef>
                <a:spcPts val="500"/>
              </a:spcBef>
              <a:buNone/>
            </a:pPr>
            <a:r>
              <a:rPr lang="ko-KR" sz="1400" b="1" dirty="0">
                <a:solidFill>
                  <a:srgbClr val="F6AD55"/>
                </a:solidFill>
                <a:latin typeface="Segoe UI"/>
              </a:rPr>
              <a:t>4일차  </a:t>
            </a:r>
            <a:r>
              <a:rPr lang="ko-KR" sz="1400" dirty="0">
                <a:solidFill>
                  <a:srgbClr val="E8EAF0"/>
                </a:solidFill>
                <a:latin typeface="Segoe UI"/>
              </a:rPr>
              <a:t>팀 통합 · PR 코드리뷰</a:t>
            </a:r>
          </a:p>
          <a:p>
            <a:pPr marL="0" indent="0">
              <a:spcBef>
                <a:spcPts val="500"/>
              </a:spcBef>
              <a:buNone/>
            </a:pPr>
            <a:r>
              <a:rPr lang="ko-KR" sz="1400" b="1" dirty="0">
                <a:solidFill>
                  <a:srgbClr val="F6AD55"/>
                </a:solidFill>
                <a:latin typeface="Segoe UI"/>
              </a:rPr>
              <a:t>5일차  </a:t>
            </a:r>
            <a:r>
              <a:rPr lang="ko-KR" sz="1400" dirty="0">
                <a:solidFill>
                  <a:srgbClr val="E8EAF0"/>
                </a:solidFill>
                <a:latin typeface="Segoe UI"/>
              </a:rPr>
              <a:t>발표 준비</a:t>
            </a:r>
          </a:p>
        </p:txBody>
      </p:sp>
      <p:sp>
        <p:nvSpPr>
          <p:cNvPr id="15" name="TimelineCard">
            <a:extLst>
              <a:ext uri="{FF2B5EF4-FFF2-40B4-BE49-F238E27FC236}">
                <a16:creationId xmlns:a16="http://schemas.microsoft.com/office/drawing/2014/main" id="{F3BCE98E-382B-4AEA-83F6-8A8DE697831F}"/>
              </a:ext>
            </a:extLst>
          </p:cNvPr>
          <p:cNvSpPr/>
          <p:nvPr/>
        </p:nvSpPr>
        <p:spPr>
          <a:xfrm>
            <a:off x="6353717" y="1905000"/>
            <a:ext cx="5228683" cy="4318000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63B3E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04800" tIns="279400" rIns="304800" bIns="279400" rtlCol="0" anchor="t" anchorCtr="0"/>
          <a:lstStyle/>
          <a:p>
            <a:pPr>
              <a:buNone/>
            </a:pPr>
            <a:r>
              <a:rPr lang="en-US" sz="1500" b="1" dirty="0" err="1">
                <a:solidFill>
                  <a:srgbClr val="F6AD55"/>
                </a:solidFill>
                <a:latin typeface="Segoe UI"/>
              </a:rPr>
              <a:t>지원</a:t>
            </a:r>
            <a:r>
              <a:rPr lang="en-US" sz="1500" b="1" dirty="0">
                <a:solidFill>
                  <a:srgbClr val="F6AD55"/>
                </a:solidFill>
                <a:latin typeface="Segoe UI"/>
              </a:rPr>
              <a:t> </a:t>
            </a:r>
            <a:r>
              <a:rPr lang="en-US" sz="1500" b="1" dirty="0" err="1">
                <a:solidFill>
                  <a:srgbClr val="F6AD55"/>
                </a:solidFill>
                <a:latin typeface="Segoe UI"/>
              </a:rPr>
              <a:t>문법</a:t>
            </a:r>
            <a:endParaRPr lang="en-US" sz="1500" b="1" dirty="0" err="1">
              <a:solidFill>
                <a:srgbClr val="F6AD55"/>
              </a:solidFill>
              <a:latin typeface="Segoe UI"/>
              <a:cs typeface="Segoe UI"/>
            </a:endParaRPr>
          </a:p>
          <a:p>
            <a:pPr>
              <a:spcBef>
                <a:spcPts val="800"/>
              </a:spcBef>
              <a:buNone/>
            </a:pPr>
            <a:r>
              <a:rPr lang="ko-KR" sz="1300" b="1" dirty="0">
                <a:solidFill>
                  <a:srgbClr val="4FD1C5"/>
                </a:solidFill>
                <a:latin typeface="Segoe UI"/>
              </a:rPr>
              <a:t>키워드</a:t>
            </a:r>
          </a:p>
          <a:p>
            <a:pPr>
              <a:spcBef>
                <a:spcPts val="300"/>
              </a:spcBef>
            </a:pPr>
            <a:r>
              <a:rPr lang="en-US" sz="1300">
                <a:solidFill>
                  <a:schemeClr val="tx1"/>
                </a:solidFill>
                <a:latin typeface="Consolas"/>
              </a:rPr>
              <a:t>  var · if/else · for · Func · return · print</a:t>
            </a:r>
          </a:p>
          <a:p>
            <a:pPr>
              <a:spcBef>
                <a:spcPts val="800"/>
              </a:spcBef>
              <a:buNone/>
            </a:pPr>
            <a:r>
              <a:rPr lang="ko-KR" sz="1300" b="1" dirty="0">
                <a:solidFill>
                  <a:srgbClr val="4FD1C5"/>
                </a:solidFill>
                <a:latin typeface="Segoe UI"/>
              </a:rPr>
              <a:t>연산자</a:t>
            </a:r>
          </a:p>
          <a:p>
            <a:pPr>
              <a:spcBef>
                <a:spcPts val="300"/>
              </a:spcBef>
            </a:pPr>
            <a:r>
              <a:rPr lang="en-US" sz="1300">
                <a:solidFill>
                  <a:schemeClr val="tx1"/>
                </a:solidFill>
                <a:latin typeface="Consolas"/>
              </a:rPr>
              <a:t>  +  -  *  /  %</a:t>
            </a:r>
          </a:p>
          <a:p>
            <a:pPr>
              <a:spcBef>
                <a:spcPts val="300"/>
              </a:spcBef>
            </a:pPr>
            <a:r>
              <a:rPr lang="en-US" sz="1300">
                <a:solidFill>
                  <a:schemeClr val="tx1"/>
                </a:solidFill>
                <a:latin typeface="Consolas"/>
              </a:rPr>
              <a:t>  ==  !=  &lt;  &gt;</a:t>
            </a:r>
          </a:p>
          <a:p>
            <a:pPr>
              <a:spcBef>
                <a:spcPts val="300"/>
              </a:spcBef>
            </a:pPr>
            <a:r>
              <a:rPr lang="en-US" sz="1300">
                <a:solidFill>
                  <a:schemeClr val="tx1"/>
                </a:solidFill>
                <a:latin typeface="Consolas"/>
              </a:rPr>
              <a:t>  and  or  !</a:t>
            </a:r>
          </a:p>
          <a:p>
            <a:pPr>
              <a:spcBef>
                <a:spcPts val="800"/>
              </a:spcBef>
              <a:buNone/>
            </a:pPr>
            <a:r>
              <a:rPr lang="ko-KR" sz="1300" b="1" dirty="0">
                <a:solidFill>
                  <a:srgbClr val="4FD1C5"/>
                </a:solidFill>
                <a:latin typeface="Segoe UI"/>
                <a:ea typeface="맑은 고딕"/>
              </a:rPr>
              <a:t>배열</a:t>
            </a:r>
            <a:endParaRPr lang="ko-KR" sz="1300" b="1" dirty="0">
              <a:solidFill>
                <a:srgbClr val="4FD1C5"/>
              </a:solidFill>
              <a:latin typeface="Segoe UI"/>
              <a:ea typeface="맑은 고딕"/>
              <a:cs typeface="Segoe UI"/>
            </a:endParaRPr>
          </a:p>
          <a:p>
            <a:pPr>
              <a:spcBef>
                <a:spcPts val="300"/>
              </a:spcBef>
            </a:pPr>
            <a:r>
              <a:rPr lang="en-US" sz="1300" dirty="0">
                <a:solidFill>
                  <a:schemeClr val="tx1"/>
                </a:solidFill>
                <a:latin typeface="Consolas"/>
              </a:rPr>
              <a:t>  Array(n) · </a:t>
            </a:r>
            <a:r>
              <a:rPr lang="en-US" sz="1300" dirty="0" err="1">
                <a:solidFill>
                  <a:schemeClr val="tx1"/>
                </a:solidFill>
                <a:latin typeface="Consolas"/>
              </a:rPr>
              <a:t>arr</a:t>
            </a:r>
            <a:r>
              <a:rPr lang="en-US" sz="1300" dirty="0">
                <a:solidFill>
                  <a:schemeClr val="tx1"/>
                </a:solidFill>
                <a:latin typeface="Consolas"/>
              </a:rPr>
              <a:t>[</a:t>
            </a:r>
            <a:r>
              <a:rPr lang="en-US" sz="1300" dirty="0" err="1">
                <a:solidFill>
                  <a:schemeClr val="tx1"/>
                </a:solidFill>
                <a:latin typeface="Consolas"/>
              </a:rPr>
              <a:t>i</a:t>
            </a:r>
            <a:r>
              <a:rPr lang="en-US" sz="1300" dirty="0">
                <a:solidFill>
                  <a:schemeClr val="tx1"/>
                </a:solidFill>
                <a:latin typeface="Consolas"/>
              </a:rPr>
              <a:t>] = v</a:t>
            </a:r>
          </a:p>
        </p:txBody>
      </p:sp>
    </p:spTree>
    <p:extLst>
      <p:ext uri="{BB962C8B-B14F-4D97-AF65-F5344CB8AC3E}">
        <p14:creationId xmlns:p14="http://schemas.microsoft.com/office/powerpoint/2010/main" val="15727892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E2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AccentBar">
            <a:extLst>
              <a:ext uri="{FF2B5EF4-FFF2-40B4-BE49-F238E27FC236}">
                <a16:creationId xmlns:a16="http://schemas.microsoft.com/office/drawing/2014/main" id="{29FF770E-C7F7-4489-AFB0-629CA43003E8}"/>
              </a:ext>
            </a:extLst>
          </p:cNvPr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1" name="Kicker">
            <a:extLst>
              <a:ext uri="{FF2B5EF4-FFF2-40B4-BE49-F238E27FC236}">
                <a16:creationId xmlns:a16="http://schemas.microsoft.com/office/drawing/2014/main" id="{5F14D70F-0A8D-4A1D-953F-A4685CBD72C9}"/>
              </a:ext>
            </a:extLst>
          </p:cNvPr>
          <p:cNvSpPr txBox="1"/>
          <p:nvPr/>
        </p:nvSpPr>
        <p:spPr>
          <a:xfrm>
            <a:off x="609600" y="482600"/>
            <a:ext cx="7620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sz="1400" b="1" dirty="0">
                <a:solidFill>
                  <a:srgbClr val="F6AD55"/>
                </a:solidFill>
                <a:latin typeface="Segoe UI"/>
              </a:rPr>
              <a:t>02  ARCHITECTURE</a:t>
            </a:r>
          </a:p>
        </p:txBody>
      </p:sp>
      <p:sp>
        <p:nvSpPr>
          <p:cNvPr id="12" name="Title">
            <a:extLst>
              <a:ext uri="{FF2B5EF4-FFF2-40B4-BE49-F238E27FC236}">
                <a16:creationId xmlns:a16="http://schemas.microsoft.com/office/drawing/2014/main" id="{8E244791-8A37-4CDE-A7BA-6EE00A431333}"/>
              </a:ext>
            </a:extLst>
          </p:cNvPr>
          <p:cNvSpPr txBox="1"/>
          <p:nvPr/>
        </p:nvSpPr>
        <p:spPr>
          <a:xfrm>
            <a:off x="596900" y="787400"/>
            <a:ext cx="10972800" cy="660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ko-KR" sz="3200" b="1" dirty="0">
                <a:solidFill>
                  <a:srgbClr val="FFFFFF"/>
                </a:solidFill>
                <a:latin typeface="Segoe UI Semibold"/>
              </a:rPr>
              <a:t>아키텍처 설계 · 3-Unit 파이프라인</a:t>
            </a:r>
          </a:p>
        </p:txBody>
      </p:sp>
      <p:sp>
        <p:nvSpPr>
          <p:cNvPr id="13" name="TitleRule">
            <a:extLst>
              <a:ext uri="{FF2B5EF4-FFF2-40B4-BE49-F238E27FC236}">
                <a16:creationId xmlns:a16="http://schemas.microsoft.com/office/drawing/2014/main" id="{3CCA5443-E819-4314-9D2D-411125898B71}"/>
              </a:ext>
            </a:extLst>
          </p:cNvPr>
          <p:cNvSpPr/>
          <p:nvPr/>
        </p:nvSpPr>
        <p:spPr>
          <a:xfrm>
            <a:off x="609600" y="1549400"/>
            <a:ext cx="812800" cy="508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1" name="UNIT 1"/>
          <p:cNvSpPr/>
          <p:nvPr/>
        </p:nvSpPr>
        <p:spPr>
          <a:xfrm>
            <a:off x="609600" y="2286000"/>
            <a:ext cx="3251200" cy="1397000"/>
          </a:xfrm>
          <a:prstGeom prst="roundRect">
            <a:avLst/>
          </a:prstGeom>
          <a:solidFill>
            <a:srgbClr val="242A3A"/>
          </a:solidFill>
          <a:ln w="19050">
            <a:solidFill>
              <a:srgbClr val="4FD1C5"/>
            </a:solidFill>
          </a:ln>
        </p:spPr>
        <p:txBody>
          <a:bodyPr wrap="square" lIns="228600" tIns="203200" rIns="228600" bIns="203200" anchor="t"/>
          <a:lstStyle/>
          <a:p>
            <a:pPr algn="ctr"/>
            <a:r>
              <a:rPr lang="en-US" sz="1100" b="1" dirty="0">
                <a:solidFill>
                  <a:srgbClr val="4FD1C5"/>
                </a:solidFill>
                <a:latin typeface="Segoe UI"/>
              </a:rPr>
              <a:t>UNIT 1</a:t>
            </a:r>
          </a:p>
          <a:p>
            <a:pPr algn="ctr">
              <a:spcBef>
                <a:spcPts val="300"/>
              </a:spcBef>
            </a:pPr>
            <a:r>
              <a:rPr lang="en-US" sz="1900" b="1" dirty="0">
                <a:solidFill>
                  <a:srgbClr val="FFFFFF"/>
                </a:solidFill>
                <a:latin typeface="Segoe UI Semibold"/>
              </a:rPr>
              <a:t>Assembler</a:t>
            </a:r>
          </a:p>
          <a:p>
            <a:pPr algn="ctr">
              <a:spcBef>
                <a:spcPts val="300"/>
              </a:spcBef>
            </a:pPr>
            <a:r>
              <a:rPr lang="ko-KR" altLang="en-US" sz="1200" b="1" dirty="0">
                <a:solidFill>
                  <a:srgbClr val="FFFFFF"/>
                </a:solidFill>
                <a:latin typeface="Segoe UI Semibold"/>
                <a:ea typeface="맑은 고딕"/>
                <a:cs typeface="Segoe UI Semibold"/>
              </a:rPr>
              <a:t>(</a:t>
            </a:r>
            <a:r>
              <a:rPr lang="ko-KR" altLang="en-US" sz="1200" b="1" dirty="0" err="1">
                <a:solidFill>
                  <a:srgbClr val="FFFFFF"/>
                </a:solidFill>
                <a:latin typeface="Segoe UI Semibold"/>
                <a:ea typeface="맑은 고딕"/>
                <a:cs typeface="Segoe UI Semibold"/>
              </a:rPr>
              <a:t>안인성</a:t>
            </a:r>
            <a:r>
              <a:rPr lang="ko-KR" altLang="en-US" sz="1200" b="1" dirty="0">
                <a:solidFill>
                  <a:srgbClr val="FFFFFF"/>
                </a:solidFill>
                <a:latin typeface="Segoe UI Semibold"/>
                <a:ea typeface="맑은 고딕"/>
                <a:cs typeface="Segoe UI Semibold"/>
              </a:rPr>
              <a:t>)</a:t>
            </a:r>
          </a:p>
        </p:txBody>
      </p:sp>
      <p:sp>
        <p:nvSpPr>
          <p:cNvPr id="102" name="UNIT 2"/>
          <p:cNvSpPr/>
          <p:nvPr/>
        </p:nvSpPr>
        <p:spPr>
          <a:xfrm>
            <a:off x="4470400" y="2286000"/>
            <a:ext cx="3251200" cy="1397000"/>
          </a:xfrm>
          <a:prstGeom prst="roundRect">
            <a:avLst/>
          </a:prstGeom>
          <a:solidFill>
            <a:srgbClr val="242A3A"/>
          </a:solidFill>
          <a:ln w="19050">
            <a:solidFill>
              <a:srgbClr val="F6AD55"/>
            </a:solidFill>
          </a:ln>
        </p:spPr>
        <p:txBody>
          <a:bodyPr wrap="square" lIns="228600" tIns="203200" rIns="228600" bIns="203200" anchor="t"/>
          <a:lstStyle/>
          <a:p>
            <a:pPr algn="ctr"/>
            <a:r>
              <a:rPr lang="en-US" sz="1100" b="1" dirty="0">
                <a:solidFill>
                  <a:srgbClr val="F6AD55"/>
                </a:solidFill>
                <a:latin typeface="Segoe UI"/>
              </a:rPr>
              <a:t>UNIT 2</a:t>
            </a:r>
          </a:p>
          <a:p>
            <a:pPr algn="ctr">
              <a:spcBef>
                <a:spcPts val="300"/>
              </a:spcBef>
            </a:pPr>
            <a:r>
              <a:rPr lang="en-US" sz="1900" b="1" dirty="0">
                <a:solidFill>
                  <a:srgbClr val="FFFFFF"/>
                </a:solidFill>
                <a:latin typeface="Segoe UI Semibold"/>
              </a:rPr>
              <a:t>Checker</a:t>
            </a:r>
          </a:p>
          <a:p>
            <a:pPr algn="ctr">
              <a:spcBef>
                <a:spcPts val="300"/>
              </a:spcBef>
            </a:pPr>
            <a:r>
              <a:rPr lang="en-US" sz="1200" b="1" dirty="0">
                <a:solidFill>
                  <a:srgbClr val="FFFFFF"/>
                </a:solidFill>
                <a:latin typeface="Segoe UI Semibold"/>
                <a:cs typeface="Segoe UI Semibold"/>
              </a:rPr>
              <a:t>(</a:t>
            </a:r>
            <a:r>
              <a:rPr lang="ko-KR" altLang="en-US" sz="1200" b="1" dirty="0">
                <a:solidFill>
                  <a:srgbClr val="FFFFFF"/>
                </a:solidFill>
                <a:latin typeface="Segoe UI Semibold"/>
                <a:ea typeface="맑은 고딕"/>
                <a:cs typeface="Segoe UI Semibold"/>
              </a:rPr>
              <a:t>김용우</a:t>
            </a:r>
            <a:r>
              <a:rPr lang="en-US" altLang="ko-KR" sz="1200" b="1" dirty="0">
                <a:solidFill>
                  <a:srgbClr val="FFFFFF"/>
                </a:solidFill>
                <a:latin typeface="Segoe UI Semibold"/>
                <a:ea typeface="맑은 고딕"/>
                <a:cs typeface="Segoe UI Semibold"/>
              </a:rPr>
              <a:t>)</a:t>
            </a:r>
            <a:endParaRPr lang="ko-KR" altLang="en-US" sz="1200" b="1" dirty="0">
              <a:solidFill>
                <a:srgbClr val="FFFFFF"/>
              </a:solidFill>
              <a:latin typeface="Segoe UI Semibold"/>
              <a:ea typeface="맑은 고딕"/>
              <a:cs typeface="Segoe UI Semibold"/>
            </a:endParaRPr>
          </a:p>
        </p:txBody>
      </p:sp>
      <p:sp>
        <p:nvSpPr>
          <p:cNvPr id="103" name="UNIT 3"/>
          <p:cNvSpPr/>
          <p:nvPr/>
        </p:nvSpPr>
        <p:spPr>
          <a:xfrm>
            <a:off x="8331200" y="2286000"/>
            <a:ext cx="3251200" cy="1397000"/>
          </a:xfrm>
          <a:prstGeom prst="roundRect">
            <a:avLst/>
          </a:prstGeom>
          <a:solidFill>
            <a:srgbClr val="242A3A"/>
          </a:solidFill>
          <a:ln w="19050">
            <a:solidFill>
              <a:srgbClr val="63B3ED"/>
            </a:solidFill>
          </a:ln>
        </p:spPr>
        <p:txBody>
          <a:bodyPr wrap="square" lIns="228600" tIns="203200" rIns="228600" bIns="203200" anchor="t"/>
          <a:lstStyle/>
          <a:p>
            <a:pPr algn="ctr"/>
            <a:r>
              <a:rPr lang="en-US" sz="1100" b="1" dirty="0">
                <a:solidFill>
                  <a:srgbClr val="63B3ED"/>
                </a:solidFill>
                <a:latin typeface="Segoe UI"/>
              </a:rPr>
              <a:t>UNIT 3</a:t>
            </a:r>
          </a:p>
          <a:p>
            <a:pPr algn="ctr">
              <a:spcBef>
                <a:spcPts val="300"/>
              </a:spcBef>
            </a:pPr>
            <a:r>
              <a:rPr lang="en-US" sz="1900" b="1" dirty="0">
                <a:solidFill>
                  <a:srgbClr val="FFFFFF"/>
                </a:solidFill>
                <a:latin typeface="Segoe UI Semibold"/>
              </a:rPr>
              <a:t>Executor</a:t>
            </a:r>
          </a:p>
          <a:p>
            <a:pPr algn="ctr">
              <a:spcBef>
                <a:spcPts val="300"/>
              </a:spcBef>
            </a:pPr>
            <a:r>
              <a:rPr lang="en-US" sz="1200" b="1" dirty="0">
                <a:solidFill>
                  <a:srgbClr val="FFFFFF"/>
                </a:solidFill>
                <a:latin typeface="Segoe UI Semibold"/>
                <a:cs typeface="Segoe UI Semibold"/>
              </a:rPr>
              <a:t>(</a:t>
            </a:r>
            <a:r>
              <a:rPr lang="ko-KR" altLang="en-US" sz="1200" b="1" dirty="0" err="1">
                <a:solidFill>
                  <a:srgbClr val="FFFFFF"/>
                </a:solidFill>
                <a:latin typeface="Segoe UI Semibold"/>
                <a:ea typeface="맑은 고딕"/>
                <a:cs typeface="Segoe UI Semibold"/>
              </a:rPr>
              <a:t>전용본</a:t>
            </a:r>
            <a:r>
              <a:rPr lang="en-US" altLang="ko-KR" sz="1200" b="1" dirty="0">
                <a:solidFill>
                  <a:srgbClr val="FFFFFF"/>
                </a:solidFill>
                <a:latin typeface="Segoe UI Semibold"/>
                <a:ea typeface="맑은 고딕"/>
                <a:cs typeface="Segoe UI Semibold"/>
              </a:rPr>
              <a:t>)</a:t>
            </a:r>
            <a:endParaRPr lang="ko-KR" altLang="en-US" sz="1200" b="1" dirty="0">
              <a:solidFill>
                <a:srgbClr val="FFFFFF"/>
              </a:solidFill>
              <a:latin typeface="Segoe UI Semibold"/>
              <a:ea typeface="맑은 고딕"/>
              <a:cs typeface="Segoe UI Semibold"/>
            </a:endParaRPr>
          </a:p>
        </p:txBody>
      </p:sp>
      <p:sp>
        <p:nvSpPr>
          <p:cNvPr id="104" name="Arrow"/>
          <p:cNvSpPr/>
          <p:nvPr/>
        </p:nvSpPr>
        <p:spPr>
          <a:xfrm>
            <a:off x="3911600" y="2730500"/>
            <a:ext cx="508000" cy="508000"/>
          </a:xfrm>
          <a:prstGeom prst="rightArrow">
            <a:avLst/>
          </a:prstGeom>
          <a:solidFill>
            <a:srgbClr val="F6AD5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5" name="Arrow"/>
          <p:cNvSpPr/>
          <p:nvPr/>
        </p:nvSpPr>
        <p:spPr>
          <a:xfrm>
            <a:off x="7772400" y="2730500"/>
            <a:ext cx="508000" cy="508000"/>
          </a:xfrm>
          <a:prstGeom prst="rightArrow">
            <a:avLst/>
          </a:prstGeom>
          <a:solidFill>
            <a:srgbClr val="F6AD5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6" name="Desc"/>
          <p:cNvSpPr/>
          <p:nvPr/>
        </p:nvSpPr>
        <p:spPr>
          <a:xfrm>
            <a:off x="609600" y="3911600"/>
            <a:ext cx="3251200" cy="2159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78000" indent="-178000" algn="l">
              <a:spcBef>
                <a:spcPts val="0"/>
              </a:spcBef>
              <a:buFont typeface="Arial"/>
              <a:buChar char="·"/>
            </a:pPr>
            <a:r>
              <a:rPr lang="ko-KR" sz="1200" dirty="0">
                <a:solidFill>
                  <a:srgbClr val="E8EAF0"/>
                </a:solidFill>
                <a:latin typeface="Segoe UI"/>
              </a:rPr>
              <a:t>소스코드 → 토큰화(Lexer)</a:t>
            </a:r>
          </a:p>
          <a:p>
            <a:pPr marL="178000" indent="-178000" algn="l">
              <a:spcBef>
                <a:spcPts val="400"/>
              </a:spcBef>
              <a:buFont typeface="Arial"/>
              <a:buChar char="·"/>
            </a:pPr>
            <a:r>
              <a:rPr lang="ko-KR" sz="1200" dirty="0">
                <a:solidFill>
                  <a:srgbClr val="E8EAF0"/>
                </a:solidFill>
                <a:latin typeface="Segoe UI"/>
              </a:rPr>
              <a:t>토큰 → 문법 트리(Parser)</a:t>
            </a:r>
          </a:p>
          <a:p>
            <a:pPr marL="178000" indent="-178000" algn="l">
              <a:spcBef>
                <a:spcPts val="400"/>
              </a:spcBef>
              <a:buFont typeface="Arial"/>
              <a:buChar char="·"/>
            </a:pPr>
            <a:r>
              <a:rPr lang="ko-KR" sz="1200" dirty="0">
                <a:solidFill>
                  <a:srgbClr val="E8EAF0"/>
                </a:solidFill>
                <a:latin typeface="Segoe UI"/>
              </a:rPr>
              <a:t>Expr / Stmt 구조 생성</a:t>
            </a:r>
          </a:p>
        </p:txBody>
      </p:sp>
      <p:sp>
        <p:nvSpPr>
          <p:cNvPr id="107" name="Desc"/>
          <p:cNvSpPr/>
          <p:nvPr/>
        </p:nvSpPr>
        <p:spPr>
          <a:xfrm>
            <a:off x="4470400" y="3911600"/>
            <a:ext cx="3251200" cy="2159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78000" indent="-178000" algn="l">
              <a:spcBef>
                <a:spcPts val="0"/>
              </a:spcBef>
              <a:buFont typeface="Arial"/>
              <a:buChar char="·"/>
            </a:pPr>
            <a:r>
              <a:rPr lang="ko-KR" sz="1200" dirty="0">
                <a:solidFill>
                  <a:srgbClr val="E8EAF0"/>
                </a:solidFill>
                <a:latin typeface="Segoe UI"/>
              </a:rPr>
              <a:t>AST 의미 검사 (재귀 DFS)</a:t>
            </a:r>
          </a:p>
          <a:p>
            <a:pPr marL="178000" indent="-178000" algn="l">
              <a:spcBef>
                <a:spcPts val="400"/>
              </a:spcBef>
              <a:buFont typeface="Arial"/>
              <a:buChar char="·"/>
            </a:pPr>
            <a:r>
              <a:rPr lang="ko-KR" sz="1200" dirty="0">
                <a:solidFill>
                  <a:srgbClr val="E8EAF0"/>
                </a:solidFill>
                <a:latin typeface="Segoe UI"/>
              </a:rPr>
              <a:t>중복 선언 · 자기참조 탐지</a:t>
            </a:r>
          </a:p>
          <a:p>
            <a:pPr marL="178000" indent="-178000" algn="l">
              <a:spcBef>
                <a:spcPts val="400"/>
              </a:spcBef>
              <a:buFont typeface="Arial"/>
              <a:buChar char="·"/>
            </a:pPr>
            <a:r>
              <a:rPr lang="ko-KR" sz="1200" dirty="0">
                <a:solidFill>
                  <a:srgbClr val="E8EAF0"/>
                </a:solidFill>
                <a:latin typeface="Segoe UI"/>
              </a:rPr>
              <a:t>실행 전 정합성 보장</a:t>
            </a:r>
          </a:p>
        </p:txBody>
      </p:sp>
      <p:sp>
        <p:nvSpPr>
          <p:cNvPr id="108" name="Desc"/>
          <p:cNvSpPr/>
          <p:nvPr/>
        </p:nvSpPr>
        <p:spPr>
          <a:xfrm>
            <a:off x="8331200" y="3911600"/>
            <a:ext cx="3251200" cy="2159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78000" indent="-178000" algn="l">
              <a:spcBef>
                <a:spcPts val="0"/>
              </a:spcBef>
              <a:buFont typeface="Arial"/>
              <a:buChar char="·"/>
            </a:pPr>
            <a:r>
              <a:rPr lang="ko-KR" sz="1200" dirty="0">
                <a:solidFill>
                  <a:srgbClr val="E8EAF0"/>
                </a:solidFill>
                <a:latin typeface="Segoe UI"/>
              </a:rPr>
              <a:t>트리 실행 (DFS)</a:t>
            </a:r>
          </a:p>
          <a:p>
            <a:pPr marL="178000" indent="-178000" algn="l">
              <a:spcBef>
                <a:spcPts val="400"/>
              </a:spcBef>
              <a:buFont typeface="Arial"/>
              <a:buChar char="·"/>
            </a:pPr>
            <a:r>
              <a:rPr lang="ko-KR" sz="1200" dirty="0">
                <a:solidFill>
                  <a:srgbClr val="E8EAF0"/>
                </a:solidFill>
                <a:latin typeface="Segoe UI"/>
              </a:rPr>
              <a:t>Global / Local 스코프</a:t>
            </a:r>
          </a:p>
          <a:p>
            <a:pPr marL="178000" indent="-178000" algn="l">
              <a:spcBef>
                <a:spcPts val="400"/>
              </a:spcBef>
              <a:buFont typeface="Arial"/>
              <a:buChar char="·"/>
            </a:pPr>
            <a:r>
              <a:rPr lang="ko-KR" sz="1200" dirty="0">
                <a:solidFill>
                  <a:srgbClr val="E8EAF0"/>
                </a:solidFill>
                <a:latin typeface="Segoe UI"/>
              </a:rPr>
              <a:t>런타임 오류 처리</a:t>
            </a:r>
          </a:p>
        </p:txBody>
      </p:sp>
      <p:sp>
        <p:nvSpPr>
          <p:cNvPr id="109" name="Note"/>
          <p:cNvSpPr/>
          <p:nvPr/>
        </p:nvSpPr>
        <p:spPr>
          <a:xfrm>
            <a:off x="609600" y="5994400"/>
            <a:ext cx="10972800" cy="381000"/>
          </a:xfrm>
          <a:prstGeom prst="rect">
            <a:avLst/>
          </a:prstGeom>
          <a:noFill/>
        </p:spPr>
        <p:txBody>
          <a:bodyPr lIns="0" tIns="0" rIns="0" bIns="0"/>
          <a:lstStyle/>
          <a:p>
            <a:r>
              <a:rPr lang="ko-KR" sz="1200" i="1" dirty="0">
                <a:solidFill>
                  <a:srgbClr val="A0AEC0"/>
                </a:solidFill>
                <a:latin typeface="Segoe UI"/>
              </a:rPr>
              <a:t>런타임 오류: 타입 불일치 · 미정의 변수 · 0으로 나누기</a:t>
            </a:r>
          </a:p>
        </p:txBody>
      </p:sp>
    </p:spTree>
    <p:extLst>
      <p:ext uri="{BB962C8B-B14F-4D97-AF65-F5344CB8AC3E}">
        <p14:creationId xmlns:p14="http://schemas.microsoft.com/office/powerpoint/2010/main" val="21196079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E2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AccentBar">
            <a:extLst>
              <a:ext uri="{FF2B5EF4-FFF2-40B4-BE49-F238E27FC236}">
                <a16:creationId xmlns:a16="http://schemas.microsoft.com/office/drawing/2014/main" id="{29FF770E-C7F7-4489-AFB0-629CA43003E8}"/>
              </a:ext>
            </a:extLst>
          </p:cNvPr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1" name="Kicker">
            <a:extLst>
              <a:ext uri="{FF2B5EF4-FFF2-40B4-BE49-F238E27FC236}">
                <a16:creationId xmlns:a16="http://schemas.microsoft.com/office/drawing/2014/main" id="{5F14D70F-0A8D-4A1D-953F-A4685CBD72C9}"/>
              </a:ext>
            </a:extLst>
          </p:cNvPr>
          <p:cNvSpPr txBox="1"/>
          <p:nvPr/>
        </p:nvSpPr>
        <p:spPr>
          <a:xfrm>
            <a:off x="609600" y="482600"/>
            <a:ext cx="76200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sz="1400" b="1" dirty="0">
                <a:solidFill>
                  <a:srgbClr val="F6AD55"/>
                </a:solidFill>
                <a:latin typeface="Segoe UI"/>
              </a:rPr>
              <a:t>TEAM CONVENTION</a:t>
            </a:r>
          </a:p>
        </p:txBody>
      </p:sp>
      <p:sp>
        <p:nvSpPr>
          <p:cNvPr id="12" name="Title">
            <a:extLst>
              <a:ext uri="{FF2B5EF4-FFF2-40B4-BE49-F238E27FC236}">
                <a16:creationId xmlns:a16="http://schemas.microsoft.com/office/drawing/2014/main" id="{8E244791-8A37-4CDE-A7BA-6EE00A431333}"/>
              </a:ext>
            </a:extLst>
          </p:cNvPr>
          <p:cNvSpPr txBox="1"/>
          <p:nvPr/>
        </p:nvSpPr>
        <p:spPr>
          <a:xfrm>
            <a:off x="596900" y="787400"/>
            <a:ext cx="10972800" cy="660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ko-KR" altLang="en-US" sz="3200" b="1" dirty="0">
                <a:solidFill>
                  <a:srgbClr val="FFFFFF"/>
                </a:solidFill>
                <a:latin typeface="Segoe UI Semibold"/>
                <a:ea typeface="맑은 고딕"/>
              </a:rPr>
              <a:t>팀 규약 · 협업 컨벤션</a:t>
            </a:r>
          </a:p>
        </p:txBody>
      </p:sp>
      <p:sp>
        <p:nvSpPr>
          <p:cNvPr id="13" name="TitleRule">
            <a:extLst>
              <a:ext uri="{FF2B5EF4-FFF2-40B4-BE49-F238E27FC236}">
                <a16:creationId xmlns:a16="http://schemas.microsoft.com/office/drawing/2014/main" id="{3CCA5443-E819-4314-9D2D-411125898B71}"/>
              </a:ext>
            </a:extLst>
          </p:cNvPr>
          <p:cNvSpPr/>
          <p:nvPr/>
        </p:nvSpPr>
        <p:spPr>
          <a:xfrm>
            <a:off x="609600" y="1549400"/>
            <a:ext cx="812800" cy="508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01" name="UNIT 1"/>
          <p:cNvSpPr/>
          <p:nvPr/>
        </p:nvSpPr>
        <p:spPr>
          <a:xfrm>
            <a:off x="451449" y="2133600"/>
            <a:ext cx="3657600" cy="889000"/>
          </a:xfrm>
          <a:prstGeom prst="roundRect">
            <a:avLst/>
          </a:prstGeom>
          <a:solidFill>
            <a:srgbClr val="242A3A"/>
          </a:solidFill>
          <a:ln w="19050">
            <a:solidFill>
              <a:srgbClr val="4FD1C5"/>
            </a:solidFill>
          </a:ln>
        </p:spPr>
        <p:txBody>
          <a:bodyPr wrap="square" lIns="228600" tIns="203200" rIns="228600" bIns="203200" anchor="t"/>
          <a:lstStyle/>
          <a:p>
            <a:pPr algn="ctr"/>
            <a:r>
              <a:rPr lang="en-US" sz="1100" b="1" dirty="0">
                <a:solidFill>
                  <a:srgbClr val="4FD1C5"/>
                </a:solidFill>
                <a:latin typeface="Segoe UI"/>
              </a:rPr>
              <a:t>RULE 1</a:t>
            </a:r>
          </a:p>
          <a:p>
            <a:pPr algn="ctr">
              <a:spcBef>
                <a:spcPts val="300"/>
              </a:spcBef>
            </a:pPr>
            <a:r>
              <a:rPr lang="ko-KR" altLang="en-US" sz="1700" b="1" dirty="0">
                <a:solidFill>
                  <a:srgbClr val="FFFFFF"/>
                </a:solidFill>
                <a:latin typeface="Segoe UI Semibold"/>
                <a:ea typeface="맑은 고딕"/>
              </a:rPr>
              <a:t>코드 컨벤션</a:t>
            </a:r>
          </a:p>
        </p:txBody>
      </p:sp>
      <p:sp>
        <p:nvSpPr>
          <p:cNvPr id="102" name="UNIT 2"/>
          <p:cNvSpPr/>
          <p:nvPr/>
        </p:nvSpPr>
        <p:spPr>
          <a:xfrm>
            <a:off x="4413849" y="2133600"/>
            <a:ext cx="3657600" cy="889000"/>
          </a:xfrm>
          <a:prstGeom prst="roundRect">
            <a:avLst/>
          </a:prstGeom>
          <a:solidFill>
            <a:srgbClr val="242A3A"/>
          </a:solidFill>
          <a:ln w="19050">
            <a:solidFill>
              <a:srgbClr val="F6AD55"/>
            </a:solidFill>
          </a:ln>
        </p:spPr>
        <p:txBody>
          <a:bodyPr wrap="square" lIns="228600" tIns="203200" rIns="228600" bIns="203200" anchor="t"/>
          <a:lstStyle/>
          <a:p>
            <a:pPr algn="ctr"/>
            <a:r>
              <a:rPr lang="en-US" sz="1100" b="1" dirty="0">
                <a:solidFill>
                  <a:srgbClr val="4FD1C5"/>
                </a:solidFill>
                <a:latin typeface="Segoe UI"/>
              </a:rPr>
              <a:t>RULE 2</a:t>
            </a:r>
          </a:p>
          <a:p>
            <a:pPr algn="ctr">
              <a:spcBef>
                <a:spcPts val="300"/>
              </a:spcBef>
            </a:pPr>
            <a:r>
              <a:rPr lang="ko-KR" altLang="en-US" sz="1700" b="1" dirty="0">
                <a:solidFill>
                  <a:srgbClr val="FFFFFF"/>
                </a:solidFill>
                <a:latin typeface="Segoe UI Semibold"/>
                <a:ea typeface="맑은 고딕"/>
              </a:rPr>
              <a:t>Git 브랜치 전략</a:t>
            </a:r>
          </a:p>
        </p:txBody>
      </p:sp>
      <p:sp>
        <p:nvSpPr>
          <p:cNvPr id="103" name="UNIT 3"/>
          <p:cNvSpPr/>
          <p:nvPr/>
        </p:nvSpPr>
        <p:spPr>
          <a:xfrm>
            <a:off x="8376249" y="2133600"/>
            <a:ext cx="3657600" cy="889000"/>
          </a:xfrm>
          <a:prstGeom prst="roundRect">
            <a:avLst/>
          </a:prstGeom>
          <a:solidFill>
            <a:srgbClr val="242A3A"/>
          </a:solidFill>
          <a:ln w="19050">
            <a:solidFill>
              <a:srgbClr val="63B3ED"/>
            </a:solidFill>
          </a:ln>
        </p:spPr>
        <p:txBody>
          <a:bodyPr wrap="square" lIns="228600" tIns="203200" rIns="228600" bIns="203200" anchor="t"/>
          <a:lstStyle/>
          <a:p>
            <a:pPr algn="ctr"/>
            <a:r>
              <a:rPr lang="en-US" sz="1100" b="1" dirty="0">
                <a:solidFill>
                  <a:srgbClr val="4FD1C5"/>
                </a:solidFill>
                <a:latin typeface="Segoe UI"/>
              </a:rPr>
              <a:t>RULE 3</a:t>
            </a:r>
          </a:p>
          <a:p>
            <a:pPr algn="ctr">
              <a:spcBef>
                <a:spcPts val="300"/>
              </a:spcBef>
            </a:pPr>
            <a:r>
              <a:rPr lang="ko-KR" altLang="en-US" sz="1700" b="1" dirty="0">
                <a:solidFill>
                  <a:srgbClr val="FFFFFF"/>
                </a:solidFill>
                <a:latin typeface="Segoe UI Semibold"/>
                <a:ea typeface="맑은 고딕"/>
              </a:rPr>
              <a:t>Commit 컨벤션</a:t>
            </a:r>
          </a:p>
        </p:txBody>
      </p:sp>
      <p:sp>
        <p:nvSpPr>
          <p:cNvPr id="106" name="Desc"/>
          <p:cNvSpPr/>
          <p:nvPr/>
        </p:nvSpPr>
        <p:spPr>
          <a:xfrm>
            <a:off x="451449" y="3175000"/>
            <a:ext cx="3657600" cy="281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78000" indent="-178000" algn="l">
              <a:spcBef>
                <a:spcPts val="0"/>
              </a:spcBef>
              <a:buFont typeface="Arial"/>
              <a:buChar char="·"/>
            </a:pPr>
            <a:r>
              <a:rPr lang="ko-KR" altLang="en-US" sz="1200" dirty="0">
                <a:solidFill>
                  <a:srgbClr val="E8EAF0"/>
                </a:solidFill>
                <a:latin typeface="Segoe UI"/>
                <a:ea typeface="맑은 고딕"/>
              </a:rPr>
              <a:t>Google 코드 컨벤션 준수</a:t>
            </a:r>
          </a:p>
          <a:p>
            <a:pPr marL="178000" indent="-178000" algn="l">
              <a:spcBef>
                <a:spcPts val="400"/>
              </a:spcBef>
              <a:buFont typeface="Arial"/>
              <a:buChar char="·"/>
            </a:pPr>
            <a:r>
              <a:rPr lang="ko-KR" altLang="en-US" sz="1200" dirty="0">
                <a:solidFill>
                  <a:srgbClr val="E8EAF0"/>
                </a:solidFill>
                <a:latin typeface="Segoe UI"/>
                <a:ea typeface="맑은 고딕"/>
              </a:rPr>
              <a:t>일관된 네이밍 · 들여쓰기 규칙 적용</a:t>
            </a:r>
          </a:p>
          <a:p>
            <a:pPr marL="178000" indent="-178000" algn="l">
              <a:spcBef>
                <a:spcPts val="400"/>
              </a:spcBef>
              <a:buFont typeface="Arial"/>
              <a:buChar char="·"/>
            </a:pPr>
            <a:r>
              <a:rPr lang="ko-KR" altLang="en-US" sz="1200" dirty="0">
                <a:solidFill>
                  <a:srgbClr val="E8EAF0"/>
                </a:solidFill>
                <a:latin typeface="Segoe UI"/>
                <a:ea typeface="맑은 고딕"/>
              </a:rPr>
              <a:t>팀 전체 동일 포맷 유지</a:t>
            </a:r>
          </a:p>
        </p:txBody>
      </p:sp>
      <p:sp>
        <p:nvSpPr>
          <p:cNvPr id="107" name="Desc"/>
          <p:cNvSpPr/>
          <p:nvPr/>
        </p:nvSpPr>
        <p:spPr>
          <a:xfrm>
            <a:off x="4413849" y="3175000"/>
            <a:ext cx="3657600" cy="281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178000" indent="-178000" algn="l">
              <a:spcBef>
                <a:spcPts val="0"/>
              </a:spcBef>
              <a:buFont typeface="Arial"/>
              <a:buChar char="·"/>
            </a:pPr>
            <a:r>
              <a:rPr lang="ko-KR" altLang="en-US" sz="1200" dirty="0">
                <a:solidFill>
                  <a:srgbClr val="E8EAF0"/>
                </a:solidFill>
                <a:latin typeface="Segoe UI"/>
                <a:ea typeface="맑은 고딕"/>
              </a:rPr>
              <a:t>PR 생성 후 Approve 1개 획득 시 Merge</a:t>
            </a:r>
          </a:p>
          <a:p>
            <a:pPr marL="178000" indent="-178000" algn="l">
              <a:spcBef>
                <a:spcPts val="400"/>
              </a:spcBef>
              <a:buFont typeface="Arial"/>
              <a:buChar char="·"/>
            </a:pPr>
            <a:r>
              <a:rPr lang="ko-KR" altLang="en-US" sz="1200" dirty="0">
                <a:solidFill>
                  <a:srgbClr val="E8EAF0"/>
                </a:solidFill>
                <a:latin typeface="Segoe UI"/>
                <a:ea typeface="맑은 고딕"/>
              </a:rPr>
              <a:t>리뷰어 1인 이상 승인 필수</a:t>
            </a:r>
          </a:p>
          <a:p>
            <a:pPr marL="178000" indent="-178000" algn="l">
              <a:spcBef>
                <a:spcPts val="400"/>
              </a:spcBef>
              <a:buFont typeface="Arial"/>
              <a:buChar char="·"/>
            </a:pPr>
            <a:r>
              <a:rPr lang="ko-KR" altLang="en-US" sz="1200" dirty="0">
                <a:solidFill>
                  <a:srgbClr val="E8EAF0"/>
                </a:solidFill>
                <a:latin typeface="Segoe UI"/>
                <a:ea typeface="맑은 고딕"/>
              </a:rPr>
              <a:t>상호 코드 리뷰 문화 정착</a:t>
            </a:r>
          </a:p>
        </p:txBody>
      </p:sp>
      <p:sp>
        <p:nvSpPr>
          <p:cNvPr id="108" name="Desc"/>
          <p:cNvSpPr/>
          <p:nvPr/>
        </p:nvSpPr>
        <p:spPr>
          <a:xfrm>
            <a:off x="8376249" y="3175000"/>
            <a:ext cx="3657600" cy="281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000" b="1" dirty="0">
                <a:solidFill>
                  <a:srgbClr val="F6AD55"/>
                </a:solidFill>
                <a:latin typeface="Segoe UI"/>
              </a:rPr>
              <a:t>COMMIT TYPE</a:t>
            </a:r>
          </a:p>
          <a:p>
            <a:pPr marL="0" indent="0" algn="l">
              <a:spcBef>
                <a:spcPts val="250"/>
              </a:spcBef>
              <a:buNone/>
            </a:pPr>
            <a:r>
              <a:rPr lang="en-US" sz="1100" b="1" dirty="0">
                <a:solidFill>
                  <a:srgbClr val="4FD1C5"/>
                </a:solidFill>
                <a:latin typeface="Segoe UI"/>
              </a:rPr>
              <a:t>feat </a:t>
            </a:r>
            <a:r>
              <a:rPr lang="ko-KR" altLang="en-US" sz="1100" dirty="0">
                <a:solidFill>
                  <a:srgbClr val="E8EAF0"/>
                </a:solidFill>
                <a:latin typeface="Segoe UI"/>
                <a:ea typeface="맑은 고딕"/>
              </a:rPr>
              <a:t>새로운 기능 추가</a:t>
            </a:r>
          </a:p>
          <a:p>
            <a:pPr marL="0" indent="0" algn="l">
              <a:spcBef>
                <a:spcPts val="200"/>
              </a:spcBef>
              <a:buNone/>
            </a:pPr>
            <a:r>
              <a:rPr lang="en-US" sz="1100" b="1" dirty="0">
                <a:solidFill>
                  <a:srgbClr val="4FD1C5"/>
                </a:solidFill>
                <a:latin typeface="Segoe UI"/>
              </a:rPr>
              <a:t>fix </a:t>
            </a:r>
            <a:r>
              <a:rPr lang="ko-KR" altLang="en-US" sz="1100" dirty="0">
                <a:solidFill>
                  <a:srgbClr val="E8EAF0"/>
                </a:solidFill>
                <a:latin typeface="Segoe UI"/>
                <a:ea typeface="맑은 고딕"/>
              </a:rPr>
              <a:t>버그 수정</a:t>
            </a:r>
          </a:p>
          <a:p>
            <a:pPr marL="0" indent="0" algn="l">
              <a:spcBef>
                <a:spcPts val="200"/>
              </a:spcBef>
              <a:buNone/>
            </a:pPr>
            <a:r>
              <a:rPr lang="en-US" sz="1100" b="1" dirty="0">
                <a:solidFill>
                  <a:srgbClr val="4FD1C5"/>
                </a:solidFill>
                <a:latin typeface="Segoe UI"/>
              </a:rPr>
              <a:t>docs </a:t>
            </a:r>
            <a:r>
              <a:rPr lang="ko-KR" altLang="en-US" sz="1100" dirty="0">
                <a:solidFill>
                  <a:srgbClr val="E8EAF0"/>
                </a:solidFill>
                <a:latin typeface="Segoe UI"/>
                <a:ea typeface="맑은 고딕"/>
              </a:rPr>
              <a:t>문서 수정</a:t>
            </a:r>
          </a:p>
          <a:p>
            <a:pPr marL="0" indent="0" algn="l">
              <a:spcBef>
                <a:spcPts val="200"/>
              </a:spcBef>
              <a:buNone/>
            </a:pPr>
            <a:r>
              <a:rPr lang="en-US" sz="1100" b="1" dirty="0">
                <a:solidFill>
                  <a:srgbClr val="4FD1C5"/>
                </a:solidFill>
                <a:latin typeface="Segoe UI"/>
              </a:rPr>
              <a:t>style </a:t>
            </a:r>
            <a:r>
              <a:rPr lang="ko-KR" altLang="en-US" sz="1100" dirty="0">
                <a:solidFill>
                  <a:srgbClr val="E8EAF0"/>
                </a:solidFill>
                <a:latin typeface="Segoe UI"/>
                <a:ea typeface="맑은 고딕"/>
              </a:rPr>
              <a:t>코드 포맷팅 · 변경 없음</a:t>
            </a:r>
          </a:p>
          <a:p>
            <a:pPr marL="0" indent="0" algn="l">
              <a:spcBef>
                <a:spcPts val="200"/>
              </a:spcBef>
              <a:buNone/>
            </a:pPr>
            <a:r>
              <a:rPr lang="en-US" sz="1100" b="1" dirty="0">
                <a:solidFill>
                  <a:srgbClr val="4FD1C5"/>
                </a:solidFill>
                <a:latin typeface="Segoe UI"/>
              </a:rPr>
              <a:t>refactor </a:t>
            </a:r>
            <a:r>
              <a:rPr lang="ko-KR" altLang="en-US" sz="1100" dirty="0">
                <a:solidFill>
                  <a:srgbClr val="E8EAF0"/>
                </a:solidFill>
                <a:latin typeface="Segoe UI"/>
                <a:ea typeface="맑은 고딕"/>
              </a:rPr>
              <a:t>코드 리팩토링</a:t>
            </a:r>
          </a:p>
          <a:p>
            <a:pPr marL="0" indent="0" algn="l">
              <a:spcBef>
                <a:spcPts val="200"/>
              </a:spcBef>
              <a:buNone/>
            </a:pPr>
            <a:r>
              <a:rPr lang="en-US" sz="1100" b="1" dirty="0">
                <a:solidFill>
                  <a:srgbClr val="4FD1C5"/>
                </a:solidFill>
                <a:latin typeface="Segoe UI"/>
              </a:rPr>
              <a:t>test </a:t>
            </a:r>
            <a:r>
              <a:rPr lang="ko-KR" altLang="en-US" sz="1100" dirty="0">
                <a:solidFill>
                  <a:srgbClr val="E8EAF0"/>
                </a:solidFill>
                <a:latin typeface="Segoe UI"/>
                <a:ea typeface="맑은 고딕"/>
              </a:rPr>
              <a:t>테스트 코드 추가</a:t>
            </a:r>
          </a:p>
          <a:p>
            <a:pPr marL="0" indent="0" algn="l">
              <a:spcBef>
                <a:spcPts val="200"/>
              </a:spcBef>
              <a:buNone/>
            </a:pPr>
            <a:r>
              <a:rPr lang="en-US" sz="1100" b="1" dirty="0">
                <a:solidFill>
                  <a:srgbClr val="4FD1C5"/>
                </a:solidFill>
                <a:latin typeface="Segoe UI"/>
              </a:rPr>
              <a:t>chore </a:t>
            </a:r>
            <a:r>
              <a:rPr lang="ko-KR" altLang="en-US" sz="1100" dirty="0">
                <a:solidFill>
                  <a:srgbClr val="E8EAF0"/>
                </a:solidFill>
                <a:latin typeface="Segoe UI"/>
                <a:ea typeface="맑은 고딕"/>
              </a:rPr>
              <a:t>빌드 · 패키지 매니저 수정</a:t>
            </a:r>
          </a:p>
          <a:p>
            <a:pPr>
              <a:spcBef>
                <a:spcPts val="200"/>
              </a:spcBef>
            </a:pPr>
            <a:endParaRPr lang="ko-KR" altLang="en-US" sz="1100" dirty="0">
              <a:solidFill>
                <a:srgbClr val="E8EAF0"/>
              </a:solidFill>
              <a:latin typeface="Segoe UI"/>
              <a:ea typeface="맑은 고딕"/>
            </a:endParaRPr>
          </a:p>
          <a:p>
            <a:pPr marL="0" indent="0" algn="l">
              <a:spcBef>
                <a:spcPts val="450"/>
              </a:spcBef>
              <a:buNone/>
            </a:pPr>
            <a:r>
              <a:rPr lang="en-US" sz="1000" b="1" dirty="0">
                <a:solidFill>
                  <a:srgbClr val="F6AD55"/>
                </a:solidFill>
                <a:latin typeface="Segoe UI"/>
              </a:rPr>
              <a:t>BODY : [TYPE] BODY</a:t>
            </a:r>
          </a:p>
          <a:p>
            <a:pPr marL="0" indent="0" algn="l">
              <a:spcBef>
                <a:spcPts val="120"/>
              </a:spcBef>
              <a:buNone/>
            </a:pPr>
            <a:r>
              <a:rPr lang="ko-KR" altLang="en-US" sz="950" i="1" dirty="0">
                <a:solidFill>
                  <a:srgbClr val="B8BECF"/>
                </a:solidFill>
                <a:latin typeface="Segoe UI"/>
                <a:ea typeface="맑은 고딕"/>
              </a:rPr>
              <a:t>[test] Checker Local 중복 변수 Test Case 추가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373938A-507C-4B32-BF16-5E311B38D0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9137" y="4020100"/>
            <a:ext cx="3002312" cy="2837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40339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E2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AccentBar">
            <a:extLst>
              <a:ext uri="{FF2B5EF4-FFF2-40B4-BE49-F238E27FC236}">
                <a16:creationId xmlns:a16="http://schemas.microsoft.com/office/drawing/2014/main" id="{29FF770E-C7F7-4489-AFB0-629CA43003E8}"/>
              </a:ext>
            </a:extLst>
          </p:cNvPr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1" name="Kicker">
            <a:extLst>
              <a:ext uri="{FF2B5EF4-FFF2-40B4-BE49-F238E27FC236}">
                <a16:creationId xmlns:a16="http://schemas.microsoft.com/office/drawing/2014/main" id="{5F14D70F-0A8D-4A1D-953F-A4685CBD72C9}"/>
              </a:ext>
            </a:extLst>
          </p:cNvPr>
          <p:cNvSpPr txBox="1"/>
          <p:nvPr/>
        </p:nvSpPr>
        <p:spPr>
          <a:xfrm>
            <a:off x="609600" y="482600"/>
            <a:ext cx="7620000" cy="307777"/>
          </a:xfrm>
          <a:prstGeom prst="rect">
            <a:avLst/>
          </a:prstGeom>
          <a:noFill/>
        </p:spPr>
        <p:txBody>
          <a:bodyPr vertOverflow="overflow" vert="horz" wrap="square" lIns="91440" tIns="45720" rIns="91440" bIns="45720" rtlCol="0" anchor="t">
            <a:spAutoFit/>
          </a:bodyPr>
          <a:lstStyle/>
          <a:p>
            <a:r>
              <a:rPr lang="en-US" sz="1400" b="1" dirty="0">
                <a:solidFill>
                  <a:srgbClr val="F6AD55"/>
                </a:solidFill>
                <a:latin typeface="Segoe UI"/>
              </a:rPr>
              <a:t>01  ASSEMBLER · 기능 구현 ①</a:t>
            </a:r>
          </a:p>
        </p:txBody>
      </p:sp>
      <p:sp>
        <p:nvSpPr>
          <p:cNvPr id="12" name="Title">
            <a:extLst>
              <a:ext uri="{FF2B5EF4-FFF2-40B4-BE49-F238E27FC236}">
                <a16:creationId xmlns:a16="http://schemas.microsoft.com/office/drawing/2014/main" id="{8E244791-8A37-4CDE-A7BA-6EE00A431333}"/>
              </a:ext>
            </a:extLst>
          </p:cNvPr>
          <p:cNvSpPr txBox="1"/>
          <p:nvPr/>
        </p:nvSpPr>
        <p:spPr>
          <a:xfrm>
            <a:off x="596900" y="787400"/>
            <a:ext cx="109728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ko-KR" sz="3200" b="1" dirty="0">
                <a:solidFill>
                  <a:srgbClr val="FFFFFF"/>
                </a:solidFill>
                <a:latin typeface="Segoe UI Semibold"/>
              </a:rPr>
              <a:t>Tokenizer · 문자 → 토큰 스트림</a:t>
            </a:r>
          </a:p>
        </p:txBody>
      </p:sp>
      <p:sp>
        <p:nvSpPr>
          <p:cNvPr id="13" name="TitleRule">
            <a:extLst>
              <a:ext uri="{FF2B5EF4-FFF2-40B4-BE49-F238E27FC236}">
                <a16:creationId xmlns:a16="http://schemas.microsoft.com/office/drawing/2014/main" id="{3CCA5443-E819-4314-9D2D-411125898B71}"/>
              </a:ext>
            </a:extLst>
          </p:cNvPr>
          <p:cNvSpPr/>
          <p:nvPr/>
        </p:nvSpPr>
        <p:spPr>
          <a:xfrm>
            <a:off x="609600" y="1549400"/>
            <a:ext cx="812800" cy="508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GoalCard">
            <a:extLst>
              <a:ext uri="{FF2B5EF4-FFF2-40B4-BE49-F238E27FC236}">
                <a16:creationId xmlns:a16="http://schemas.microsoft.com/office/drawing/2014/main" id="{D899334B-48AD-4693-8B67-68DA84742580}"/>
              </a:ext>
            </a:extLst>
          </p:cNvPr>
          <p:cNvSpPr/>
          <p:nvPr/>
        </p:nvSpPr>
        <p:spPr>
          <a:xfrm>
            <a:off x="609600" y="2032000"/>
            <a:ext cx="5181600" cy="4064000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4FD1C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04800" tIns="279400" rIns="304800" bIns="279400" rtlCol="0" anchor="t" anchorCtr="0"/>
          <a:lstStyle/>
          <a:p>
            <a:pPr>
              <a:buNone/>
            </a:pPr>
            <a:r>
              <a:rPr lang="en-US" sz="1500" b="1" dirty="0" err="1">
                <a:solidFill>
                  <a:srgbClr val="4FD1C5"/>
                </a:solidFill>
                <a:latin typeface="Segoe UI"/>
              </a:rPr>
              <a:t>핵심</a:t>
            </a:r>
            <a:r>
              <a:rPr lang="en-US" sz="1500" b="1" dirty="0">
                <a:solidFill>
                  <a:srgbClr val="4FD1C5"/>
                </a:solidFill>
                <a:latin typeface="Segoe UI"/>
              </a:rPr>
              <a:t> </a:t>
            </a:r>
            <a:r>
              <a:rPr lang="en-US" sz="1500" b="1" dirty="0" err="1">
                <a:solidFill>
                  <a:srgbClr val="4FD1C5"/>
                </a:solidFill>
                <a:latin typeface="Segoe UI"/>
              </a:rPr>
              <a:t>구조</a:t>
            </a:r>
            <a:endParaRPr lang="en-US" sz="1500" b="1" dirty="0" err="1">
              <a:solidFill>
                <a:srgbClr val="4FD1C5"/>
              </a:solidFill>
              <a:latin typeface="Segoe UI"/>
              <a:cs typeface="Segoe UI"/>
            </a:endParaRPr>
          </a:p>
          <a:p>
            <a:endParaRPr lang="en-US" altLang="ko-KR" sz="1500" b="1" dirty="0">
              <a:solidFill>
                <a:srgbClr val="4FD1C5"/>
              </a:solidFill>
              <a:latin typeface="Segoe UI"/>
            </a:endParaRPr>
          </a:p>
          <a:p>
            <a:pPr marL="0" indent="0">
              <a:spcBef>
                <a:spcPts val="250"/>
              </a:spcBef>
              <a:buNone/>
            </a:pPr>
            <a:r>
              <a:rPr lang="ko-KR" sz="1300" dirty="0">
                <a:solidFill>
                  <a:srgbClr val="E8EAF0"/>
                </a:solidFill>
                <a:latin typeface="Segoe UI"/>
              </a:rPr>
              <a:t>source (문자열)</a:t>
            </a:r>
          </a:p>
          <a:p>
            <a:pPr>
              <a:spcBef>
                <a:spcPts val="250"/>
              </a:spcBef>
            </a:pPr>
            <a:r>
              <a:rPr lang="ko-KR" altLang="en-US" sz="1300" dirty="0">
                <a:solidFill>
                  <a:srgbClr val="A0AEC0"/>
                </a:solidFill>
                <a:latin typeface="Segoe UI"/>
                <a:ea typeface="맑은 고딕"/>
              </a:rPr>
              <a:t> </a:t>
            </a:r>
            <a:r>
              <a:rPr lang="ko-KR" sz="1300" dirty="0">
                <a:solidFill>
                  <a:srgbClr val="A0AEC0"/>
                </a:solidFill>
                <a:latin typeface="Segoe UI"/>
                <a:ea typeface="맑은 고딕"/>
              </a:rPr>
              <a:t>   ↓ </a:t>
            </a:r>
            <a:r>
              <a:rPr lang="ko-KR" sz="1300" dirty="0" err="1">
                <a:solidFill>
                  <a:srgbClr val="A0AEC0"/>
                </a:solidFill>
                <a:latin typeface="Segoe UI"/>
                <a:ea typeface="맑은 고딕"/>
              </a:rPr>
              <a:t>start</a:t>
            </a:r>
            <a:r>
              <a:rPr lang="ko-KR" sz="1300" dirty="0">
                <a:solidFill>
                  <a:srgbClr val="A0AEC0"/>
                </a:solidFill>
                <a:latin typeface="Segoe UI"/>
                <a:ea typeface="맑은 고딕"/>
              </a:rPr>
              <a:t> / </a:t>
            </a:r>
            <a:r>
              <a:rPr lang="ko-KR" sz="1300" dirty="0" err="1">
                <a:solidFill>
                  <a:srgbClr val="A0AEC0"/>
                </a:solidFill>
                <a:latin typeface="Segoe UI"/>
                <a:ea typeface="맑은 고딕"/>
              </a:rPr>
              <a:t>current</a:t>
            </a:r>
            <a:r>
              <a:rPr lang="ko-KR" sz="1300" dirty="0">
                <a:solidFill>
                  <a:srgbClr val="A0AEC0"/>
                </a:solidFill>
                <a:latin typeface="Segoe UI"/>
                <a:ea typeface="맑은 고딕"/>
              </a:rPr>
              <a:t> 포인터로 한 </a:t>
            </a:r>
            <a:r>
              <a:rPr lang="ko-KR" sz="1300" dirty="0" err="1">
                <a:solidFill>
                  <a:srgbClr val="A0AEC0"/>
                </a:solidFill>
                <a:latin typeface="Segoe UI"/>
                <a:ea typeface="맑은 고딕"/>
              </a:rPr>
              <a:t>문자씩</a:t>
            </a:r>
            <a:r>
              <a:rPr lang="ko-KR" sz="1300" dirty="0">
                <a:solidFill>
                  <a:srgbClr val="A0AEC0"/>
                </a:solidFill>
                <a:latin typeface="Segoe UI"/>
                <a:ea typeface="맑은 고딕"/>
              </a:rPr>
              <a:t> 스캔</a:t>
            </a:r>
            <a:endParaRPr lang="ko-KR" sz="1300" dirty="0">
              <a:solidFill>
                <a:srgbClr val="A0AEC0"/>
              </a:solidFill>
              <a:latin typeface="Segoe UI"/>
              <a:ea typeface="맑은 고딕"/>
              <a:cs typeface="Segoe UI"/>
            </a:endParaRPr>
          </a:p>
          <a:p>
            <a:pPr marL="0" indent="0">
              <a:spcBef>
                <a:spcPts val="250"/>
              </a:spcBef>
              <a:buNone/>
            </a:pPr>
            <a:r>
              <a:rPr lang="ko-KR" sz="1300" dirty="0">
                <a:solidFill>
                  <a:srgbClr val="E8EAF0"/>
                </a:solidFill>
                <a:latin typeface="Segoe UI"/>
              </a:rPr>
              <a:t>scanToken() → switch(c)로 토큰 결정</a:t>
            </a:r>
          </a:p>
          <a:p>
            <a:pPr>
              <a:spcBef>
                <a:spcPts val="250"/>
              </a:spcBef>
            </a:pPr>
            <a:r>
              <a:rPr lang="ko-KR" altLang="en-US" sz="1300" dirty="0">
                <a:solidFill>
                  <a:srgbClr val="A0AEC0"/>
                </a:solidFill>
                <a:latin typeface="Segoe UI"/>
                <a:ea typeface="맑은 고딕"/>
              </a:rPr>
              <a:t>  </a:t>
            </a:r>
            <a:r>
              <a:rPr lang="ko-KR" sz="1300" dirty="0">
                <a:solidFill>
                  <a:srgbClr val="A0AEC0"/>
                </a:solidFill>
                <a:latin typeface="Segoe UI"/>
                <a:ea typeface="맑은 고딕"/>
              </a:rPr>
              <a:t>  ↓</a:t>
            </a:r>
            <a:endParaRPr lang="ko-KR" sz="1300" dirty="0">
              <a:solidFill>
                <a:srgbClr val="A0AEC0"/>
              </a:solidFill>
              <a:latin typeface="Segoe UI"/>
              <a:ea typeface="맑은 고딕"/>
              <a:cs typeface="Segoe UI"/>
            </a:endParaRPr>
          </a:p>
          <a:p>
            <a:pPr marL="0" indent="0">
              <a:spcBef>
                <a:spcPts val="250"/>
              </a:spcBef>
              <a:buNone/>
            </a:pPr>
            <a:r>
              <a:rPr lang="ko-KR" sz="1300" dirty="0">
                <a:solidFill>
                  <a:srgbClr val="E8EAF0"/>
                </a:solidFill>
                <a:latin typeface="Segoe UI"/>
              </a:rPr>
              <a:t>tokens 리스트 추가 → EOF로 마무리</a:t>
            </a:r>
          </a:p>
          <a:p>
            <a:pPr>
              <a:spcBef>
                <a:spcPts val="250"/>
              </a:spcBef>
            </a:pPr>
            <a:endParaRPr lang="ko-KR" altLang="en-US" sz="1300" dirty="0">
              <a:solidFill>
                <a:srgbClr val="E8EAF0"/>
              </a:solidFill>
              <a:latin typeface="Segoe UI"/>
              <a:ea typeface="맑은 고딕"/>
            </a:endParaRPr>
          </a:p>
          <a:p>
            <a:pPr>
              <a:spcBef>
                <a:spcPts val="600"/>
              </a:spcBef>
              <a:buNone/>
            </a:pPr>
            <a:r>
              <a:rPr lang="ko-KR" sz="1300" b="1" dirty="0">
                <a:solidFill>
                  <a:srgbClr val="FC8181"/>
                </a:solidFill>
                <a:latin typeface="Segoe UI"/>
              </a:rPr>
              <a:t>에러 처리</a:t>
            </a:r>
          </a:p>
          <a:p>
            <a:pPr>
              <a:spcBef>
                <a:spcPts val="250"/>
              </a:spcBef>
            </a:pPr>
            <a:r>
              <a:rPr lang="ko-KR" altLang="en-US" sz="1300" dirty="0">
                <a:solidFill>
                  <a:srgbClr val="FC8181"/>
                </a:solidFill>
                <a:latin typeface="Segoe UI"/>
                <a:ea typeface="맑은 고딕"/>
              </a:rPr>
              <a:t> </a:t>
            </a:r>
            <a:r>
              <a:rPr lang="ko-KR" sz="1300" dirty="0">
                <a:solidFill>
                  <a:srgbClr val="FC8181"/>
                </a:solidFill>
                <a:latin typeface="Segoe UI"/>
                <a:ea typeface="맑은 고딕"/>
              </a:rPr>
              <a:t>미정의 문자 → </a:t>
            </a:r>
            <a:r>
              <a:rPr lang="ko-KR" sz="1300" dirty="0" err="1">
                <a:solidFill>
                  <a:srgbClr val="FC8181"/>
                </a:solidFill>
                <a:latin typeface="Segoe UI"/>
                <a:ea typeface="맑은 고딕"/>
              </a:rPr>
              <a:t>ParseError</a:t>
            </a:r>
            <a:r>
              <a:rPr lang="ko-KR" sz="1300" dirty="0">
                <a:solidFill>
                  <a:srgbClr val="FC8181"/>
                </a:solidFill>
                <a:latin typeface="Segoe UI"/>
                <a:ea typeface="맑은 고딕"/>
              </a:rPr>
              <a:t>("예상치 못한 문자")</a:t>
            </a:r>
            <a:endParaRPr lang="ko-KR" sz="1300" dirty="0">
              <a:solidFill>
                <a:srgbClr val="FC8181"/>
              </a:solidFill>
              <a:latin typeface="Segoe UI"/>
              <a:ea typeface="맑은 고딕"/>
              <a:cs typeface="Segoe UI"/>
            </a:endParaRPr>
          </a:p>
          <a:p>
            <a:pPr>
              <a:spcBef>
                <a:spcPts val="250"/>
              </a:spcBef>
            </a:pPr>
            <a:r>
              <a:rPr lang="ko-KR" sz="1300" dirty="0">
                <a:solidFill>
                  <a:srgbClr val="FC8181"/>
                </a:solidFill>
                <a:latin typeface="Segoe UI"/>
                <a:ea typeface="맑은 고딕"/>
              </a:rPr>
              <a:t> 닫히지 않은 "" → </a:t>
            </a:r>
            <a:r>
              <a:rPr lang="ko-KR" sz="1300" dirty="0" err="1">
                <a:solidFill>
                  <a:srgbClr val="FC8181"/>
                </a:solidFill>
                <a:latin typeface="Segoe UI"/>
                <a:ea typeface="맑은 고딕"/>
              </a:rPr>
              <a:t>ParseError</a:t>
            </a:r>
            <a:r>
              <a:rPr lang="ko-KR" sz="1300" dirty="0">
                <a:solidFill>
                  <a:srgbClr val="FC8181"/>
                </a:solidFill>
                <a:latin typeface="Segoe UI"/>
                <a:ea typeface="맑은 고딕"/>
              </a:rPr>
              <a:t>("닫히지 않은 문자열")</a:t>
            </a:r>
            <a:endParaRPr lang="ko-KR" sz="1300" dirty="0">
              <a:solidFill>
                <a:srgbClr val="FC8181"/>
              </a:solidFill>
              <a:latin typeface="Segoe UI"/>
              <a:ea typeface="맑은 고딕"/>
              <a:cs typeface="Segoe UI"/>
            </a:endParaRPr>
          </a:p>
        </p:txBody>
      </p:sp>
      <p:sp>
        <p:nvSpPr>
          <p:cNvPr id="15" name="TimelineCard">
            <a:extLst>
              <a:ext uri="{FF2B5EF4-FFF2-40B4-BE49-F238E27FC236}">
                <a16:creationId xmlns:a16="http://schemas.microsoft.com/office/drawing/2014/main" id="{F3BCE98E-382B-4AEA-83F6-8A8DE697831F}"/>
              </a:ext>
            </a:extLst>
          </p:cNvPr>
          <p:cNvSpPr/>
          <p:nvPr/>
        </p:nvSpPr>
        <p:spPr>
          <a:xfrm>
            <a:off x="5791200" y="2032000"/>
            <a:ext cx="5181600" cy="4064000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63B3E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04800" tIns="279400" rIns="304800" bIns="279400" rtlCol="0" anchor="t" anchorCtr="0"/>
          <a:lstStyle/>
          <a:p>
            <a:pPr>
              <a:buNone/>
            </a:pPr>
            <a:r>
              <a:rPr lang="en-US" sz="1500" b="1" dirty="0" err="1">
                <a:solidFill>
                  <a:srgbClr val="63B3ED"/>
                </a:solidFill>
                <a:latin typeface="Segoe UI"/>
              </a:rPr>
              <a:t>지원</a:t>
            </a:r>
            <a:r>
              <a:rPr lang="en-US" sz="1500" b="1" dirty="0">
                <a:solidFill>
                  <a:srgbClr val="63B3ED"/>
                </a:solidFill>
                <a:latin typeface="Segoe UI"/>
              </a:rPr>
              <a:t> </a:t>
            </a:r>
            <a:r>
              <a:rPr lang="en-US" sz="1500" b="1" dirty="0" err="1">
                <a:solidFill>
                  <a:srgbClr val="63B3ED"/>
                </a:solidFill>
                <a:latin typeface="Segoe UI"/>
              </a:rPr>
              <a:t>토큰</a:t>
            </a:r>
          </a:p>
          <a:p>
            <a:endParaRPr lang="en-US" altLang="ko-KR" sz="1500" b="1" dirty="0">
              <a:solidFill>
                <a:srgbClr val="63B3ED"/>
              </a:solidFill>
              <a:latin typeface="Segoe UI"/>
            </a:endParaRPr>
          </a:p>
          <a:p>
            <a:pPr marL="0" indent="0">
              <a:spcBef>
                <a:spcPts val="300"/>
              </a:spcBef>
              <a:buNone/>
            </a:pPr>
            <a:r>
              <a:rPr lang="ko-KR" sz="1300" b="1" dirty="0">
                <a:solidFill>
                  <a:srgbClr val="4FD1C5"/>
                </a:solidFill>
                <a:latin typeface="Segoe UI"/>
              </a:rPr>
              <a:t>구분자  </a:t>
            </a:r>
            <a:r>
              <a:rPr lang="en-US" sz="1250" dirty="0">
                <a:solidFill>
                  <a:srgbClr val="E8EAF0"/>
                </a:solidFill>
                <a:latin typeface="Consolas"/>
              </a:rPr>
              <a:t>( ) { } [ ] ; ,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ko-KR" sz="1300" b="1" dirty="0">
                <a:solidFill>
                  <a:srgbClr val="4FD1C5"/>
                </a:solidFill>
                <a:latin typeface="Segoe UI"/>
              </a:rPr>
              <a:t>연산자  </a:t>
            </a:r>
            <a:r>
              <a:rPr lang="en-US" sz="1250" dirty="0">
                <a:solidFill>
                  <a:srgbClr val="E8EAF0"/>
                </a:solidFill>
                <a:latin typeface="Consolas"/>
              </a:rPr>
              <a:t>+ - * / % = == != &gt; &gt;= &lt; &lt;= !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ko-KR" sz="1300" b="1" dirty="0">
                <a:solidFill>
                  <a:srgbClr val="4FD1C5"/>
                </a:solidFill>
                <a:latin typeface="Segoe UI"/>
              </a:rPr>
              <a:t>  </a:t>
            </a:r>
            <a:r>
              <a:rPr lang="en-US" sz="1250" dirty="0">
                <a:solidFill>
                  <a:srgbClr val="E8EAF0"/>
                </a:solidFill>
                <a:latin typeface="Consolas"/>
              </a:rPr>
              <a:t>and  or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ko-KR" sz="1300" b="1" dirty="0">
                <a:solidFill>
                  <a:srgbClr val="F6AD55"/>
                </a:solidFill>
                <a:latin typeface="Segoe UI"/>
                <a:ea typeface="맑은 고딕"/>
              </a:rPr>
              <a:t>리터럴  </a:t>
            </a:r>
            <a:r>
              <a:rPr lang="en-US" sz="1250" dirty="0" err="1">
                <a:solidFill>
                  <a:srgbClr val="E8EAF0"/>
                </a:solidFill>
                <a:latin typeface="Consolas"/>
              </a:rPr>
              <a:t>숫자</a:t>
            </a:r>
            <a:r>
              <a:rPr lang="en-US" sz="1250" dirty="0">
                <a:solidFill>
                  <a:srgbClr val="E8EAF0"/>
                </a:solidFill>
                <a:latin typeface="Consolas"/>
              </a:rPr>
              <a:t>(double) · "</a:t>
            </a:r>
            <a:r>
              <a:rPr lang="en-US" sz="1250" dirty="0" err="1">
                <a:solidFill>
                  <a:srgbClr val="E8EAF0"/>
                </a:solidFill>
                <a:latin typeface="Consolas"/>
              </a:rPr>
              <a:t>문자열</a:t>
            </a:r>
            <a:r>
              <a:rPr lang="en-US" sz="1250" dirty="0">
                <a:solidFill>
                  <a:srgbClr val="E8EAF0"/>
                </a:solidFill>
                <a:latin typeface="Consolas"/>
              </a:rPr>
              <a:t>" · true/false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ko-KR" sz="1300" b="1" dirty="0">
                <a:solidFill>
                  <a:srgbClr val="68D391"/>
                </a:solidFill>
                <a:latin typeface="Segoe UI"/>
              </a:rPr>
              <a:t>예약어  </a:t>
            </a:r>
            <a:r>
              <a:rPr lang="en-US" sz="1250" dirty="0">
                <a:solidFill>
                  <a:srgbClr val="E8EAF0"/>
                </a:solidFill>
                <a:latin typeface="Consolas"/>
              </a:rPr>
              <a:t>var if else for Func return print</a:t>
            </a:r>
          </a:p>
          <a:p>
            <a:pPr marL="0" indent="0">
              <a:spcBef>
                <a:spcPts val="300"/>
              </a:spcBef>
              <a:buNone/>
            </a:pPr>
            <a:r>
              <a:rPr lang="ko-KR" sz="1300" b="1" dirty="0">
                <a:solidFill>
                  <a:srgbClr val="A0AEC0"/>
                </a:solidFill>
                <a:latin typeface="Segoe UI"/>
                <a:ea typeface="맑은 고딕"/>
              </a:rPr>
              <a:t>기타  </a:t>
            </a:r>
            <a:r>
              <a:rPr lang="en-US" sz="1250" dirty="0" err="1">
                <a:solidFill>
                  <a:srgbClr val="E8EAF0"/>
                </a:solidFill>
                <a:latin typeface="Consolas"/>
              </a:rPr>
              <a:t>식별자</a:t>
            </a:r>
            <a:r>
              <a:rPr lang="en-US" sz="1250" dirty="0">
                <a:solidFill>
                  <a:srgbClr val="E8EAF0"/>
                </a:solidFill>
                <a:latin typeface="Consolas"/>
              </a:rPr>
              <a:t>(</a:t>
            </a:r>
            <a:r>
              <a:rPr lang="en-US" sz="1250" dirty="0" err="1">
                <a:solidFill>
                  <a:srgbClr val="E8EAF0"/>
                </a:solidFill>
                <a:latin typeface="Consolas"/>
              </a:rPr>
              <a:t>변수명</a:t>
            </a:r>
            <a:r>
              <a:rPr lang="en-US" sz="1250" dirty="0">
                <a:solidFill>
                  <a:srgbClr val="E8EAF0"/>
                </a:solidFill>
                <a:latin typeface="Consolas"/>
              </a:rPr>
              <a:t>) · // </a:t>
            </a:r>
            <a:r>
              <a:rPr lang="en-US" sz="1250" dirty="0" err="1">
                <a:solidFill>
                  <a:srgbClr val="E8EAF0"/>
                </a:solidFill>
                <a:latin typeface="Consolas"/>
              </a:rPr>
              <a:t>주석</a:t>
            </a:r>
            <a:r>
              <a:rPr lang="en-US" sz="1250" dirty="0">
                <a:solidFill>
                  <a:srgbClr val="E8EAF0"/>
                </a:solidFill>
                <a:latin typeface="Consolas"/>
              </a:rPr>
              <a:t>(</a:t>
            </a:r>
            <a:r>
              <a:rPr lang="en-US" sz="1250" dirty="0" err="1">
                <a:solidFill>
                  <a:srgbClr val="E8EAF0"/>
                </a:solidFill>
                <a:latin typeface="Consolas"/>
              </a:rPr>
              <a:t>무시</a:t>
            </a:r>
            <a:r>
              <a:rPr lang="en-US" sz="1250" dirty="0">
                <a:solidFill>
                  <a:srgbClr val="E8EAF0"/>
                </a:solidFill>
                <a:latin typeface="Consolas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7220066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E2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AccentBar">
            <a:extLst>
              <a:ext uri="{FF2B5EF4-FFF2-40B4-BE49-F238E27FC236}">
                <a16:creationId xmlns:a16="http://schemas.microsoft.com/office/drawing/2014/main" id="{29FF770E-C7F7-4489-AFB0-629CA43003E8}"/>
              </a:ext>
            </a:extLst>
          </p:cNvPr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1" name="Kicker">
            <a:extLst>
              <a:ext uri="{FF2B5EF4-FFF2-40B4-BE49-F238E27FC236}">
                <a16:creationId xmlns:a16="http://schemas.microsoft.com/office/drawing/2014/main" id="{5F14D70F-0A8D-4A1D-953F-A4685CBD72C9}"/>
              </a:ext>
            </a:extLst>
          </p:cNvPr>
          <p:cNvSpPr txBox="1"/>
          <p:nvPr/>
        </p:nvSpPr>
        <p:spPr>
          <a:xfrm>
            <a:off x="609600" y="482600"/>
            <a:ext cx="76200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sz="1400" b="1" dirty="0">
                <a:solidFill>
                  <a:srgbClr val="F6AD55"/>
                </a:solidFill>
                <a:latin typeface="Segoe UI"/>
              </a:rPr>
              <a:t>02  ASSEMBLER · 기능 구현 ②</a:t>
            </a:r>
          </a:p>
        </p:txBody>
      </p:sp>
      <p:sp>
        <p:nvSpPr>
          <p:cNvPr id="12" name="Title">
            <a:extLst>
              <a:ext uri="{FF2B5EF4-FFF2-40B4-BE49-F238E27FC236}">
                <a16:creationId xmlns:a16="http://schemas.microsoft.com/office/drawing/2014/main" id="{8E244791-8A37-4CDE-A7BA-6EE00A431333}"/>
              </a:ext>
            </a:extLst>
          </p:cNvPr>
          <p:cNvSpPr txBox="1"/>
          <p:nvPr/>
        </p:nvSpPr>
        <p:spPr>
          <a:xfrm>
            <a:off x="596900" y="787400"/>
            <a:ext cx="109728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ko-KR" sz="3200" b="1" dirty="0">
                <a:solidFill>
                  <a:srgbClr val="FFFFFF"/>
                </a:solidFill>
                <a:latin typeface="Segoe UI Semibold"/>
              </a:rPr>
              <a:t>Parser · 토큰 스트림 → AST</a:t>
            </a:r>
          </a:p>
        </p:txBody>
      </p:sp>
      <p:sp>
        <p:nvSpPr>
          <p:cNvPr id="13" name="TitleRule">
            <a:extLst>
              <a:ext uri="{FF2B5EF4-FFF2-40B4-BE49-F238E27FC236}">
                <a16:creationId xmlns:a16="http://schemas.microsoft.com/office/drawing/2014/main" id="{3CCA5443-E819-4314-9D2D-411125898B71}"/>
              </a:ext>
            </a:extLst>
          </p:cNvPr>
          <p:cNvSpPr/>
          <p:nvPr/>
        </p:nvSpPr>
        <p:spPr>
          <a:xfrm>
            <a:off x="609600" y="1549400"/>
            <a:ext cx="812800" cy="508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GoalCard">
            <a:extLst>
              <a:ext uri="{FF2B5EF4-FFF2-40B4-BE49-F238E27FC236}">
                <a16:creationId xmlns:a16="http://schemas.microsoft.com/office/drawing/2014/main" id="{D899334B-48AD-4693-8B67-68DA84742580}"/>
              </a:ext>
            </a:extLst>
          </p:cNvPr>
          <p:cNvSpPr/>
          <p:nvPr/>
        </p:nvSpPr>
        <p:spPr>
          <a:xfrm>
            <a:off x="609600" y="2032000"/>
            <a:ext cx="5181600" cy="4064000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4FD1C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04800" tIns="279400" rIns="304800" bIns="279400" rtlCol="0" anchor="t" anchorCtr="0"/>
          <a:lstStyle/>
          <a:p>
            <a:pPr>
              <a:buNone/>
            </a:pPr>
            <a:r>
              <a:rPr lang="en-US" sz="1500" b="1" dirty="0" err="1">
                <a:solidFill>
                  <a:srgbClr val="4FD1C5"/>
                </a:solidFill>
                <a:latin typeface="Segoe UI"/>
              </a:rPr>
              <a:t>파싱</a:t>
            </a:r>
            <a:r>
              <a:rPr lang="en-US" sz="1500" b="1" dirty="0">
                <a:solidFill>
                  <a:srgbClr val="4FD1C5"/>
                </a:solidFill>
                <a:latin typeface="Segoe UI"/>
              </a:rPr>
              <a:t> </a:t>
            </a:r>
            <a:r>
              <a:rPr lang="en-US" sz="1500" b="1" dirty="0" err="1">
                <a:solidFill>
                  <a:srgbClr val="4FD1C5"/>
                </a:solidFill>
                <a:latin typeface="Segoe UI"/>
              </a:rPr>
              <a:t>방식</a:t>
            </a:r>
          </a:p>
          <a:p>
            <a:endParaRPr lang="en-US" altLang="ko-KR" sz="1500" b="1" dirty="0">
              <a:solidFill>
                <a:srgbClr val="4FD1C5"/>
              </a:solidFill>
              <a:latin typeface="Segoe UI"/>
            </a:endParaRPr>
          </a:p>
          <a:p>
            <a:pPr marL="200000" indent="-200000">
              <a:spcBef>
                <a:spcPts val="400"/>
              </a:spcBef>
              <a:buFont typeface="Arial"/>
              <a:buChar char="•"/>
            </a:pPr>
            <a:r>
              <a:rPr lang="ko-KR" sz="1350" dirty="0">
                <a:solidFill>
                  <a:srgbClr val="E8EAF0"/>
                </a:solidFill>
                <a:latin typeface="Segoe UI"/>
              </a:rPr>
              <a:t>재귀 하강 파싱 (Recursive Descent)</a:t>
            </a:r>
          </a:p>
          <a:p>
            <a:pPr marL="200000" indent="-200000">
              <a:spcBef>
                <a:spcPts val="400"/>
              </a:spcBef>
              <a:buFont typeface="Arial"/>
              <a:buChar char="•"/>
            </a:pPr>
            <a:r>
              <a:rPr lang="ko-KR" sz="1350" dirty="0">
                <a:solidFill>
                  <a:srgbClr val="E8EAF0"/>
                </a:solidFill>
                <a:latin typeface="Segoe UI"/>
              </a:rPr>
              <a:t>문법 우선순위를 메서드 호출 계층으로 표현</a:t>
            </a:r>
          </a:p>
          <a:p>
            <a:pPr marL="200000" indent="-200000">
              <a:spcBef>
                <a:spcPts val="400"/>
              </a:spcBef>
              <a:buFont typeface="Arial"/>
              <a:buChar char="•"/>
            </a:pPr>
            <a:r>
              <a:rPr lang="ko-KR" sz="1350" dirty="0">
                <a:solidFill>
                  <a:srgbClr val="E8EAF0"/>
                </a:solidFill>
                <a:latin typeface="Segoe UI"/>
              </a:rPr>
              <a:t>낮은 우선순위 메서드가 높은 쪽을 호출</a:t>
            </a:r>
          </a:p>
          <a:p>
            <a:pPr marL="200000" indent="-200000">
              <a:spcBef>
                <a:spcPts val="400"/>
              </a:spcBef>
              <a:buFont typeface="Arial"/>
              <a:buChar char="•"/>
            </a:pPr>
            <a:r>
              <a:rPr lang="ko-KR" sz="1350" dirty="0">
                <a:solidFill>
                  <a:srgbClr val="E8EAF0"/>
                </a:solidFill>
                <a:latin typeface="Segoe UI"/>
              </a:rPr>
              <a:t>→ 깊이 호출될수록 먼저 묶임 (트리 하단)</a:t>
            </a:r>
          </a:p>
        </p:txBody>
      </p:sp>
      <p:sp>
        <p:nvSpPr>
          <p:cNvPr id="15" name="TimelineCard">
            <a:extLst>
              <a:ext uri="{FF2B5EF4-FFF2-40B4-BE49-F238E27FC236}">
                <a16:creationId xmlns:a16="http://schemas.microsoft.com/office/drawing/2014/main" id="{F3BCE98E-382B-4AEA-83F6-8A8DE697831F}"/>
              </a:ext>
            </a:extLst>
          </p:cNvPr>
          <p:cNvSpPr/>
          <p:nvPr/>
        </p:nvSpPr>
        <p:spPr>
          <a:xfrm>
            <a:off x="5791200" y="2032000"/>
            <a:ext cx="5181600" cy="4064000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63B3E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04800" tIns="279400" rIns="304800" bIns="279400" rtlCol="0" anchor="t" anchorCtr="0"/>
          <a:lstStyle/>
          <a:p>
            <a:pPr>
              <a:buNone/>
            </a:pPr>
            <a:r>
              <a:rPr lang="en-US" sz="1500" b="1" dirty="0" err="1">
                <a:solidFill>
                  <a:srgbClr val="63B3ED"/>
                </a:solidFill>
                <a:latin typeface="Segoe UI"/>
              </a:rPr>
              <a:t>우선순위</a:t>
            </a:r>
            <a:r>
              <a:rPr lang="en-US" sz="1500" b="1" dirty="0">
                <a:solidFill>
                  <a:srgbClr val="63B3ED"/>
                </a:solidFill>
                <a:latin typeface="Segoe UI"/>
              </a:rPr>
              <a:t> (</a:t>
            </a:r>
            <a:r>
              <a:rPr lang="en-US" sz="1500" b="1" dirty="0" err="1">
                <a:solidFill>
                  <a:srgbClr val="63B3ED"/>
                </a:solidFill>
                <a:latin typeface="Segoe UI"/>
              </a:rPr>
              <a:t>낮음</a:t>
            </a:r>
            <a:r>
              <a:rPr lang="en-US" sz="1500" b="1" dirty="0">
                <a:solidFill>
                  <a:srgbClr val="63B3ED"/>
                </a:solidFill>
                <a:latin typeface="Segoe UI"/>
              </a:rPr>
              <a:t> → </a:t>
            </a:r>
            <a:r>
              <a:rPr lang="en-US" sz="1500" b="1" dirty="0" err="1">
                <a:solidFill>
                  <a:srgbClr val="63B3ED"/>
                </a:solidFill>
                <a:latin typeface="Segoe UI"/>
              </a:rPr>
              <a:t>높음</a:t>
            </a:r>
            <a:r>
              <a:rPr lang="en-US" sz="1500" b="1" dirty="0">
                <a:solidFill>
                  <a:srgbClr val="63B3ED"/>
                </a:solidFill>
                <a:latin typeface="Segoe UI"/>
              </a:rPr>
              <a:t>)</a:t>
            </a:r>
          </a:p>
          <a:p>
            <a:endParaRPr lang="en-US" altLang="ko-KR" sz="1500" b="1" dirty="0">
              <a:solidFill>
                <a:srgbClr val="63B3ED"/>
              </a:solidFill>
              <a:latin typeface="Segoe UI"/>
            </a:endParaRPr>
          </a:p>
          <a:p>
            <a:pPr marL="0" indent="0">
              <a:spcBef>
                <a:spcPts val="350"/>
              </a:spcBef>
              <a:buNone/>
            </a:pPr>
            <a:r>
              <a:rPr lang="ko-KR" sz="1250" b="1" dirty="0">
                <a:solidFill>
                  <a:srgbClr val="F6AD55"/>
                </a:solidFill>
                <a:latin typeface="Segoe UI"/>
              </a:rPr>
              <a:t>대입  </a:t>
            </a:r>
            <a:r>
              <a:rPr lang="en-US" sz="1200" dirty="0">
                <a:solidFill>
                  <a:srgbClr val="4FD1C5"/>
                </a:solidFill>
                <a:latin typeface="Consolas"/>
              </a:rPr>
              <a:t>assignment()</a:t>
            </a:r>
            <a:r>
              <a:rPr lang="en-US" sz="1150" dirty="0">
                <a:solidFill>
                  <a:srgbClr val="A0AEC0"/>
                </a:solidFill>
                <a:latin typeface="Consolas"/>
              </a:rPr>
              <a:t>  a = 3</a:t>
            </a:r>
          </a:p>
          <a:p>
            <a:pPr marL="0" indent="0">
              <a:spcBef>
                <a:spcPts val="350"/>
              </a:spcBef>
              <a:buNone/>
            </a:pPr>
            <a:r>
              <a:rPr lang="ko-KR" sz="1250" b="1" dirty="0">
                <a:solidFill>
                  <a:srgbClr val="F6AD55"/>
                </a:solidFill>
                <a:latin typeface="Segoe UI"/>
              </a:rPr>
              <a:t>논리  </a:t>
            </a:r>
            <a:r>
              <a:rPr lang="en-US" sz="1200" dirty="0">
                <a:solidFill>
                  <a:srgbClr val="4FD1C5"/>
                </a:solidFill>
                <a:latin typeface="Consolas"/>
              </a:rPr>
              <a:t>or() / and()</a:t>
            </a:r>
            <a:r>
              <a:rPr lang="en-US" sz="1150" dirty="0">
                <a:solidFill>
                  <a:srgbClr val="A0AEC0"/>
                </a:solidFill>
                <a:latin typeface="Consolas"/>
              </a:rPr>
              <a:t>  a or b</a:t>
            </a:r>
          </a:p>
          <a:p>
            <a:pPr marL="0" indent="0">
              <a:spcBef>
                <a:spcPts val="350"/>
              </a:spcBef>
              <a:buNone/>
            </a:pPr>
            <a:r>
              <a:rPr lang="ko-KR" sz="1250" b="1" dirty="0">
                <a:solidFill>
                  <a:srgbClr val="F6AD55"/>
                </a:solidFill>
                <a:latin typeface="Segoe UI"/>
              </a:rPr>
              <a:t>비교  </a:t>
            </a:r>
            <a:r>
              <a:rPr lang="en-US" sz="1200" dirty="0">
                <a:solidFill>
                  <a:srgbClr val="4FD1C5"/>
                </a:solidFill>
                <a:latin typeface="Consolas"/>
              </a:rPr>
              <a:t>comparison()</a:t>
            </a:r>
            <a:r>
              <a:rPr lang="en-US" sz="1150" dirty="0">
                <a:solidFill>
                  <a:srgbClr val="A0AEC0"/>
                </a:solidFill>
                <a:latin typeface="Consolas"/>
              </a:rPr>
              <a:t>  a &gt; b</a:t>
            </a:r>
          </a:p>
          <a:p>
            <a:pPr marL="0" indent="0">
              <a:spcBef>
                <a:spcPts val="350"/>
              </a:spcBef>
              <a:buNone/>
            </a:pPr>
            <a:r>
              <a:rPr lang="ko-KR" sz="1250" b="1" dirty="0">
                <a:solidFill>
                  <a:srgbClr val="F6AD55"/>
                </a:solidFill>
                <a:latin typeface="Segoe UI"/>
              </a:rPr>
              <a:t>덧셈  </a:t>
            </a:r>
            <a:r>
              <a:rPr lang="en-US" sz="1200" dirty="0">
                <a:solidFill>
                  <a:srgbClr val="4FD1C5"/>
                </a:solidFill>
                <a:latin typeface="Consolas"/>
              </a:rPr>
              <a:t>term()</a:t>
            </a:r>
            <a:r>
              <a:rPr lang="en-US" sz="1150" dirty="0">
                <a:solidFill>
                  <a:srgbClr val="A0AEC0"/>
                </a:solidFill>
                <a:latin typeface="Consolas"/>
              </a:rPr>
              <a:t>  a + b</a:t>
            </a:r>
          </a:p>
          <a:p>
            <a:pPr marL="0" indent="0">
              <a:spcBef>
                <a:spcPts val="350"/>
              </a:spcBef>
              <a:buNone/>
            </a:pPr>
            <a:r>
              <a:rPr lang="ko-KR" sz="1250" b="1" dirty="0">
                <a:solidFill>
                  <a:srgbClr val="F6AD55"/>
                </a:solidFill>
                <a:latin typeface="Segoe UI"/>
              </a:rPr>
              <a:t>곱셈  </a:t>
            </a:r>
            <a:r>
              <a:rPr lang="en-US" sz="1200" dirty="0">
                <a:solidFill>
                  <a:srgbClr val="4FD1C5"/>
                </a:solidFill>
                <a:latin typeface="Consolas"/>
              </a:rPr>
              <a:t>factor()</a:t>
            </a:r>
            <a:r>
              <a:rPr lang="en-US" sz="1150" dirty="0">
                <a:solidFill>
                  <a:srgbClr val="A0AEC0"/>
                </a:solidFill>
                <a:latin typeface="Consolas"/>
              </a:rPr>
              <a:t>  a * b</a:t>
            </a:r>
          </a:p>
          <a:p>
            <a:pPr marL="0" indent="0">
              <a:spcBef>
                <a:spcPts val="350"/>
              </a:spcBef>
              <a:buNone/>
            </a:pPr>
            <a:r>
              <a:rPr lang="ko-KR" sz="1250" b="1" dirty="0">
                <a:solidFill>
                  <a:srgbClr val="F6AD55"/>
                </a:solidFill>
                <a:latin typeface="Segoe UI"/>
              </a:rPr>
              <a:t>단항  </a:t>
            </a:r>
            <a:r>
              <a:rPr lang="en-US" sz="1200" dirty="0">
                <a:solidFill>
                  <a:srgbClr val="4FD1C5"/>
                </a:solidFill>
                <a:latin typeface="Consolas"/>
              </a:rPr>
              <a:t>unary()</a:t>
            </a:r>
            <a:r>
              <a:rPr lang="en-US" sz="1150" dirty="0">
                <a:solidFill>
                  <a:srgbClr val="A0AEC0"/>
                </a:solidFill>
                <a:latin typeface="Consolas"/>
              </a:rPr>
              <a:t>  -a  !a</a:t>
            </a:r>
          </a:p>
          <a:p>
            <a:pPr marL="0" indent="0">
              <a:spcBef>
                <a:spcPts val="350"/>
              </a:spcBef>
              <a:buNone/>
            </a:pPr>
            <a:r>
              <a:rPr lang="ko-KR" sz="1250" b="1" dirty="0">
                <a:solidFill>
                  <a:srgbClr val="F6AD55"/>
                </a:solidFill>
                <a:latin typeface="Segoe UI"/>
                <a:ea typeface="맑은 고딕"/>
              </a:rPr>
              <a:t>호출·인덱스  </a:t>
            </a:r>
            <a:r>
              <a:rPr lang="en-US" sz="1200" dirty="0">
                <a:solidFill>
                  <a:srgbClr val="4FD1C5"/>
                </a:solidFill>
                <a:latin typeface="Consolas"/>
              </a:rPr>
              <a:t>call()</a:t>
            </a:r>
            <a:r>
              <a:rPr lang="en-US" sz="1150" dirty="0">
                <a:solidFill>
                  <a:srgbClr val="A0AEC0"/>
                </a:solidFill>
                <a:latin typeface="Consolas"/>
              </a:rPr>
              <a:t>  add(1,2) </a:t>
            </a:r>
            <a:r>
              <a:rPr lang="en-US" sz="1150" dirty="0" err="1">
                <a:solidFill>
                  <a:srgbClr val="A0AEC0"/>
                </a:solidFill>
                <a:latin typeface="Consolas"/>
              </a:rPr>
              <a:t>arr</a:t>
            </a:r>
            <a:r>
              <a:rPr lang="en-US" sz="1150" dirty="0">
                <a:solidFill>
                  <a:srgbClr val="A0AEC0"/>
                </a:solidFill>
                <a:latin typeface="Consolas"/>
              </a:rPr>
              <a:t>[</a:t>
            </a:r>
            <a:r>
              <a:rPr lang="en-US" sz="1150" dirty="0" err="1">
                <a:solidFill>
                  <a:srgbClr val="A0AEC0"/>
                </a:solidFill>
                <a:latin typeface="Consolas"/>
              </a:rPr>
              <a:t>i</a:t>
            </a:r>
            <a:r>
              <a:rPr lang="en-US" sz="1150" dirty="0">
                <a:solidFill>
                  <a:srgbClr val="A0AEC0"/>
                </a:solidFill>
                <a:latin typeface="Consolas"/>
              </a:rPr>
              <a:t>]</a:t>
            </a:r>
          </a:p>
          <a:p>
            <a:pPr marL="0" indent="0">
              <a:spcBef>
                <a:spcPts val="350"/>
              </a:spcBef>
              <a:buNone/>
            </a:pPr>
            <a:r>
              <a:rPr lang="ko-KR" sz="1250" b="1" dirty="0">
                <a:solidFill>
                  <a:srgbClr val="F6AD55"/>
                </a:solidFill>
                <a:latin typeface="Segoe UI"/>
                <a:ea typeface="맑은 고딕"/>
              </a:rPr>
              <a:t>기본값  </a:t>
            </a:r>
            <a:r>
              <a:rPr lang="en-US" sz="1200" dirty="0">
                <a:solidFill>
                  <a:srgbClr val="4FD1C5"/>
                </a:solidFill>
                <a:latin typeface="Consolas"/>
              </a:rPr>
              <a:t>primary()</a:t>
            </a:r>
            <a:r>
              <a:rPr lang="en-US" sz="1150" dirty="0">
                <a:solidFill>
                  <a:srgbClr val="A0AEC0"/>
                </a:solidFill>
                <a:latin typeface="Consolas"/>
              </a:rPr>
              <a:t>  </a:t>
            </a:r>
            <a:r>
              <a:rPr lang="en-US" sz="1150" dirty="0" err="1">
                <a:solidFill>
                  <a:srgbClr val="A0AEC0"/>
                </a:solidFill>
                <a:latin typeface="Consolas"/>
              </a:rPr>
              <a:t>리터럴·변수·괄호</a:t>
            </a:r>
          </a:p>
        </p:txBody>
      </p:sp>
    </p:spTree>
    <p:extLst>
      <p:ext uri="{BB962C8B-B14F-4D97-AF65-F5344CB8AC3E}">
        <p14:creationId xmlns:p14="http://schemas.microsoft.com/office/powerpoint/2010/main" val="22333018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E2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AccentBar">
            <a:extLst>
              <a:ext uri="{FF2B5EF4-FFF2-40B4-BE49-F238E27FC236}">
                <a16:creationId xmlns:a16="http://schemas.microsoft.com/office/drawing/2014/main" id="{29FF770E-C7F7-4489-AFB0-629CA43003E8}"/>
              </a:ext>
            </a:extLst>
          </p:cNvPr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1" name="Kicker">
            <a:extLst>
              <a:ext uri="{FF2B5EF4-FFF2-40B4-BE49-F238E27FC236}">
                <a16:creationId xmlns:a16="http://schemas.microsoft.com/office/drawing/2014/main" id="{5F14D70F-0A8D-4A1D-953F-A4685CBD72C9}"/>
              </a:ext>
            </a:extLst>
          </p:cNvPr>
          <p:cNvSpPr txBox="1"/>
          <p:nvPr/>
        </p:nvSpPr>
        <p:spPr>
          <a:xfrm>
            <a:off x="609600" y="482600"/>
            <a:ext cx="76200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sz="1400" b="1" dirty="0">
                <a:solidFill>
                  <a:srgbClr val="F6AD55"/>
                </a:solidFill>
                <a:latin typeface="Segoe UI"/>
              </a:rPr>
              <a:t>03  ASSEMBLER · TDD ①</a:t>
            </a:r>
          </a:p>
        </p:txBody>
      </p:sp>
      <p:sp>
        <p:nvSpPr>
          <p:cNvPr id="12" name="Title">
            <a:extLst>
              <a:ext uri="{FF2B5EF4-FFF2-40B4-BE49-F238E27FC236}">
                <a16:creationId xmlns:a16="http://schemas.microsoft.com/office/drawing/2014/main" id="{8E244791-8A37-4CDE-A7BA-6EE00A431333}"/>
              </a:ext>
            </a:extLst>
          </p:cNvPr>
          <p:cNvSpPr txBox="1"/>
          <p:nvPr/>
        </p:nvSpPr>
        <p:spPr>
          <a:xfrm>
            <a:off x="596900" y="787400"/>
            <a:ext cx="109728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ko-KR" sz="3200" b="1" dirty="0">
                <a:solidFill>
                  <a:srgbClr val="FFFFFF"/>
                </a:solidFill>
                <a:latin typeface="Segoe UI Semibold"/>
              </a:rPr>
              <a:t>구분자 토큰화 · 기본 RED → GREEN</a:t>
            </a:r>
          </a:p>
        </p:txBody>
      </p:sp>
      <p:sp>
        <p:nvSpPr>
          <p:cNvPr id="13" name="TitleRule">
            <a:extLst>
              <a:ext uri="{FF2B5EF4-FFF2-40B4-BE49-F238E27FC236}">
                <a16:creationId xmlns:a16="http://schemas.microsoft.com/office/drawing/2014/main" id="{3CCA5443-E819-4314-9D2D-411125898B71}"/>
              </a:ext>
            </a:extLst>
          </p:cNvPr>
          <p:cNvSpPr/>
          <p:nvPr/>
        </p:nvSpPr>
        <p:spPr>
          <a:xfrm>
            <a:off x="609600" y="1549400"/>
            <a:ext cx="812800" cy="508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GoalCard">
            <a:extLst>
              <a:ext uri="{FF2B5EF4-FFF2-40B4-BE49-F238E27FC236}">
                <a16:creationId xmlns:a16="http://schemas.microsoft.com/office/drawing/2014/main" id="{D899334B-48AD-4693-8B67-68DA84742580}"/>
              </a:ext>
            </a:extLst>
          </p:cNvPr>
          <p:cNvSpPr/>
          <p:nvPr/>
        </p:nvSpPr>
        <p:spPr>
          <a:xfrm>
            <a:off x="606192" y="1827561"/>
            <a:ext cx="5334000" cy="4714487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FC818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04800" tIns="279400" rIns="304800" bIns="279400" rtlCol="0" anchor="t" anchorCtr="0"/>
          <a:lstStyle/>
          <a:p>
            <a:pPr>
              <a:buNone/>
            </a:pPr>
            <a:r>
              <a:rPr lang="en-US" sz="1400" b="1" dirty="0">
                <a:solidFill>
                  <a:srgbClr val="FC8181"/>
                </a:solidFill>
                <a:latin typeface="Segoe UI"/>
              </a:rPr>
              <a:t>🔴 RED · </a:t>
            </a:r>
            <a:r>
              <a:rPr lang="en-US" sz="1400" b="1" dirty="0" err="1">
                <a:solidFill>
                  <a:srgbClr val="FC8181"/>
                </a:solidFill>
                <a:latin typeface="Segoe UI"/>
              </a:rPr>
              <a:t>테스트</a:t>
            </a:r>
            <a:r>
              <a:rPr lang="en-US" sz="1400" b="1" dirty="0">
                <a:solidFill>
                  <a:srgbClr val="FC8181"/>
                </a:solidFill>
                <a:latin typeface="Segoe UI"/>
              </a:rPr>
              <a:t> </a:t>
            </a:r>
            <a:r>
              <a:rPr lang="en-US" sz="1400" b="1" dirty="0" err="1">
                <a:solidFill>
                  <a:srgbClr val="FC8181"/>
                </a:solidFill>
                <a:latin typeface="Segoe UI"/>
              </a:rPr>
              <a:t>먼저</a:t>
            </a:r>
            <a:endParaRPr lang="en-US" sz="1400" b="1" dirty="0" err="1">
              <a:solidFill>
                <a:srgbClr val="FC8181"/>
              </a:solidFill>
              <a:latin typeface="Segoe UI"/>
              <a:cs typeface="Segoe UI"/>
            </a:endParaRPr>
          </a:p>
          <a:p>
            <a:pPr marL="0" indent="0"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</a:pPr>
            <a:endParaRPr lang="ko-KR" altLang="en-US" sz="1200" dirty="0">
              <a:solidFill>
                <a:srgbClr val="A0AEC0"/>
              </a:solidFill>
              <a:latin typeface="Segoe UI"/>
              <a:ea typeface="맑은 고딕"/>
              <a:cs typeface="Segoe UI"/>
            </a:endParaRPr>
          </a:p>
          <a:p>
            <a:pPr>
              <a:spcBef>
                <a:spcPts val="150"/>
              </a:spcBef>
            </a:pPr>
            <a:endParaRPr lang="ko-KR" altLang="en-US" sz="1200" dirty="0">
              <a:solidFill>
                <a:srgbClr val="A0AEC0"/>
              </a:solidFill>
              <a:latin typeface="Segoe UI"/>
              <a:ea typeface="맑은 고딕"/>
              <a:cs typeface="Segoe UI"/>
            </a:endParaRPr>
          </a:p>
          <a:p>
            <a:pPr>
              <a:spcBef>
                <a:spcPts val="150"/>
              </a:spcBef>
            </a:pPr>
            <a:endParaRPr lang="ko-KR" altLang="en-US" sz="1200" dirty="0">
              <a:solidFill>
                <a:srgbClr val="A0AEC0"/>
              </a:solidFill>
              <a:latin typeface="Segoe UI"/>
              <a:ea typeface="맑은 고딕"/>
              <a:cs typeface="Segoe UI"/>
            </a:endParaRPr>
          </a:p>
          <a:p>
            <a:pPr>
              <a:spcBef>
                <a:spcPts val="150"/>
              </a:spcBef>
            </a:pPr>
            <a:endParaRPr lang="ko-KR" altLang="en-US" sz="1200" dirty="0">
              <a:solidFill>
                <a:srgbClr val="A0AEC0"/>
              </a:solidFill>
              <a:latin typeface="Segoe UI"/>
              <a:ea typeface="맑은 고딕"/>
              <a:cs typeface="Segoe UI"/>
            </a:endParaRPr>
          </a:p>
          <a:p>
            <a:pPr>
              <a:spcBef>
                <a:spcPts val="150"/>
              </a:spcBef>
            </a:pPr>
            <a:endParaRPr lang="en-US" altLang="ko-KR" sz="1200" dirty="0">
              <a:solidFill>
                <a:srgbClr val="A0AEC0"/>
              </a:solidFill>
              <a:latin typeface="Segoe UI"/>
              <a:ea typeface="맑은 고딕"/>
              <a:cs typeface="Segoe UI"/>
            </a:endParaRPr>
          </a:p>
          <a:p>
            <a:pPr>
              <a:spcBef>
                <a:spcPts val="150"/>
              </a:spcBef>
            </a:pPr>
            <a:endParaRPr lang="en-US" altLang="ko-KR" sz="1200" dirty="0">
              <a:solidFill>
                <a:srgbClr val="A0AEC0"/>
              </a:solidFill>
              <a:latin typeface="Segoe UI"/>
              <a:ea typeface="맑은 고딕"/>
              <a:cs typeface="Segoe UI"/>
            </a:endParaRPr>
          </a:p>
          <a:p>
            <a:pPr>
              <a:spcBef>
                <a:spcPts val="150"/>
              </a:spcBef>
            </a:pPr>
            <a:endParaRPr lang="ko-KR" altLang="en-US" sz="1200" dirty="0">
              <a:solidFill>
                <a:srgbClr val="A0AEC0"/>
              </a:solidFill>
              <a:latin typeface="Segoe UI"/>
              <a:ea typeface="맑은 고딕"/>
              <a:cs typeface="Segoe UI"/>
            </a:endParaRPr>
          </a:p>
          <a:p>
            <a:pPr>
              <a:spcBef>
                <a:spcPts val="150"/>
              </a:spcBef>
            </a:pPr>
            <a:r>
              <a:rPr lang="ko-KR" altLang="en-US" sz="1200" dirty="0">
                <a:solidFill>
                  <a:schemeClr val="tx1"/>
                </a:solidFill>
                <a:latin typeface="Segoe UI"/>
                <a:ea typeface="맑은 고딕"/>
                <a:cs typeface="Segoe UI"/>
              </a:rPr>
              <a:t>▎ 구현 전 기대 동작을 테스트로 먼저 명세</a:t>
            </a:r>
            <a:endParaRPr lang="en-US" sz="1200" dirty="0">
              <a:solidFill>
                <a:schemeClr val="tx1"/>
              </a:solidFill>
              <a:latin typeface="Segoe UI"/>
              <a:ea typeface="맑은 고딕"/>
              <a:cs typeface="Segoe UI"/>
            </a:endParaRPr>
          </a:p>
          <a:p>
            <a:pPr>
              <a:spcBef>
                <a:spcPts val="150"/>
              </a:spcBef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</p:txBody>
      </p:sp>
      <p:sp>
        <p:nvSpPr>
          <p:cNvPr id="15" name="TimelineCard">
            <a:extLst>
              <a:ext uri="{FF2B5EF4-FFF2-40B4-BE49-F238E27FC236}">
                <a16:creationId xmlns:a16="http://schemas.microsoft.com/office/drawing/2014/main" id="{F3BCE98E-382B-4AEA-83F6-8A8DE697831F}"/>
              </a:ext>
            </a:extLst>
          </p:cNvPr>
          <p:cNvSpPr/>
          <p:nvPr/>
        </p:nvSpPr>
        <p:spPr>
          <a:xfrm>
            <a:off x="5943600" y="1827561"/>
            <a:ext cx="5969000" cy="4714487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68D39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04800" tIns="279400" rIns="304800" bIns="279400" rtlCol="0" anchor="t" anchorCtr="0"/>
          <a:lstStyle/>
          <a:p>
            <a:pPr>
              <a:buNone/>
            </a:pPr>
            <a:r>
              <a:rPr lang="en-US" sz="1400" b="1" dirty="0">
                <a:solidFill>
                  <a:srgbClr val="68D391"/>
                </a:solidFill>
                <a:latin typeface="Segoe UI"/>
              </a:rPr>
              <a:t>🟢 GREEN · </a:t>
            </a:r>
            <a:r>
              <a:rPr lang="en-US" sz="1400" b="1" dirty="0" err="1">
                <a:solidFill>
                  <a:srgbClr val="68D391"/>
                </a:solidFill>
                <a:latin typeface="Segoe UI"/>
              </a:rPr>
              <a:t>최소</a:t>
            </a:r>
            <a:r>
              <a:rPr lang="en-US" sz="1400" b="1" dirty="0">
                <a:solidFill>
                  <a:srgbClr val="68D391"/>
                </a:solidFill>
                <a:latin typeface="Segoe UI"/>
              </a:rPr>
              <a:t> </a:t>
            </a:r>
            <a:r>
              <a:rPr lang="en-US" sz="1400" b="1" dirty="0" err="1">
                <a:solidFill>
                  <a:srgbClr val="68D391"/>
                </a:solidFill>
                <a:latin typeface="Segoe UI"/>
              </a:rPr>
              <a:t>구현</a:t>
            </a:r>
            <a:endParaRPr lang="en-US" sz="1400" b="1" dirty="0" err="1">
              <a:solidFill>
                <a:srgbClr val="68D391"/>
              </a:solidFill>
              <a:latin typeface="Segoe UI"/>
              <a:cs typeface="Segoe UI"/>
            </a:endParaRPr>
          </a:p>
          <a:p>
            <a:pPr marL="0" indent="0"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buNone/>
            </a:pPr>
            <a:endParaRPr lang="en-US" altLang="ko-KR" sz="600">
              <a:solidFill>
                <a:srgbClr val="1A1E2A"/>
              </a:solidFill>
              <a:latin typeface="Segoe UI"/>
              <a:cs typeface="Segoe UI"/>
            </a:endParaRPr>
          </a:p>
        </p:txBody>
      </p:sp>
      <p:pic>
        <p:nvPicPr>
          <p:cNvPr id="5" name="그림 4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65A4541-D8EF-933B-1B26-5B4DBB9D314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42" b="498"/>
          <a:stretch>
            <a:fillRect/>
          </a:stretch>
        </p:blipFill>
        <p:spPr>
          <a:xfrm>
            <a:off x="6081365" y="2843909"/>
            <a:ext cx="5818612" cy="2851037"/>
          </a:xfrm>
          <a:prstGeom prst="rect">
            <a:avLst/>
          </a:prstGeom>
        </p:spPr>
      </p:pic>
      <p:pic>
        <p:nvPicPr>
          <p:cNvPr id="6" name="그림 5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B0202D4-AA33-198E-B988-BB0413DFA3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949" y="2843677"/>
            <a:ext cx="5010150" cy="2851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21307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E2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AccentBar">
            <a:extLst>
              <a:ext uri="{FF2B5EF4-FFF2-40B4-BE49-F238E27FC236}">
                <a16:creationId xmlns:a16="http://schemas.microsoft.com/office/drawing/2014/main" id="{29FF770E-C7F7-4489-AFB0-629CA43003E8}"/>
              </a:ext>
            </a:extLst>
          </p:cNvPr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1" name="Kicker">
            <a:extLst>
              <a:ext uri="{FF2B5EF4-FFF2-40B4-BE49-F238E27FC236}">
                <a16:creationId xmlns:a16="http://schemas.microsoft.com/office/drawing/2014/main" id="{5F14D70F-0A8D-4A1D-953F-A4685CBD72C9}"/>
              </a:ext>
            </a:extLst>
          </p:cNvPr>
          <p:cNvSpPr txBox="1"/>
          <p:nvPr/>
        </p:nvSpPr>
        <p:spPr>
          <a:xfrm>
            <a:off x="609600" y="482600"/>
            <a:ext cx="76200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sz="1400" b="1" dirty="0">
                <a:solidFill>
                  <a:srgbClr val="F6AD55"/>
                </a:solidFill>
                <a:latin typeface="Segoe UI"/>
              </a:rPr>
              <a:t>04  ASSEMBLER · TDD ②</a:t>
            </a:r>
          </a:p>
        </p:txBody>
      </p:sp>
      <p:sp>
        <p:nvSpPr>
          <p:cNvPr id="12" name="Title">
            <a:extLst>
              <a:ext uri="{FF2B5EF4-FFF2-40B4-BE49-F238E27FC236}">
                <a16:creationId xmlns:a16="http://schemas.microsoft.com/office/drawing/2014/main" id="{8E244791-8A37-4CDE-A7BA-6EE00A431333}"/>
              </a:ext>
            </a:extLst>
          </p:cNvPr>
          <p:cNvSpPr txBox="1"/>
          <p:nvPr/>
        </p:nvSpPr>
        <p:spPr>
          <a:xfrm>
            <a:off x="596900" y="787400"/>
            <a:ext cx="10972800" cy="1077218"/>
          </a:xfrm>
          <a:prstGeom prst="rect">
            <a:avLst/>
          </a:prstGeom>
          <a:noFill/>
        </p:spPr>
        <p:txBody>
          <a:bodyPr vertOverflow="overflow" vert="horz" wrap="square" lIns="91440" tIns="45720" rIns="91440" bIns="45720" rtlCol="0" anchor="t">
            <a:spAutoFit/>
          </a:bodyPr>
          <a:lstStyle/>
          <a:p>
            <a:r>
              <a:rPr lang="ko-KR" altLang="en-US" sz="3200" b="1" dirty="0">
                <a:solidFill>
                  <a:srgbClr val="FFFFFF"/>
                </a:solidFill>
                <a:latin typeface="Segoe UI Semibold"/>
                <a:ea typeface="맑은 고딕"/>
              </a:rPr>
              <a:t>연산자 우선순위 </a:t>
            </a:r>
            <a:r>
              <a:rPr lang="ko-KR" sz="3200" b="1">
                <a:solidFill>
                  <a:srgbClr val="FFFFFF"/>
                </a:solidFill>
                <a:latin typeface="Segoe UI Semibold"/>
                <a:ea typeface="맑은 고딕"/>
              </a:rPr>
              <a:t>TDD · </a:t>
            </a:r>
            <a:r>
              <a:rPr lang="en-US" altLang="ko-KR" sz="3200" b="1">
                <a:solidFill>
                  <a:srgbClr val="FFFFFF"/>
                </a:solidFill>
                <a:latin typeface="Segoe UI Semibold"/>
                <a:ea typeface="맑은 고딕"/>
              </a:rPr>
              <a:t>Parser</a:t>
            </a:r>
            <a:r>
              <a:rPr lang="ko-KR" altLang="en-US" sz="3200" b="1">
                <a:solidFill>
                  <a:srgbClr val="FFFFFF"/>
                </a:solidFill>
                <a:latin typeface="Segoe UI Semibold"/>
                <a:ea typeface="맑은 고딕"/>
              </a:rPr>
              <a:t> 설계 명세</a:t>
            </a:r>
            <a:endParaRPr lang="ko-KR" altLang="en-US" sz="3200">
              <a:solidFill>
                <a:srgbClr val="000000"/>
              </a:solidFill>
              <a:latin typeface="Segoe UI Semibold"/>
              <a:ea typeface="맑은 고딕"/>
            </a:endParaRPr>
          </a:p>
          <a:p>
            <a:endParaRPr lang="ko-KR" sz="3200" b="1" dirty="0">
              <a:solidFill>
                <a:srgbClr val="FFFFFF"/>
              </a:solidFill>
              <a:latin typeface="Segoe UI Semibold"/>
              <a:ea typeface="맑은 고딕"/>
              <a:cs typeface="Segoe UI Semibold"/>
            </a:endParaRPr>
          </a:p>
        </p:txBody>
      </p:sp>
      <p:sp>
        <p:nvSpPr>
          <p:cNvPr id="13" name="TitleRule">
            <a:extLst>
              <a:ext uri="{FF2B5EF4-FFF2-40B4-BE49-F238E27FC236}">
                <a16:creationId xmlns:a16="http://schemas.microsoft.com/office/drawing/2014/main" id="{3CCA5443-E819-4314-9D2D-411125898B71}"/>
              </a:ext>
            </a:extLst>
          </p:cNvPr>
          <p:cNvSpPr/>
          <p:nvPr/>
        </p:nvSpPr>
        <p:spPr>
          <a:xfrm>
            <a:off x="609600" y="1549400"/>
            <a:ext cx="812800" cy="508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" name="GoalCard">
            <a:extLst>
              <a:ext uri="{FF2B5EF4-FFF2-40B4-BE49-F238E27FC236}">
                <a16:creationId xmlns:a16="http://schemas.microsoft.com/office/drawing/2014/main" id="{CDDFDFD9-76BD-5D4C-89CD-196703B3469A}"/>
              </a:ext>
            </a:extLst>
          </p:cNvPr>
          <p:cNvSpPr/>
          <p:nvPr/>
        </p:nvSpPr>
        <p:spPr>
          <a:xfrm>
            <a:off x="609600" y="2032000"/>
            <a:ext cx="5181600" cy="4343400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FC818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04800" tIns="279400" rIns="304800" bIns="279400" rtlCol="0" anchor="t" anchorCtr="0"/>
          <a:lstStyle/>
          <a:p>
            <a:pPr>
              <a:buNone/>
            </a:pPr>
            <a:r>
              <a:rPr lang="en-US" sz="1300" b="1" dirty="0">
                <a:solidFill>
                  <a:srgbClr val="FC8181"/>
                </a:solidFill>
                <a:latin typeface="Segoe UI"/>
              </a:rPr>
              <a:t>🔴 RED</a:t>
            </a:r>
          </a:p>
          <a:p>
            <a:pPr marL="0" indent="0">
              <a:spcBef>
                <a:spcPts val="100"/>
              </a:spcBef>
              <a:buNone/>
            </a:pPr>
            <a:endParaRPr lang="en-US" sz="10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00"/>
              </a:spcBef>
            </a:pPr>
            <a:endParaRPr lang="en-US" sz="1000" dirty="0">
              <a:solidFill>
                <a:srgbClr val="E8EAF0"/>
              </a:solidFill>
              <a:latin typeface="Consolas"/>
            </a:endParaRPr>
          </a:p>
        </p:txBody>
      </p:sp>
      <p:sp>
        <p:nvSpPr>
          <p:cNvPr id="6" name="TimelineCard">
            <a:extLst>
              <a:ext uri="{FF2B5EF4-FFF2-40B4-BE49-F238E27FC236}">
                <a16:creationId xmlns:a16="http://schemas.microsoft.com/office/drawing/2014/main" id="{4B788E45-ED39-26AF-CDCE-175E16CED509}"/>
              </a:ext>
            </a:extLst>
          </p:cNvPr>
          <p:cNvSpPr/>
          <p:nvPr/>
        </p:nvSpPr>
        <p:spPr>
          <a:xfrm>
            <a:off x="5781908" y="2032000"/>
            <a:ext cx="6055111" cy="4343400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68D39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04800" tIns="279400" rIns="304800" bIns="279400" rtlCol="0" anchor="t" anchorCtr="0"/>
          <a:lstStyle/>
          <a:p>
            <a:pPr>
              <a:buNone/>
            </a:pPr>
            <a:r>
              <a:rPr lang="en-US" sz="1300" b="1" dirty="0">
                <a:solidFill>
                  <a:srgbClr val="68D391"/>
                </a:solidFill>
                <a:latin typeface="Segoe UI"/>
              </a:rPr>
              <a:t>🟢 GREEN · </a:t>
            </a:r>
            <a:r>
              <a:rPr lang="en-US" sz="1300" b="1" dirty="0" err="1">
                <a:solidFill>
                  <a:srgbClr val="68D391"/>
                </a:solidFill>
                <a:latin typeface="Segoe UI"/>
              </a:rPr>
              <a:t>재귀하강으로</a:t>
            </a:r>
            <a:r>
              <a:rPr lang="en-US" sz="1300" b="1" dirty="0">
                <a:solidFill>
                  <a:srgbClr val="68D391"/>
                </a:solidFill>
                <a:latin typeface="Segoe UI"/>
              </a:rPr>
              <a:t> </a:t>
            </a:r>
            <a:r>
              <a:rPr lang="en-US" sz="1300" b="1" dirty="0" err="1">
                <a:solidFill>
                  <a:srgbClr val="68D391"/>
                </a:solidFill>
                <a:latin typeface="Segoe UI"/>
              </a:rPr>
              <a:t>우선순위</a:t>
            </a:r>
            <a:r>
              <a:rPr lang="en-US" sz="1300" b="1" dirty="0">
                <a:solidFill>
                  <a:srgbClr val="68D391"/>
                </a:solidFill>
                <a:latin typeface="Segoe UI"/>
              </a:rPr>
              <a:t> </a:t>
            </a:r>
            <a:r>
              <a:rPr lang="en-US" sz="1300" b="1" dirty="0" err="1">
                <a:solidFill>
                  <a:srgbClr val="68D391"/>
                </a:solidFill>
                <a:latin typeface="Segoe UI"/>
              </a:rPr>
              <a:t>표현</a:t>
            </a:r>
            <a:endParaRPr lang="en-US" sz="1300" b="1" dirty="0" err="1">
              <a:solidFill>
                <a:srgbClr val="68D391"/>
              </a:solidFill>
              <a:latin typeface="Segoe UI"/>
              <a:cs typeface="Segoe UI"/>
            </a:endParaRPr>
          </a:p>
          <a:p>
            <a:pPr marL="0" indent="0">
              <a:spcBef>
                <a:spcPts val="100"/>
              </a:spcBef>
              <a:buNone/>
            </a:pPr>
            <a:endParaRPr lang="en-US" sz="10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00"/>
              </a:spcBef>
            </a:pPr>
            <a:endParaRPr lang="en-US" altLang="ko-KR" sz="10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00"/>
              </a:spcBef>
            </a:pPr>
            <a:endParaRPr lang="en-US" altLang="ko-KR" sz="10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00"/>
              </a:spcBef>
            </a:pPr>
            <a:endParaRPr lang="en-US" sz="10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00"/>
              </a:spcBef>
            </a:pPr>
            <a:endParaRPr lang="en-US" sz="10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00"/>
              </a:spcBef>
            </a:pPr>
            <a:endParaRPr lang="en-US" sz="10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00"/>
              </a:spcBef>
            </a:pPr>
            <a:endParaRPr lang="en-US" sz="10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00"/>
              </a:spcBef>
            </a:pPr>
            <a:endParaRPr lang="en-US" sz="10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00"/>
              </a:spcBef>
            </a:pPr>
            <a:endParaRPr lang="en-US" sz="10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00"/>
              </a:spcBef>
            </a:pPr>
            <a:endParaRPr lang="en-US" sz="10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00"/>
              </a:spcBef>
            </a:pPr>
            <a:endParaRPr lang="en-US" sz="10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00"/>
              </a:spcBef>
            </a:pPr>
            <a:endParaRPr lang="en-US" sz="10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00"/>
              </a:spcBef>
            </a:pPr>
            <a:endParaRPr lang="en-US" sz="10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00"/>
              </a:spcBef>
            </a:pPr>
            <a:endParaRPr lang="en-US" altLang="ko-KR" sz="10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00"/>
              </a:spcBef>
            </a:pPr>
            <a:endParaRPr lang="en-US" altLang="ko-KR" sz="10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00"/>
              </a:spcBef>
            </a:pPr>
            <a:endParaRPr lang="en-US" altLang="ko-KR" sz="10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250"/>
              </a:spcBef>
              <a:buNone/>
            </a:pPr>
            <a:r>
              <a:rPr lang="ko-KR" sz="1100" dirty="0">
                <a:solidFill>
                  <a:schemeClr val="tx1"/>
                </a:solidFill>
                <a:latin typeface="Segoe UI"/>
              </a:rPr>
              <a:t>▎ "1+2*3 트리 구조"를 테스트로 명세</a:t>
            </a:r>
          </a:p>
          <a:p>
            <a:pPr>
              <a:spcBef>
                <a:spcPts val="250"/>
              </a:spcBef>
              <a:buNone/>
            </a:pPr>
            <a:r>
              <a:rPr lang="ko-KR" sz="1100" dirty="0">
                <a:solidFill>
                  <a:schemeClr val="tx1"/>
                </a:solidFill>
                <a:latin typeface="Segoe UI"/>
              </a:rPr>
              <a:t>   → 재귀하강 구조가 자연히 도출</a:t>
            </a:r>
          </a:p>
        </p:txBody>
      </p:sp>
      <p:pic>
        <p:nvPicPr>
          <p:cNvPr id="8" name="그림 7" descr="텍스트, 스크린샷, 폰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A772CE1-A764-785F-AA30-017FB53460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488" y="2813709"/>
            <a:ext cx="4780389" cy="2143302"/>
          </a:xfrm>
          <a:prstGeom prst="rect">
            <a:avLst/>
          </a:prstGeom>
        </p:spPr>
      </p:pic>
      <p:pic>
        <p:nvPicPr>
          <p:cNvPr id="16" name="그림 15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C4D67AD-B0AA-6354-3DB8-C4FDBDB460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1963" y="2817890"/>
            <a:ext cx="5715000" cy="2365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1383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E2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AccentBar">
            <a:extLst>
              <a:ext uri="{FF2B5EF4-FFF2-40B4-BE49-F238E27FC236}">
                <a16:creationId xmlns:a16="http://schemas.microsoft.com/office/drawing/2014/main" id="{29FF770E-C7F7-4489-AFB0-629CA43003E8}"/>
              </a:ext>
            </a:extLst>
          </p:cNvPr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1" name="Kicker">
            <a:extLst>
              <a:ext uri="{FF2B5EF4-FFF2-40B4-BE49-F238E27FC236}">
                <a16:creationId xmlns:a16="http://schemas.microsoft.com/office/drawing/2014/main" id="{5F14D70F-0A8D-4A1D-953F-A4685CBD72C9}"/>
              </a:ext>
            </a:extLst>
          </p:cNvPr>
          <p:cNvSpPr txBox="1"/>
          <p:nvPr/>
        </p:nvSpPr>
        <p:spPr>
          <a:xfrm>
            <a:off x="609600" y="482600"/>
            <a:ext cx="76200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sz="1400" b="1" dirty="0">
                <a:solidFill>
                  <a:srgbClr val="F6AD55"/>
                </a:solidFill>
                <a:latin typeface="Segoe UI"/>
              </a:rPr>
              <a:t>05  ASSEMBLER · 리팩토링 ①</a:t>
            </a:r>
          </a:p>
        </p:txBody>
      </p:sp>
      <p:sp>
        <p:nvSpPr>
          <p:cNvPr id="12" name="Title">
            <a:extLst>
              <a:ext uri="{FF2B5EF4-FFF2-40B4-BE49-F238E27FC236}">
                <a16:creationId xmlns:a16="http://schemas.microsoft.com/office/drawing/2014/main" id="{8E244791-8A37-4CDE-A7BA-6EE00A431333}"/>
              </a:ext>
            </a:extLst>
          </p:cNvPr>
          <p:cNvSpPr txBox="1"/>
          <p:nvPr/>
        </p:nvSpPr>
        <p:spPr>
          <a:xfrm>
            <a:off x="596900" y="787400"/>
            <a:ext cx="109728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ko-KR" sz="3200" b="1" dirty="0">
                <a:solidFill>
                  <a:srgbClr val="FFFFFF"/>
                </a:solidFill>
                <a:latin typeface="Segoe UI Semibold"/>
              </a:rPr>
              <a:t>9-case 분기 → 정적 Map</a:t>
            </a:r>
          </a:p>
        </p:txBody>
      </p:sp>
      <p:sp>
        <p:nvSpPr>
          <p:cNvPr id="13" name="TitleRule">
            <a:extLst>
              <a:ext uri="{FF2B5EF4-FFF2-40B4-BE49-F238E27FC236}">
                <a16:creationId xmlns:a16="http://schemas.microsoft.com/office/drawing/2014/main" id="{3CCA5443-E819-4314-9D2D-411125898B71}"/>
              </a:ext>
            </a:extLst>
          </p:cNvPr>
          <p:cNvSpPr/>
          <p:nvPr/>
        </p:nvSpPr>
        <p:spPr>
          <a:xfrm>
            <a:off x="609600" y="1549400"/>
            <a:ext cx="812800" cy="508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GoalCard">
            <a:extLst>
              <a:ext uri="{FF2B5EF4-FFF2-40B4-BE49-F238E27FC236}">
                <a16:creationId xmlns:a16="http://schemas.microsoft.com/office/drawing/2014/main" id="{D899334B-48AD-4693-8B67-68DA84742580}"/>
              </a:ext>
            </a:extLst>
          </p:cNvPr>
          <p:cNvSpPr/>
          <p:nvPr/>
        </p:nvSpPr>
        <p:spPr>
          <a:xfrm>
            <a:off x="606192" y="1827561"/>
            <a:ext cx="5640659" cy="4714487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FC818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04800" tIns="279400" rIns="304800" bIns="279400" rtlCol="0" anchor="t" anchorCtr="0"/>
          <a:lstStyle/>
          <a:p>
            <a:pPr>
              <a:buNone/>
            </a:pPr>
            <a:r>
              <a:rPr lang="en-US" sz="1400" b="1" dirty="0">
                <a:solidFill>
                  <a:srgbClr val="FC8181"/>
                </a:solidFill>
                <a:latin typeface="Segoe UI"/>
              </a:rPr>
              <a:t>BEFORE</a:t>
            </a:r>
          </a:p>
          <a:p>
            <a:pPr marL="0" indent="0"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</p:txBody>
      </p:sp>
      <p:sp>
        <p:nvSpPr>
          <p:cNvPr id="15" name="TimelineCard">
            <a:extLst>
              <a:ext uri="{FF2B5EF4-FFF2-40B4-BE49-F238E27FC236}">
                <a16:creationId xmlns:a16="http://schemas.microsoft.com/office/drawing/2014/main" id="{F3BCE98E-382B-4AEA-83F6-8A8DE697831F}"/>
              </a:ext>
            </a:extLst>
          </p:cNvPr>
          <p:cNvSpPr/>
          <p:nvPr/>
        </p:nvSpPr>
        <p:spPr>
          <a:xfrm>
            <a:off x="6268843" y="1827561"/>
            <a:ext cx="5643757" cy="4714487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68D39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04800" tIns="279400" rIns="304800" bIns="279400" rtlCol="0" anchor="t" anchorCtr="0"/>
          <a:lstStyle/>
          <a:p>
            <a:pPr>
              <a:buNone/>
            </a:pPr>
            <a:r>
              <a:rPr lang="en-US" sz="1400" b="1" dirty="0">
                <a:solidFill>
                  <a:srgbClr val="68D391"/>
                </a:solidFill>
                <a:latin typeface="Segoe UI"/>
              </a:rPr>
              <a:t>AFTER</a:t>
            </a:r>
          </a:p>
          <a:p>
            <a:pPr marL="0" indent="0">
              <a:buNone/>
            </a:pPr>
            <a:endParaRPr lang="en-US" sz="600" dirty="0"/>
          </a:p>
          <a:p>
            <a:endParaRPr lang="en-US" altLang="ko-KR" sz="600" dirty="0">
              <a:solidFill>
                <a:srgbClr val="1A1E2A"/>
              </a:solidFill>
              <a:latin typeface="Segoe UI"/>
            </a:endParaRPr>
          </a:p>
          <a:p>
            <a:endParaRPr lang="en-US" altLang="ko-KR" sz="600" dirty="0">
              <a:solidFill>
                <a:srgbClr val="1A1E2A"/>
              </a:solidFill>
              <a:latin typeface="Segoe UI"/>
            </a:endParaRPr>
          </a:p>
          <a:p>
            <a:endParaRPr lang="en-US" sz="600" dirty="0">
              <a:solidFill>
                <a:srgbClr val="1A1E2A"/>
              </a:solidFill>
              <a:latin typeface="Segoe UI"/>
              <a:cs typeface="Segoe UI"/>
            </a:endParaRPr>
          </a:p>
          <a:p>
            <a:endParaRPr lang="en-US" altLang="ko-KR" sz="600" dirty="0">
              <a:solidFill>
                <a:srgbClr val="1A1E2A"/>
              </a:solidFill>
              <a:latin typeface="Segoe UI"/>
            </a:endParaRPr>
          </a:p>
          <a:p>
            <a:endParaRPr lang="en-US" sz="600" dirty="0">
              <a:solidFill>
                <a:srgbClr val="1A1E2A"/>
              </a:solidFill>
              <a:latin typeface="Segoe UI"/>
              <a:cs typeface="Segoe UI"/>
            </a:endParaRPr>
          </a:p>
          <a:p>
            <a:endParaRPr lang="en-US" sz="600" dirty="0">
              <a:solidFill>
                <a:srgbClr val="1A1E2A"/>
              </a:solidFill>
              <a:latin typeface="Segoe UI"/>
              <a:cs typeface="Segoe UI"/>
            </a:endParaRPr>
          </a:p>
          <a:p>
            <a:endParaRPr lang="en-US" sz="600" dirty="0">
              <a:solidFill>
                <a:srgbClr val="1A1E2A"/>
              </a:solidFill>
              <a:latin typeface="Segoe UI"/>
              <a:cs typeface="Segoe UI"/>
            </a:endParaRPr>
          </a:p>
          <a:p>
            <a:endParaRPr lang="en-US" sz="600" dirty="0">
              <a:solidFill>
                <a:srgbClr val="1A1E2A"/>
              </a:solidFill>
              <a:latin typeface="Segoe UI"/>
              <a:cs typeface="Segoe UI"/>
            </a:endParaRPr>
          </a:p>
          <a:p>
            <a:endParaRPr lang="en-US" sz="600" dirty="0">
              <a:solidFill>
                <a:srgbClr val="1A1E2A"/>
              </a:solidFill>
              <a:latin typeface="Segoe UI"/>
              <a:cs typeface="Segoe UI"/>
            </a:endParaRPr>
          </a:p>
          <a:p>
            <a:endParaRPr lang="en-US" sz="600" dirty="0">
              <a:solidFill>
                <a:srgbClr val="1A1E2A"/>
              </a:solidFill>
              <a:latin typeface="Segoe UI"/>
              <a:cs typeface="Segoe UI"/>
            </a:endParaRPr>
          </a:p>
          <a:p>
            <a:endParaRPr lang="en-US" sz="600" dirty="0">
              <a:solidFill>
                <a:srgbClr val="1A1E2A"/>
              </a:solidFill>
              <a:latin typeface="Segoe UI"/>
              <a:cs typeface="Segoe UI"/>
            </a:endParaRPr>
          </a:p>
          <a:p>
            <a:endParaRPr lang="en-US" sz="600" dirty="0">
              <a:solidFill>
                <a:srgbClr val="1A1E2A"/>
              </a:solidFill>
              <a:latin typeface="Segoe UI"/>
              <a:cs typeface="Segoe UI"/>
            </a:endParaRPr>
          </a:p>
          <a:p>
            <a:endParaRPr lang="en-US" sz="600" dirty="0">
              <a:solidFill>
                <a:srgbClr val="1A1E2A"/>
              </a:solidFill>
              <a:latin typeface="Segoe UI"/>
              <a:cs typeface="Segoe UI"/>
            </a:endParaRPr>
          </a:p>
          <a:p>
            <a:endParaRPr lang="en-US" sz="600" dirty="0">
              <a:solidFill>
                <a:srgbClr val="1A1E2A"/>
              </a:solidFill>
              <a:latin typeface="Segoe UI"/>
              <a:cs typeface="Segoe UI"/>
            </a:endParaRPr>
          </a:p>
          <a:p>
            <a:endParaRPr lang="en-US" altLang="ko-KR" sz="600" dirty="0">
              <a:solidFill>
                <a:srgbClr val="1A1E2A"/>
              </a:solidFill>
              <a:latin typeface="Segoe UI"/>
              <a:ea typeface="맑은 고딕"/>
            </a:endParaRPr>
          </a:p>
          <a:p>
            <a:endParaRPr lang="en-US" altLang="ko-KR" sz="600" dirty="0">
              <a:solidFill>
                <a:srgbClr val="1A1E2A"/>
              </a:solidFill>
              <a:latin typeface="Segoe UI"/>
              <a:ea typeface="맑은 고딕"/>
            </a:endParaRPr>
          </a:p>
          <a:p>
            <a:endParaRPr lang="en-US" altLang="ko-KR" sz="600" dirty="0">
              <a:solidFill>
                <a:srgbClr val="1A1E2A"/>
              </a:solidFill>
              <a:latin typeface="Segoe UI"/>
              <a:ea typeface="맑은 고딕"/>
            </a:endParaRPr>
          </a:p>
          <a:p>
            <a:endParaRPr lang="en-US" altLang="ko-KR" sz="600" dirty="0">
              <a:solidFill>
                <a:srgbClr val="1A1E2A"/>
              </a:solidFill>
              <a:latin typeface="Segoe UI"/>
              <a:ea typeface="맑은 고딕"/>
            </a:endParaRPr>
          </a:p>
          <a:p>
            <a:pPr>
              <a:spcBef>
                <a:spcPts val="300"/>
              </a:spcBef>
            </a:pPr>
            <a:r>
              <a:rPr lang="ko-KR" sz="1200" dirty="0">
                <a:solidFill>
                  <a:schemeClr val="tx1"/>
                </a:solidFill>
                <a:latin typeface="Segoe UI"/>
                <a:ea typeface="맑은 고딕"/>
              </a:rPr>
              <a:t>▎</a:t>
            </a:r>
            <a:r>
              <a:rPr lang="ko-KR" altLang="en-US" sz="1200" dirty="0">
                <a:solidFill>
                  <a:schemeClr val="tx1"/>
                </a:solidFill>
                <a:latin typeface="Segoe UI"/>
                <a:ea typeface="맑은 고딕"/>
              </a:rPr>
              <a:t> </a:t>
            </a:r>
            <a:r>
              <a:rPr lang="ko-KR" sz="1200" dirty="0">
                <a:solidFill>
                  <a:schemeClr val="tx1"/>
                </a:solidFill>
                <a:latin typeface="Segoe UI"/>
                <a:ea typeface="맑은 고딕"/>
              </a:rPr>
              <a:t>키워드 추가가 한 줄 → 확장에 열린 구조</a:t>
            </a:r>
            <a:r>
              <a:rPr lang="en-US" altLang="ko-KR" sz="1200" dirty="0">
                <a:solidFill>
                  <a:schemeClr val="tx1"/>
                </a:solidFill>
                <a:latin typeface="Segoe UI"/>
                <a:ea typeface="맑은 고딕"/>
              </a:rPr>
              <a:t> (OCP)</a:t>
            </a:r>
            <a:endParaRPr lang="ko-KR" dirty="0">
              <a:solidFill>
                <a:schemeClr val="tx1"/>
              </a:solidFill>
              <a:ea typeface="맑은 고딕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2B77E2EB-427E-9FB0-5B82-7F9FADD371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025" y="3019657"/>
            <a:ext cx="5283123" cy="716466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A1C3C359-D9A5-266C-A5EE-C65FD7B699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4668" y="3021399"/>
            <a:ext cx="5207154" cy="1149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23706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E2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AccentBar">
            <a:extLst>
              <a:ext uri="{FF2B5EF4-FFF2-40B4-BE49-F238E27FC236}">
                <a16:creationId xmlns:a16="http://schemas.microsoft.com/office/drawing/2014/main" id="{29FF770E-C7F7-4489-AFB0-629CA43003E8}"/>
              </a:ext>
            </a:extLst>
          </p:cNvPr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1" name="Kicker">
            <a:extLst>
              <a:ext uri="{FF2B5EF4-FFF2-40B4-BE49-F238E27FC236}">
                <a16:creationId xmlns:a16="http://schemas.microsoft.com/office/drawing/2014/main" id="{5F14D70F-0A8D-4A1D-953F-A4685CBD72C9}"/>
              </a:ext>
            </a:extLst>
          </p:cNvPr>
          <p:cNvSpPr txBox="1"/>
          <p:nvPr/>
        </p:nvSpPr>
        <p:spPr>
          <a:xfrm>
            <a:off x="609600" y="482600"/>
            <a:ext cx="76200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sz="1400" b="1" dirty="0">
                <a:solidFill>
                  <a:srgbClr val="F6AD55"/>
                </a:solidFill>
                <a:latin typeface="Segoe UI"/>
              </a:rPr>
              <a:t>06  ASSEMBLER · 리팩토링 ②</a:t>
            </a:r>
          </a:p>
        </p:txBody>
      </p:sp>
      <p:sp>
        <p:nvSpPr>
          <p:cNvPr id="12" name="Title">
            <a:extLst>
              <a:ext uri="{FF2B5EF4-FFF2-40B4-BE49-F238E27FC236}">
                <a16:creationId xmlns:a16="http://schemas.microsoft.com/office/drawing/2014/main" id="{8E244791-8A37-4CDE-A7BA-6EE00A431333}"/>
              </a:ext>
            </a:extLst>
          </p:cNvPr>
          <p:cNvSpPr txBox="1"/>
          <p:nvPr/>
        </p:nvSpPr>
        <p:spPr>
          <a:xfrm>
            <a:off x="596900" y="787400"/>
            <a:ext cx="109728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ko-KR" sz="3200" b="1" dirty="0">
                <a:solidFill>
                  <a:srgbClr val="FFFFFF"/>
                </a:solidFill>
                <a:latin typeface="Segoe UI Semibold"/>
              </a:rPr>
              <a:t>반복 패턴 → 헬퍼 메서드 추출</a:t>
            </a:r>
          </a:p>
        </p:txBody>
      </p:sp>
      <p:sp>
        <p:nvSpPr>
          <p:cNvPr id="13" name="TitleRule">
            <a:extLst>
              <a:ext uri="{FF2B5EF4-FFF2-40B4-BE49-F238E27FC236}">
                <a16:creationId xmlns:a16="http://schemas.microsoft.com/office/drawing/2014/main" id="{3CCA5443-E819-4314-9D2D-411125898B71}"/>
              </a:ext>
            </a:extLst>
          </p:cNvPr>
          <p:cNvSpPr/>
          <p:nvPr/>
        </p:nvSpPr>
        <p:spPr>
          <a:xfrm>
            <a:off x="609600" y="1549400"/>
            <a:ext cx="812800" cy="508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GoalCard">
            <a:extLst>
              <a:ext uri="{FF2B5EF4-FFF2-40B4-BE49-F238E27FC236}">
                <a16:creationId xmlns:a16="http://schemas.microsoft.com/office/drawing/2014/main" id="{D899334B-48AD-4693-8B67-68DA84742580}"/>
              </a:ext>
            </a:extLst>
          </p:cNvPr>
          <p:cNvSpPr/>
          <p:nvPr/>
        </p:nvSpPr>
        <p:spPr>
          <a:xfrm>
            <a:off x="596900" y="1827561"/>
            <a:ext cx="5486400" cy="4714487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FC818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04800" tIns="279400" rIns="304800" bIns="279400" rtlCol="0" anchor="t" anchorCtr="0"/>
          <a:lstStyle/>
          <a:p>
            <a:endParaRPr lang="en-US"/>
          </a:p>
        </p:txBody>
      </p:sp>
      <p:sp>
        <p:nvSpPr>
          <p:cNvPr id="15" name="TimelineCard">
            <a:extLst>
              <a:ext uri="{FF2B5EF4-FFF2-40B4-BE49-F238E27FC236}">
                <a16:creationId xmlns:a16="http://schemas.microsoft.com/office/drawing/2014/main" id="{F3BCE98E-382B-4AEA-83F6-8A8DE697831F}"/>
              </a:ext>
            </a:extLst>
          </p:cNvPr>
          <p:cNvSpPr/>
          <p:nvPr/>
        </p:nvSpPr>
        <p:spPr>
          <a:xfrm>
            <a:off x="6311900" y="1827561"/>
            <a:ext cx="5486400" cy="4714487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68D39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04800" tIns="279400" rIns="304800" bIns="279400" rtlCol="0" anchor="t" anchorCtr="0"/>
          <a:lstStyle/>
          <a:p>
            <a:endParaRPr lang="en-US"/>
          </a:p>
        </p:txBody>
      </p:sp>
      <p:pic>
        <p:nvPicPr>
          <p:cNvPr id="2" name="그림 1" descr="텍스트, 스크린샷, 폰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E19D14F-1633-5EF5-7ABB-2F54573F01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4577575"/>
            <a:ext cx="5120268" cy="1140443"/>
          </a:xfrm>
          <a:prstGeom prst="rect">
            <a:avLst/>
          </a:prstGeom>
        </p:spPr>
      </p:pic>
      <p:pic>
        <p:nvPicPr>
          <p:cNvPr id="3" name="그림 2" descr="텍스트, 스크린샷, 폰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E5F28B6-EC99-DF30-B34F-986B7E0B23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2332" y="4414992"/>
            <a:ext cx="4525536" cy="1762512"/>
          </a:xfrm>
          <a:prstGeom prst="rect">
            <a:avLst/>
          </a:prstGeom>
        </p:spPr>
      </p:pic>
      <p:pic>
        <p:nvPicPr>
          <p:cNvPr id="16" name="Copied Picture 16">
            <a:extLst>
              <a:ext uri="{FF2B5EF4-FFF2-40B4-BE49-F238E27FC236}">
                <a16:creationId xmlns:a16="http://schemas.microsoft.com/office/drawing/2014/main" id="{8C85831F-8FBD-EE88-38FB-3BF6029BF6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0" y="3088888"/>
            <a:ext cx="5110975" cy="955288"/>
          </a:xfrm>
          <a:prstGeom prst="rect">
            <a:avLst/>
          </a:prstGeom>
        </p:spPr>
      </p:pic>
      <p:pic>
        <p:nvPicPr>
          <p:cNvPr id="17" name="Copied Picture 17">
            <a:extLst>
              <a:ext uri="{FF2B5EF4-FFF2-40B4-BE49-F238E27FC236}">
                <a16:creationId xmlns:a16="http://schemas.microsoft.com/office/drawing/2014/main" id="{F565C60B-2C87-F4A3-D698-B1A278F90B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0985" y="2791522"/>
            <a:ext cx="5073804" cy="125892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C0F019A-12D9-4282-BE69-0499D4E66AD2}"/>
              </a:ext>
            </a:extLst>
          </p:cNvPr>
          <p:cNvSpPr txBox="1"/>
          <p:nvPr/>
        </p:nvSpPr>
        <p:spPr>
          <a:xfrm>
            <a:off x="812800" y="2387600"/>
            <a:ext cx="3810000" cy="279400"/>
          </a:xfrm>
          <a:prstGeom prst="rect">
            <a:avLst/>
          </a:prstGeom>
          <a:noFill/>
        </p:spPr>
        <p:txBody>
          <a:bodyPr vertOverflow="overflow" vert="horz" wrap="none" lIns="91440" tIns="45720" rIns="91440" bIns="45720" rtlCol="0" anchor="ctr" anchorCtr="0">
            <a:noAutofit/>
          </a:bodyPr>
          <a:lstStyle/>
          <a:p>
            <a:endParaRPr lang="af-ZA" altLang="ko-KR" sz="1400" b="1" dirty="0">
              <a:solidFill>
                <a:srgbClr val="4FD1C5"/>
              </a:solidFill>
              <a:latin typeface="Segoe UI"/>
              <a:ea typeface="맑은 고딕"/>
              <a:cs typeface="Segoe UI"/>
            </a:endParaRPr>
          </a:p>
          <a:p>
            <a:r>
              <a:rPr lang="en-US" sz="1400" b="1">
                <a:solidFill>
                  <a:srgbClr val="FC8181"/>
                </a:solidFill>
                <a:latin typeface="Segoe UI"/>
                <a:ea typeface="맑은 고딕"/>
                <a:cs typeface="Segoe UI"/>
              </a:rPr>
              <a:t>BEFORE</a:t>
            </a:r>
            <a:endParaRPr lang="af-ZA" sz="1400">
              <a:solidFill>
                <a:srgbClr val="000000"/>
              </a:solidFill>
              <a:latin typeface="Segoe UI"/>
              <a:ea typeface="맑은 고딕"/>
              <a:cs typeface="Segoe UI"/>
            </a:endParaRPr>
          </a:p>
          <a:p>
            <a:endParaRPr lang="af-ZA" altLang="ko-KR" sz="1400" b="1" dirty="0">
              <a:solidFill>
                <a:srgbClr val="4FD1C5"/>
              </a:solidFill>
              <a:latin typeface="Segoe UI"/>
              <a:ea typeface="맑은 고딕"/>
              <a:cs typeface="Segoe UI"/>
            </a:endParaRPr>
          </a:p>
          <a:p>
            <a:pPr algn="l"/>
            <a:r>
              <a:rPr lang="af-ZA" altLang="ko-KR" sz="1400" b="1">
                <a:solidFill>
                  <a:srgbClr val="4FD1C5"/>
                </a:solidFill>
                <a:latin typeface="Segoe UI"/>
                <a:ea typeface="맑은 고딕"/>
                <a:cs typeface="Segoe UI"/>
              </a:rPr>
              <a:t>① addToken() </a:t>
            </a:r>
            <a:r>
              <a:rPr lang="ko-KR" altLang="en-US" sz="1400" b="1">
                <a:solidFill>
                  <a:srgbClr val="4FD1C5"/>
                </a:solidFill>
                <a:latin typeface="Segoe UI"/>
                <a:ea typeface="맑은 고딕"/>
                <a:cs typeface="Segoe UI"/>
              </a:rPr>
              <a:t>헬퍼 추출</a:t>
            </a:r>
            <a:endParaRPr lang="ko-KR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DE9C7C6-BEFE-4D00-9F1A-9788C1132D08}"/>
              </a:ext>
            </a:extLst>
          </p:cNvPr>
          <p:cNvSpPr txBox="1"/>
          <p:nvPr/>
        </p:nvSpPr>
        <p:spPr>
          <a:xfrm>
            <a:off x="812800" y="4171176"/>
            <a:ext cx="3810000" cy="2794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af-ZA" altLang="ko-KR" sz="1400" b="1">
                <a:solidFill>
                  <a:srgbClr val="4FD1C5"/>
                </a:solidFill>
                <a:latin typeface="Segoe UI"/>
                <a:cs typeface="Segoe UI"/>
              </a:rPr>
              <a:t>② consume() </a:t>
            </a:r>
            <a:r>
              <a:rPr lang="ko-KR" altLang="en-US" sz="1400" b="1">
                <a:solidFill>
                  <a:srgbClr val="4FD1C5"/>
                </a:solidFill>
                <a:latin typeface="Segoe UI"/>
                <a:cs typeface="Segoe UI"/>
              </a:rPr>
              <a:t>추출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AE7474-1940-A1C9-1ED8-BBBB0A8700D3}"/>
              </a:ext>
            </a:extLst>
          </p:cNvPr>
          <p:cNvSpPr txBox="1"/>
          <p:nvPr/>
        </p:nvSpPr>
        <p:spPr>
          <a:xfrm>
            <a:off x="6843752" y="2248210"/>
            <a:ext cx="3810000" cy="279400"/>
          </a:xfrm>
          <a:prstGeom prst="rect">
            <a:avLst/>
          </a:prstGeom>
          <a:noFill/>
        </p:spPr>
        <p:txBody>
          <a:bodyPr vertOverflow="overflow" vert="horz" wrap="none" lIns="91440" tIns="45720" rIns="91440" bIns="45720" rtlCol="0" anchor="ctr" anchorCtr="0">
            <a:noAutofit/>
          </a:bodyPr>
          <a:lstStyle/>
          <a:p>
            <a:endParaRPr lang="af-ZA" altLang="ko-KR" sz="1400" b="1" dirty="0">
              <a:solidFill>
                <a:srgbClr val="4FD1C5"/>
              </a:solidFill>
              <a:latin typeface="Segoe UI"/>
              <a:ea typeface="맑은 고딕"/>
              <a:cs typeface="Segoe UI"/>
            </a:endParaRPr>
          </a:p>
          <a:p>
            <a:r>
              <a:rPr lang="en-US" sz="1400" b="1">
                <a:solidFill>
                  <a:srgbClr val="68D391"/>
                </a:solidFill>
                <a:latin typeface="Segoe UI"/>
                <a:ea typeface="맑은 고딕"/>
                <a:cs typeface="Segoe UI"/>
              </a:rPr>
              <a:t>AFTER</a:t>
            </a:r>
            <a:endParaRPr lang="en-US" sz="1400">
              <a:solidFill>
                <a:srgbClr val="000000"/>
              </a:solidFill>
              <a:latin typeface="Segoe UI"/>
              <a:ea typeface="맑은 고딕"/>
              <a:cs typeface="Segoe UI"/>
            </a:endParaRPr>
          </a:p>
          <a:p>
            <a:pPr algn="l"/>
            <a:endParaRPr lang="ko-KR"/>
          </a:p>
        </p:txBody>
      </p:sp>
    </p:spTree>
    <p:extLst>
      <p:ext uri="{BB962C8B-B14F-4D97-AF65-F5344CB8AC3E}">
        <p14:creationId xmlns:p14="http://schemas.microsoft.com/office/powerpoint/2010/main" val="13683963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E2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AccentBar">
            <a:extLst>
              <a:ext uri="{FF2B5EF4-FFF2-40B4-BE49-F238E27FC236}">
                <a16:creationId xmlns:a16="http://schemas.microsoft.com/office/drawing/2014/main" id="{29FF770E-C7F7-4489-AFB0-629CA43003E8}"/>
              </a:ext>
            </a:extLst>
          </p:cNvPr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1" name="Kicker">
            <a:extLst>
              <a:ext uri="{FF2B5EF4-FFF2-40B4-BE49-F238E27FC236}">
                <a16:creationId xmlns:a16="http://schemas.microsoft.com/office/drawing/2014/main" id="{5F14D70F-0A8D-4A1D-953F-A4685CBD72C9}"/>
              </a:ext>
            </a:extLst>
          </p:cNvPr>
          <p:cNvSpPr txBox="1"/>
          <p:nvPr/>
        </p:nvSpPr>
        <p:spPr>
          <a:xfrm>
            <a:off x="609600" y="482600"/>
            <a:ext cx="76200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sz="1400" b="1" dirty="0">
                <a:solidFill>
                  <a:srgbClr val="F6AD55"/>
                </a:solidFill>
                <a:latin typeface="Segoe UI"/>
              </a:rPr>
              <a:t>07  CHECKER · 기능 구현</a:t>
            </a:r>
          </a:p>
        </p:txBody>
      </p:sp>
      <p:sp>
        <p:nvSpPr>
          <p:cNvPr id="12" name="Title">
            <a:extLst>
              <a:ext uri="{FF2B5EF4-FFF2-40B4-BE49-F238E27FC236}">
                <a16:creationId xmlns:a16="http://schemas.microsoft.com/office/drawing/2014/main" id="{8E244791-8A37-4CDE-A7BA-6EE00A431333}"/>
              </a:ext>
            </a:extLst>
          </p:cNvPr>
          <p:cNvSpPr txBox="1"/>
          <p:nvPr/>
        </p:nvSpPr>
        <p:spPr>
          <a:xfrm>
            <a:off x="596900" y="787400"/>
            <a:ext cx="109728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ko-KR" sz="3200" b="1" dirty="0">
                <a:solidFill>
                  <a:srgbClr val="FFFFFF"/>
                </a:solidFill>
                <a:latin typeface="Segoe UI Semibold"/>
              </a:rPr>
              <a:t>Checker · 실행 전 의미 검사</a:t>
            </a:r>
          </a:p>
        </p:txBody>
      </p:sp>
      <p:sp>
        <p:nvSpPr>
          <p:cNvPr id="13" name="TitleRule">
            <a:extLst>
              <a:ext uri="{FF2B5EF4-FFF2-40B4-BE49-F238E27FC236}">
                <a16:creationId xmlns:a16="http://schemas.microsoft.com/office/drawing/2014/main" id="{3CCA5443-E819-4314-9D2D-411125898B71}"/>
              </a:ext>
            </a:extLst>
          </p:cNvPr>
          <p:cNvSpPr/>
          <p:nvPr/>
        </p:nvSpPr>
        <p:spPr>
          <a:xfrm>
            <a:off x="609600" y="1549400"/>
            <a:ext cx="812800" cy="508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GoalCard">
            <a:extLst>
              <a:ext uri="{FF2B5EF4-FFF2-40B4-BE49-F238E27FC236}">
                <a16:creationId xmlns:a16="http://schemas.microsoft.com/office/drawing/2014/main" id="{D899334B-48AD-4693-8B67-68DA84742580}"/>
              </a:ext>
            </a:extLst>
          </p:cNvPr>
          <p:cNvSpPr/>
          <p:nvPr/>
        </p:nvSpPr>
        <p:spPr>
          <a:xfrm>
            <a:off x="609600" y="2159000"/>
            <a:ext cx="4826000" cy="3810000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4FD1C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04800" tIns="279400" rIns="304800" bIns="279400" rtlCol="0" anchor="ctr" anchorCtr="0"/>
          <a:lstStyle/>
          <a:p>
            <a:pPr>
              <a:buNone/>
            </a:pPr>
            <a:r>
              <a:rPr lang="en-US" sz="1500" b="1" dirty="0">
                <a:solidFill>
                  <a:srgbClr val="4FD1C5"/>
                </a:solidFill>
                <a:latin typeface="Segoe UI"/>
              </a:rPr>
              <a:t>① 의미 검사 — DFS</a:t>
            </a:r>
          </a:p>
          <a:p>
            <a:pPr>
              <a:buNone/>
            </a:pPr>
            <a:endParaRPr lang="en-US" sz="1500" b="1" dirty="0">
              <a:solidFill>
                <a:srgbClr val="4FD1C5"/>
              </a:solidFill>
              <a:latin typeface="Segoe UI"/>
            </a:endParaRP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ko-KR" sz="1500" dirty="0">
                <a:solidFill>
                  <a:srgbClr val="E8EAF0"/>
                </a:solidFill>
                <a:latin typeface="Segoe UI"/>
              </a:rPr>
              <a:t>AST를 재귀 DFS로 순회하며 검사</a:t>
            </a: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ko-KR" sz="1500" dirty="0">
                <a:solidFill>
                  <a:srgbClr val="E8EAF0"/>
                </a:solidFill>
                <a:latin typeface="Segoe UI"/>
              </a:rPr>
              <a:t>심볼 테이블로 선언/참조 추적</a:t>
            </a: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ko-KR" sz="1500" dirty="0">
                <a:solidFill>
                  <a:srgbClr val="E8EAF0"/>
                </a:solidFill>
                <a:latin typeface="Segoe UI"/>
              </a:rPr>
              <a:t>실행 전에 오류를 미리 차단</a:t>
            </a:r>
          </a:p>
          <a:p>
            <a:pPr marL="0" indent="0">
              <a:spcBef>
                <a:spcPts val="500"/>
              </a:spcBef>
              <a:buNone/>
            </a:pPr>
            <a:r>
              <a:rPr lang="en-US" sz="1300" dirty="0">
                <a:solidFill>
                  <a:srgbClr val="4FD1C5"/>
                </a:solidFill>
                <a:latin typeface="Consolas"/>
              </a:rPr>
              <a:t>checkNode(node) → DFS(children)</a:t>
            </a:r>
          </a:p>
        </p:txBody>
      </p:sp>
      <p:sp>
        <p:nvSpPr>
          <p:cNvPr id="15" name="TimelineCard">
            <a:extLst>
              <a:ext uri="{FF2B5EF4-FFF2-40B4-BE49-F238E27FC236}">
                <a16:creationId xmlns:a16="http://schemas.microsoft.com/office/drawing/2014/main" id="{F3BCE98E-382B-4AEA-83F6-8A8DE697831F}"/>
              </a:ext>
            </a:extLst>
          </p:cNvPr>
          <p:cNvSpPr/>
          <p:nvPr/>
        </p:nvSpPr>
        <p:spPr>
          <a:xfrm>
            <a:off x="5740400" y="2159000"/>
            <a:ext cx="5842000" cy="3810000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63B3E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04800" tIns="279400" rIns="304800" bIns="279400" rtlCol="0" anchor="ctr" anchorCtr="0"/>
          <a:lstStyle/>
          <a:p>
            <a:pPr>
              <a:buNone/>
            </a:pPr>
            <a:r>
              <a:rPr lang="en-US" sz="1500" b="1" dirty="0">
                <a:solidFill>
                  <a:srgbClr val="63B3ED"/>
                </a:solidFill>
                <a:latin typeface="Segoe UI"/>
              </a:rPr>
              <a:t>② </a:t>
            </a:r>
            <a:r>
              <a:rPr lang="en-US" sz="1500" b="1" dirty="0" err="1">
                <a:solidFill>
                  <a:srgbClr val="63B3ED"/>
                </a:solidFill>
                <a:latin typeface="Segoe UI"/>
              </a:rPr>
              <a:t>검사</a:t>
            </a:r>
            <a:r>
              <a:rPr lang="en-US" sz="1500" b="1" dirty="0">
                <a:solidFill>
                  <a:srgbClr val="63B3ED"/>
                </a:solidFill>
                <a:latin typeface="Segoe UI"/>
              </a:rPr>
              <a:t> </a:t>
            </a:r>
            <a:r>
              <a:rPr lang="en-US" sz="1500" b="1" dirty="0" err="1">
                <a:solidFill>
                  <a:srgbClr val="63B3ED"/>
                </a:solidFill>
                <a:latin typeface="Segoe UI"/>
              </a:rPr>
              <a:t>항목</a:t>
            </a:r>
            <a:endParaRPr lang="en-US" sz="1500" b="1" dirty="0">
              <a:solidFill>
                <a:srgbClr val="63B3ED"/>
              </a:solidFill>
              <a:latin typeface="Segoe UI"/>
            </a:endParaRPr>
          </a:p>
          <a:p>
            <a:pPr>
              <a:buNone/>
            </a:pPr>
            <a:endParaRPr lang="en-US" sz="1500" b="1" dirty="0">
              <a:solidFill>
                <a:srgbClr val="63B3ED"/>
              </a:solidFill>
              <a:latin typeface="Segoe UI"/>
            </a:endParaRP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ko-KR" sz="1500" dirty="0">
                <a:solidFill>
                  <a:srgbClr val="E8EAF0"/>
                </a:solidFill>
                <a:latin typeface="Segoe UI"/>
              </a:rPr>
              <a:t>중복 선언: 같은 스코프 내 재선언 탐지</a:t>
            </a: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ko-KR" sz="1500" dirty="0">
                <a:solidFill>
                  <a:srgbClr val="E8EAF0"/>
                </a:solidFill>
                <a:latin typeface="Segoe UI"/>
              </a:rPr>
              <a:t>자기 참조: 선언 중 자기 자신 참조 차단</a:t>
            </a: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ko-KR" sz="1500" dirty="0">
                <a:solidFill>
                  <a:srgbClr val="E8EAF0"/>
                </a:solidFill>
                <a:latin typeface="Segoe UI"/>
              </a:rPr>
              <a:t>미정의 식별자 사용 검출</a:t>
            </a:r>
          </a:p>
          <a:p>
            <a:pPr marL="0" indent="0">
              <a:spcBef>
                <a:spcPts val="500"/>
              </a:spcBef>
              <a:buNone/>
            </a:pPr>
            <a:r>
              <a:rPr lang="en-US" sz="1300" dirty="0">
                <a:solidFill>
                  <a:srgbClr val="4FD1C5"/>
                </a:solidFill>
                <a:latin typeface="Consolas"/>
              </a:rPr>
              <a:t>var x = x;  // ❌ 자기참조 오류</a:t>
            </a:r>
          </a:p>
        </p:txBody>
      </p:sp>
    </p:spTree>
    <p:extLst>
      <p:ext uri="{BB962C8B-B14F-4D97-AF65-F5344CB8AC3E}">
        <p14:creationId xmlns:p14="http://schemas.microsoft.com/office/powerpoint/2010/main" val="36913684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E2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AccentBar">
            <a:extLst>
              <a:ext uri="{FF2B5EF4-FFF2-40B4-BE49-F238E27FC236}">
                <a16:creationId xmlns:a16="http://schemas.microsoft.com/office/drawing/2014/main" id="{29FF770E-C7F7-4489-AFB0-629CA43003E8}"/>
              </a:ext>
            </a:extLst>
          </p:cNvPr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1" name="Kicker">
            <a:extLst>
              <a:ext uri="{FF2B5EF4-FFF2-40B4-BE49-F238E27FC236}">
                <a16:creationId xmlns:a16="http://schemas.microsoft.com/office/drawing/2014/main" id="{5F14D70F-0A8D-4A1D-953F-A4685CBD72C9}"/>
              </a:ext>
            </a:extLst>
          </p:cNvPr>
          <p:cNvSpPr txBox="1"/>
          <p:nvPr/>
        </p:nvSpPr>
        <p:spPr>
          <a:xfrm>
            <a:off x="609600" y="482600"/>
            <a:ext cx="76200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sz="1400" b="1" dirty="0">
                <a:solidFill>
                  <a:srgbClr val="F6AD55"/>
                </a:solidFill>
                <a:latin typeface="Segoe UI"/>
              </a:rPr>
              <a:t>08  CHECKER · TDD</a:t>
            </a:r>
          </a:p>
        </p:txBody>
      </p:sp>
      <p:sp>
        <p:nvSpPr>
          <p:cNvPr id="12" name="Title">
            <a:extLst>
              <a:ext uri="{FF2B5EF4-FFF2-40B4-BE49-F238E27FC236}">
                <a16:creationId xmlns:a16="http://schemas.microsoft.com/office/drawing/2014/main" id="{8E244791-8A37-4CDE-A7BA-6EE00A431333}"/>
              </a:ext>
            </a:extLst>
          </p:cNvPr>
          <p:cNvSpPr txBox="1"/>
          <p:nvPr/>
        </p:nvSpPr>
        <p:spPr>
          <a:xfrm>
            <a:off x="596900" y="787400"/>
            <a:ext cx="109728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ko-KR" sz="3200" b="1" dirty="0">
                <a:solidFill>
                  <a:srgbClr val="FFFFFF"/>
                </a:solidFill>
                <a:latin typeface="Segoe UI Semibold"/>
              </a:rPr>
              <a:t>Checker · 테스트 주도 개발</a:t>
            </a:r>
          </a:p>
        </p:txBody>
      </p:sp>
      <p:sp>
        <p:nvSpPr>
          <p:cNvPr id="13" name="TitleRule">
            <a:extLst>
              <a:ext uri="{FF2B5EF4-FFF2-40B4-BE49-F238E27FC236}">
                <a16:creationId xmlns:a16="http://schemas.microsoft.com/office/drawing/2014/main" id="{3CCA5443-E819-4314-9D2D-411125898B71}"/>
              </a:ext>
            </a:extLst>
          </p:cNvPr>
          <p:cNvSpPr/>
          <p:nvPr/>
        </p:nvSpPr>
        <p:spPr>
          <a:xfrm>
            <a:off x="609600" y="1549400"/>
            <a:ext cx="812800" cy="508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GoalCard">
            <a:extLst>
              <a:ext uri="{FF2B5EF4-FFF2-40B4-BE49-F238E27FC236}">
                <a16:creationId xmlns:a16="http://schemas.microsoft.com/office/drawing/2014/main" id="{D899334B-48AD-4693-8B67-68DA84742580}"/>
              </a:ext>
            </a:extLst>
          </p:cNvPr>
          <p:cNvSpPr/>
          <p:nvPr/>
        </p:nvSpPr>
        <p:spPr>
          <a:xfrm>
            <a:off x="606192" y="1827561"/>
            <a:ext cx="5334000" cy="4714487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FC818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04800" tIns="279400" rIns="304800" bIns="279400" rtlCol="0" anchor="t" anchorCtr="0"/>
          <a:lstStyle/>
          <a:p>
            <a:pPr>
              <a:buNone/>
            </a:pPr>
            <a:r>
              <a:rPr lang="en-US" sz="1400" b="1" dirty="0">
                <a:solidFill>
                  <a:srgbClr val="FC8181"/>
                </a:solidFill>
                <a:latin typeface="Segoe UI"/>
              </a:rPr>
              <a:t>🔴 RED · </a:t>
            </a:r>
            <a:r>
              <a:rPr lang="en-US" sz="1400" b="1" dirty="0" err="1">
                <a:solidFill>
                  <a:srgbClr val="FC8181"/>
                </a:solidFill>
                <a:latin typeface="Segoe UI"/>
              </a:rPr>
              <a:t>테스트</a:t>
            </a:r>
            <a:r>
              <a:rPr lang="en-US" sz="1400" b="1" dirty="0">
                <a:solidFill>
                  <a:srgbClr val="FC8181"/>
                </a:solidFill>
                <a:latin typeface="Segoe UI"/>
              </a:rPr>
              <a:t> </a:t>
            </a:r>
            <a:r>
              <a:rPr lang="en-US" sz="1400" b="1" dirty="0" err="1">
                <a:solidFill>
                  <a:srgbClr val="FC8181"/>
                </a:solidFill>
                <a:latin typeface="Segoe UI"/>
              </a:rPr>
              <a:t>먼저</a:t>
            </a:r>
            <a:endParaRPr lang="en-US" sz="1400" b="1" dirty="0" err="1">
              <a:solidFill>
                <a:srgbClr val="FC8181"/>
              </a:solidFill>
              <a:latin typeface="Segoe UI"/>
              <a:cs typeface="Segoe UI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</a:pPr>
            <a:endParaRPr lang="en-US" altLang="ko-KR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</a:pPr>
            <a:endParaRPr lang="en-US" altLang="ko-KR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</a:pPr>
            <a:endParaRPr lang="en-US" altLang="ko-KR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</a:pPr>
            <a:endParaRPr lang="ko-KR" sz="1200" dirty="0">
              <a:solidFill>
                <a:srgbClr val="A0AEC0"/>
              </a:solidFill>
              <a:ea typeface="+mn-lt"/>
              <a:cs typeface="+mn-lt"/>
            </a:endParaRPr>
          </a:p>
          <a:p>
            <a:pPr>
              <a:spcBef>
                <a:spcPts val="150"/>
              </a:spcBef>
              <a:buNone/>
            </a:pPr>
            <a:endParaRPr lang="ko-KR" altLang="en-US" sz="1200" dirty="0">
              <a:solidFill>
                <a:srgbClr val="A0AEC0"/>
              </a:solidFill>
              <a:latin typeface="Segoe UI"/>
              <a:ea typeface="맑은 고딕"/>
              <a:cs typeface="Segoe UI"/>
            </a:endParaRPr>
          </a:p>
        </p:txBody>
      </p:sp>
      <p:sp>
        <p:nvSpPr>
          <p:cNvPr id="15" name="TimelineCard">
            <a:extLst>
              <a:ext uri="{FF2B5EF4-FFF2-40B4-BE49-F238E27FC236}">
                <a16:creationId xmlns:a16="http://schemas.microsoft.com/office/drawing/2014/main" id="{F3BCE98E-382B-4AEA-83F6-8A8DE697831F}"/>
              </a:ext>
            </a:extLst>
          </p:cNvPr>
          <p:cNvSpPr/>
          <p:nvPr/>
        </p:nvSpPr>
        <p:spPr>
          <a:xfrm>
            <a:off x="5943600" y="1827561"/>
            <a:ext cx="5969000" cy="4714487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68D39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04800" tIns="279400" rIns="304800" bIns="279400" rtlCol="0" anchor="t" anchorCtr="0"/>
          <a:lstStyle/>
          <a:p>
            <a:pPr>
              <a:buNone/>
            </a:pPr>
            <a:r>
              <a:rPr lang="en-US" sz="1400" b="1" dirty="0">
                <a:solidFill>
                  <a:srgbClr val="68D391"/>
                </a:solidFill>
                <a:latin typeface="Segoe UI"/>
              </a:rPr>
              <a:t>🟢 GREEN · </a:t>
            </a:r>
            <a:r>
              <a:rPr lang="en-US" sz="1400" b="1" dirty="0" err="1">
                <a:solidFill>
                  <a:srgbClr val="68D391"/>
                </a:solidFill>
                <a:latin typeface="Segoe UI"/>
              </a:rPr>
              <a:t>최소</a:t>
            </a:r>
            <a:r>
              <a:rPr lang="en-US" sz="1400" b="1" dirty="0">
                <a:solidFill>
                  <a:srgbClr val="68D391"/>
                </a:solidFill>
                <a:latin typeface="Segoe UI"/>
              </a:rPr>
              <a:t> </a:t>
            </a:r>
            <a:r>
              <a:rPr lang="en-US" sz="1400" b="1" dirty="0" err="1">
                <a:solidFill>
                  <a:srgbClr val="68D391"/>
                </a:solidFill>
                <a:latin typeface="Segoe UI"/>
              </a:rPr>
              <a:t>구현</a:t>
            </a:r>
            <a:endParaRPr lang="en-US" sz="1400" b="1" dirty="0" err="1">
              <a:solidFill>
                <a:srgbClr val="68D391"/>
              </a:solidFill>
              <a:latin typeface="Segoe UI"/>
              <a:cs typeface="Segoe UI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</a:pPr>
            <a:endParaRPr lang="en-US" altLang="ko-KR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</a:pPr>
            <a:endParaRPr lang="en-US" altLang="ko-KR" sz="1100" dirty="0">
              <a:solidFill>
                <a:srgbClr val="E8EAF0"/>
              </a:solidFill>
              <a:latin typeface="Consolas"/>
              <a:ea typeface="맑은 고딕"/>
            </a:endParaRPr>
          </a:p>
          <a:p>
            <a:pPr>
              <a:spcBef>
                <a:spcPts val="150"/>
              </a:spcBef>
            </a:pPr>
            <a:endParaRPr lang="en-US" altLang="ko-KR" sz="1100" dirty="0">
              <a:solidFill>
                <a:srgbClr val="E8EAF0"/>
              </a:solidFill>
              <a:latin typeface="Consolas"/>
              <a:ea typeface="맑은 고딕"/>
            </a:endParaRPr>
          </a:p>
          <a:p>
            <a:pPr>
              <a:spcBef>
                <a:spcPts val="150"/>
              </a:spcBef>
            </a:pPr>
            <a:endParaRPr lang="en-US" altLang="ko-KR" sz="1100" dirty="0">
              <a:solidFill>
                <a:srgbClr val="E8EAF0"/>
              </a:solidFill>
              <a:latin typeface="Consolas"/>
              <a:ea typeface="맑은 고딕"/>
            </a:endParaRPr>
          </a:p>
          <a:p>
            <a:pPr>
              <a:spcBef>
                <a:spcPts val="150"/>
              </a:spcBef>
            </a:pPr>
            <a:endParaRPr lang="en-US" altLang="ko-KR" sz="1100" dirty="0">
              <a:solidFill>
                <a:srgbClr val="E8EAF0"/>
              </a:solidFill>
              <a:latin typeface="Consolas"/>
              <a:ea typeface="맑은 고딕"/>
            </a:endParaRPr>
          </a:p>
          <a:p>
            <a:pPr>
              <a:spcBef>
                <a:spcPts val="150"/>
              </a:spcBef>
            </a:pPr>
            <a:endParaRPr lang="en-US" altLang="ko-KR" sz="1100" dirty="0">
              <a:solidFill>
                <a:srgbClr val="E8EAF0"/>
              </a:solidFill>
              <a:latin typeface="Consolas"/>
              <a:ea typeface="맑은 고딕"/>
            </a:endParaRPr>
          </a:p>
          <a:p>
            <a:pPr>
              <a:spcBef>
                <a:spcPts val="150"/>
              </a:spcBef>
            </a:pPr>
            <a:endParaRPr lang="en-US" altLang="ko-KR" sz="1100" dirty="0">
              <a:solidFill>
                <a:srgbClr val="E8EAF0"/>
              </a:solidFill>
              <a:latin typeface="Consolas"/>
              <a:ea typeface="맑은 고딕"/>
            </a:endParaRPr>
          </a:p>
          <a:p>
            <a:pPr>
              <a:spcBef>
                <a:spcPts val="150"/>
              </a:spcBef>
            </a:pPr>
            <a:r>
              <a:rPr lang="ko-KR" sz="1200">
                <a:solidFill>
                  <a:srgbClr val="A0AEC0"/>
                </a:solidFill>
                <a:latin typeface="Segoe UI"/>
              </a:rPr>
              <a:t>▎ visitBlock은 스코프의 범위를 만들고, visitVarDeclare는 그 범위 안에서 중복을 막습니다.</a:t>
            </a:r>
            <a:endParaRPr lang="ko-KR"/>
          </a:p>
        </p:txBody>
      </p:sp>
      <p:pic>
        <p:nvPicPr>
          <p:cNvPr id="2" name="그림 1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43F5AE4-7E39-0F2F-9E36-21EC8C80D7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197" y="2842051"/>
            <a:ext cx="4993656" cy="2261142"/>
          </a:xfrm>
          <a:prstGeom prst="rect">
            <a:avLst/>
          </a:prstGeom>
        </p:spPr>
      </p:pic>
      <p:pic>
        <p:nvPicPr>
          <p:cNvPr id="3" name="그림 2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7E35EF6-981C-9F99-4807-BD196C9D52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3762" y="2658985"/>
            <a:ext cx="5098209" cy="3565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01504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E2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AccentBar">
            <a:extLst>
              <a:ext uri="{FF2B5EF4-FFF2-40B4-BE49-F238E27FC236}">
                <a16:creationId xmlns:a16="http://schemas.microsoft.com/office/drawing/2014/main" id="{29FF770E-C7F7-4489-AFB0-629CA43003E8}"/>
              </a:ext>
            </a:extLst>
          </p:cNvPr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1" name="Kicker">
            <a:extLst>
              <a:ext uri="{FF2B5EF4-FFF2-40B4-BE49-F238E27FC236}">
                <a16:creationId xmlns:a16="http://schemas.microsoft.com/office/drawing/2014/main" id="{5F14D70F-0A8D-4A1D-953F-A4685CBD72C9}"/>
              </a:ext>
            </a:extLst>
          </p:cNvPr>
          <p:cNvSpPr txBox="1"/>
          <p:nvPr/>
        </p:nvSpPr>
        <p:spPr>
          <a:xfrm>
            <a:off x="609600" y="482600"/>
            <a:ext cx="76200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sz="1400" b="1" dirty="0">
                <a:solidFill>
                  <a:srgbClr val="F6AD55"/>
                </a:solidFill>
                <a:latin typeface="Segoe UI"/>
              </a:rPr>
              <a:t>09  CHECKER · 리팩토링</a:t>
            </a:r>
          </a:p>
        </p:txBody>
      </p:sp>
      <p:sp>
        <p:nvSpPr>
          <p:cNvPr id="12" name="Title">
            <a:extLst>
              <a:ext uri="{FF2B5EF4-FFF2-40B4-BE49-F238E27FC236}">
                <a16:creationId xmlns:a16="http://schemas.microsoft.com/office/drawing/2014/main" id="{8E244791-8A37-4CDE-A7BA-6EE00A431333}"/>
              </a:ext>
            </a:extLst>
          </p:cNvPr>
          <p:cNvSpPr txBox="1"/>
          <p:nvPr/>
        </p:nvSpPr>
        <p:spPr>
          <a:xfrm>
            <a:off x="596900" y="787400"/>
            <a:ext cx="109728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ko-KR" sz="3200" b="1" dirty="0">
                <a:solidFill>
                  <a:srgbClr val="FFFFFF"/>
                </a:solidFill>
                <a:latin typeface="Segoe UI Semibold"/>
              </a:rPr>
              <a:t>반복 패턴 → 헬퍼 메서드 추출</a:t>
            </a:r>
          </a:p>
        </p:txBody>
      </p:sp>
      <p:sp>
        <p:nvSpPr>
          <p:cNvPr id="13" name="TitleRule">
            <a:extLst>
              <a:ext uri="{FF2B5EF4-FFF2-40B4-BE49-F238E27FC236}">
                <a16:creationId xmlns:a16="http://schemas.microsoft.com/office/drawing/2014/main" id="{3CCA5443-E819-4314-9D2D-411125898B71}"/>
              </a:ext>
            </a:extLst>
          </p:cNvPr>
          <p:cNvSpPr/>
          <p:nvPr/>
        </p:nvSpPr>
        <p:spPr>
          <a:xfrm>
            <a:off x="609600" y="1549400"/>
            <a:ext cx="812800" cy="508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GoalCard">
            <a:extLst>
              <a:ext uri="{FF2B5EF4-FFF2-40B4-BE49-F238E27FC236}">
                <a16:creationId xmlns:a16="http://schemas.microsoft.com/office/drawing/2014/main" id="{D899334B-48AD-4693-8B67-68DA84742580}"/>
              </a:ext>
            </a:extLst>
          </p:cNvPr>
          <p:cNvSpPr/>
          <p:nvPr/>
        </p:nvSpPr>
        <p:spPr>
          <a:xfrm>
            <a:off x="606192" y="1827561"/>
            <a:ext cx="5700132" cy="4714487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FC818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04800" tIns="279400" rIns="304800" bIns="279400" rtlCol="0" anchor="t" anchorCtr="0"/>
          <a:lstStyle/>
          <a:p>
            <a:pPr>
              <a:buNone/>
            </a:pPr>
            <a:endParaRPr lang="en-US" sz="1200" dirty="0">
              <a:solidFill>
                <a:srgbClr val="A0AEC0"/>
              </a:solidFill>
              <a:latin typeface="Consolas"/>
            </a:endParaRPr>
          </a:p>
        </p:txBody>
      </p:sp>
      <p:sp>
        <p:nvSpPr>
          <p:cNvPr id="15" name="TimelineCard">
            <a:extLst>
              <a:ext uri="{FF2B5EF4-FFF2-40B4-BE49-F238E27FC236}">
                <a16:creationId xmlns:a16="http://schemas.microsoft.com/office/drawing/2014/main" id="{F3BCE98E-382B-4AEA-83F6-8A8DE697831F}"/>
              </a:ext>
            </a:extLst>
          </p:cNvPr>
          <p:cNvSpPr/>
          <p:nvPr/>
        </p:nvSpPr>
        <p:spPr>
          <a:xfrm>
            <a:off x="6311900" y="1827561"/>
            <a:ext cx="5486400" cy="4714487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68D39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04800" tIns="279400" rIns="304800" bIns="279400" rtlCol="0" anchor="t" anchorCtr="0"/>
          <a:lstStyle/>
          <a:p>
            <a:pPr>
              <a:buNone/>
            </a:pPr>
            <a:endParaRPr lang="ko-KR" sz="1300" dirty="0">
              <a:solidFill>
                <a:srgbClr val="E8EAF0"/>
              </a:solidFill>
              <a:latin typeface="Segoe UI"/>
            </a:endParaRPr>
          </a:p>
        </p:txBody>
      </p:sp>
      <p:sp>
        <p:nvSpPr>
          <p:cNvPr id="2" name="RefTopL">
            <a:extLst>
              <a:ext uri="{FF2B5EF4-FFF2-40B4-BE49-F238E27FC236}">
                <a16:creationId xmlns:a16="http://schemas.microsoft.com/office/drawing/2014/main" id="{580DE175-ECD1-4225-9FBD-0BE26063055D}"/>
              </a:ext>
            </a:extLst>
          </p:cNvPr>
          <p:cNvSpPr txBox="1"/>
          <p:nvPr/>
        </p:nvSpPr>
        <p:spPr>
          <a:xfrm>
            <a:off x="1110166" y="2387600"/>
            <a:ext cx="5334000" cy="215444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lIns="0" tIns="0" rIns="0" bIns="0" rtlCol="0" anchor="t">
            <a:spAutoFit/>
          </a:bodyPr>
          <a:lstStyle/>
          <a:p>
            <a:pPr algn="l"/>
            <a:r>
              <a:rPr lang="ko-KR" altLang="en-US" sz="1400" b="1">
                <a:solidFill>
                  <a:srgbClr val="FC8181"/>
                </a:solidFill>
                <a:latin typeface="Segoe UI"/>
                <a:ea typeface="맑은 고딕"/>
                <a:cs typeface="Segoe UI"/>
              </a:rPr>
              <a:t>Before</a:t>
            </a:r>
          </a:p>
        </p:txBody>
      </p:sp>
      <p:sp>
        <p:nvSpPr>
          <p:cNvPr id="3" name="RefTopR">
            <a:extLst>
              <a:ext uri="{FF2B5EF4-FFF2-40B4-BE49-F238E27FC236}">
                <a16:creationId xmlns:a16="http://schemas.microsoft.com/office/drawing/2014/main" id="{EBDC9594-50B7-467A-A426-72B272B30654}"/>
              </a:ext>
            </a:extLst>
          </p:cNvPr>
          <p:cNvSpPr txBox="1"/>
          <p:nvPr/>
        </p:nvSpPr>
        <p:spPr>
          <a:xfrm>
            <a:off x="6845300" y="2387600"/>
            <a:ext cx="4572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lIns="0" tIns="0" rIns="0" bIns="0" rtlCol="0" anchor="t">
            <a:spAutoFit/>
          </a:bodyPr>
          <a:lstStyle/>
          <a:p>
            <a:pPr algn="l"/>
            <a:r>
              <a:rPr lang="af-ZA" altLang="ko-KR" sz="1400" b="1">
                <a:solidFill>
                  <a:srgbClr val="68D391"/>
                </a:solidFill>
                <a:latin typeface="Segoe UI"/>
                <a:cs typeface="Segoe UI"/>
              </a:rPr>
              <a:t>After</a:t>
            </a:r>
            <a:endParaRPr lang="ko-KR" altLang="en-US" sz="1400" b="1">
              <a:solidFill>
                <a:srgbClr val="68D391"/>
              </a:solidFill>
              <a:latin typeface="Segoe UI"/>
              <a:cs typeface="Segoe UI"/>
            </a:endParaRPr>
          </a:p>
        </p:txBody>
      </p:sp>
      <p:pic>
        <p:nvPicPr>
          <p:cNvPr id="17" name="그림 16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6A9D244-131F-AA19-CA35-8106B231CD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2318" y="2698014"/>
            <a:ext cx="4371045" cy="3534239"/>
          </a:xfrm>
          <a:prstGeom prst="rect">
            <a:avLst/>
          </a:prstGeom>
        </p:spPr>
      </p:pic>
      <p:pic>
        <p:nvPicPr>
          <p:cNvPr id="19" name="그림 18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A06AAD6-ED53-7333-5BEB-99EF1EBC4E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526" y="2696156"/>
            <a:ext cx="4700702" cy="3537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09189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E2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AccentBar">
            <a:extLst>
              <a:ext uri="{FF2B5EF4-FFF2-40B4-BE49-F238E27FC236}">
                <a16:creationId xmlns:a16="http://schemas.microsoft.com/office/drawing/2014/main" id="{29FF770E-C7F7-4489-AFB0-629CA43003E8}"/>
              </a:ext>
            </a:extLst>
          </p:cNvPr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1" name="Kicker">
            <a:extLst>
              <a:ext uri="{FF2B5EF4-FFF2-40B4-BE49-F238E27FC236}">
                <a16:creationId xmlns:a16="http://schemas.microsoft.com/office/drawing/2014/main" id="{5F14D70F-0A8D-4A1D-953F-A4685CBD72C9}"/>
              </a:ext>
            </a:extLst>
          </p:cNvPr>
          <p:cNvSpPr txBox="1"/>
          <p:nvPr/>
        </p:nvSpPr>
        <p:spPr>
          <a:xfrm>
            <a:off x="609600" y="482600"/>
            <a:ext cx="76200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sz="1400" b="1" dirty="0">
                <a:solidFill>
                  <a:srgbClr val="F6AD55"/>
                </a:solidFill>
                <a:latin typeface="Segoe UI"/>
              </a:rPr>
              <a:t>10  EXECUTOR · 기능 구현</a:t>
            </a:r>
          </a:p>
        </p:txBody>
      </p:sp>
      <p:sp>
        <p:nvSpPr>
          <p:cNvPr id="12" name="Title">
            <a:extLst>
              <a:ext uri="{FF2B5EF4-FFF2-40B4-BE49-F238E27FC236}">
                <a16:creationId xmlns:a16="http://schemas.microsoft.com/office/drawing/2014/main" id="{8E244791-8A37-4CDE-A7BA-6EE00A431333}"/>
              </a:ext>
            </a:extLst>
          </p:cNvPr>
          <p:cNvSpPr txBox="1"/>
          <p:nvPr/>
        </p:nvSpPr>
        <p:spPr>
          <a:xfrm>
            <a:off x="596900" y="787400"/>
            <a:ext cx="109728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ko-KR" sz="3200" b="1" dirty="0">
                <a:solidFill>
                  <a:srgbClr val="FFFFFF"/>
                </a:solidFill>
                <a:latin typeface="Segoe UI Semibold"/>
              </a:rPr>
              <a:t>Executor · 트리 실행 &amp; 런타임</a:t>
            </a:r>
          </a:p>
        </p:txBody>
      </p:sp>
      <p:sp>
        <p:nvSpPr>
          <p:cNvPr id="13" name="TitleRule">
            <a:extLst>
              <a:ext uri="{FF2B5EF4-FFF2-40B4-BE49-F238E27FC236}">
                <a16:creationId xmlns:a16="http://schemas.microsoft.com/office/drawing/2014/main" id="{3CCA5443-E819-4314-9D2D-411125898B71}"/>
              </a:ext>
            </a:extLst>
          </p:cNvPr>
          <p:cNvSpPr/>
          <p:nvPr/>
        </p:nvSpPr>
        <p:spPr>
          <a:xfrm>
            <a:off x="609600" y="1549400"/>
            <a:ext cx="812800" cy="508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GoalCard">
            <a:extLst>
              <a:ext uri="{FF2B5EF4-FFF2-40B4-BE49-F238E27FC236}">
                <a16:creationId xmlns:a16="http://schemas.microsoft.com/office/drawing/2014/main" id="{D899334B-48AD-4693-8B67-68DA84742580}"/>
              </a:ext>
            </a:extLst>
          </p:cNvPr>
          <p:cNvSpPr/>
          <p:nvPr/>
        </p:nvSpPr>
        <p:spPr>
          <a:xfrm>
            <a:off x="609600" y="2159000"/>
            <a:ext cx="4826000" cy="3810000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4FD1C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04800" tIns="279400" rIns="304800" bIns="279400" rtlCol="0" anchor="ctr" anchorCtr="0"/>
          <a:lstStyle/>
          <a:p>
            <a:pPr>
              <a:buNone/>
            </a:pPr>
            <a:r>
              <a:rPr lang="en-US" sz="1500" b="1" dirty="0">
                <a:solidFill>
                  <a:srgbClr val="4FD1C5"/>
                </a:solidFill>
                <a:latin typeface="Segoe UI"/>
              </a:rPr>
              <a:t>① 트리 실행 + </a:t>
            </a:r>
            <a:r>
              <a:rPr lang="en-US" sz="1500" b="1" dirty="0" err="1">
                <a:solidFill>
                  <a:srgbClr val="4FD1C5"/>
                </a:solidFill>
                <a:latin typeface="Segoe UI"/>
              </a:rPr>
              <a:t>스코프</a:t>
            </a:r>
            <a:endParaRPr lang="en-US" sz="1500" b="1" dirty="0">
              <a:solidFill>
                <a:srgbClr val="4FD1C5"/>
              </a:solidFill>
              <a:latin typeface="Segoe UI"/>
            </a:endParaRPr>
          </a:p>
          <a:p>
            <a:pPr>
              <a:buNone/>
            </a:pPr>
            <a:endParaRPr lang="en-US" sz="1500" b="1" dirty="0">
              <a:solidFill>
                <a:srgbClr val="4FD1C5"/>
              </a:solidFill>
              <a:latin typeface="Segoe UI"/>
            </a:endParaRP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ko-KR" sz="1500" dirty="0">
                <a:solidFill>
                  <a:srgbClr val="E8EAF0"/>
                </a:solidFill>
                <a:latin typeface="Segoe UI"/>
              </a:rPr>
              <a:t>AST를 DFS로 순회하며 평가·실행</a:t>
            </a: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ko-KR" sz="1500" dirty="0">
                <a:solidFill>
                  <a:srgbClr val="E8EAF0"/>
                </a:solidFill>
                <a:latin typeface="Segoe UI"/>
              </a:rPr>
              <a:t>Global / Local 스코프 분리 관리</a:t>
            </a: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ko-KR" sz="1500" dirty="0">
                <a:solidFill>
                  <a:srgbClr val="E8EAF0"/>
                </a:solidFill>
                <a:latin typeface="Segoe UI"/>
              </a:rPr>
              <a:t>변수 저장소(Environment)로 값 관리</a:t>
            </a:r>
          </a:p>
          <a:p>
            <a:pPr marL="0" indent="0">
              <a:spcBef>
                <a:spcPts val="500"/>
              </a:spcBef>
              <a:buNone/>
            </a:pPr>
            <a:r>
              <a:rPr lang="en-US" sz="1300" dirty="0">
                <a:solidFill>
                  <a:srgbClr val="4FD1C5"/>
                </a:solidFill>
                <a:latin typeface="Consolas"/>
              </a:rPr>
              <a:t>eval(node) → 스코프 체인 탐색</a:t>
            </a:r>
          </a:p>
        </p:txBody>
      </p:sp>
      <p:sp>
        <p:nvSpPr>
          <p:cNvPr id="15" name="TimelineCard">
            <a:extLst>
              <a:ext uri="{FF2B5EF4-FFF2-40B4-BE49-F238E27FC236}">
                <a16:creationId xmlns:a16="http://schemas.microsoft.com/office/drawing/2014/main" id="{F3BCE98E-382B-4AEA-83F6-8A8DE697831F}"/>
              </a:ext>
            </a:extLst>
          </p:cNvPr>
          <p:cNvSpPr/>
          <p:nvPr/>
        </p:nvSpPr>
        <p:spPr>
          <a:xfrm>
            <a:off x="5740400" y="2159000"/>
            <a:ext cx="5842000" cy="3810000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63B3E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04800" tIns="279400" rIns="304800" bIns="279400" rtlCol="0" anchor="ctr" anchorCtr="0"/>
          <a:lstStyle/>
          <a:p>
            <a:pPr>
              <a:buNone/>
            </a:pPr>
            <a:r>
              <a:rPr lang="en-US" sz="1500" b="1" dirty="0">
                <a:solidFill>
                  <a:srgbClr val="63B3ED"/>
                </a:solidFill>
                <a:latin typeface="Segoe UI"/>
              </a:rPr>
              <a:t>② 런타임 </a:t>
            </a:r>
            <a:r>
              <a:rPr lang="en-US" sz="1500" b="1" dirty="0" err="1">
                <a:solidFill>
                  <a:srgbClr val="63B3ED"/>
                </a:solidFill>
                <a:latin typeface="Segoe UI"/>
              </a:rPr>
              <a:t>오류</a:t>
            </a:r>
            <a:r>
              <a:rPr lang="en-US" sz="1500" b="1" dirty="0">
                <a:solidFill>
                  <a:srgbClr val="63B3ED"/>
                </a:solidFill>
                <a:latin typeface="Segoe UI"/>
              </a:rPr>
              <a:t> </a:t>
            </a:r>
            <a:r>
              <a:rPr lang="en-US" sz="1500" b="1" dirty="0" err="1">
                <a:solidFill>
                  <a:srgbClr val="63B3ED"/>
                </a:solidFill>
                <a:latin typeface="Segoe UI"/>
              </a:rPr>
              <a:t>처리</a:t>
            </a:r>
            <a:endParaRPr lang="en-US" sz="1500" b="1" dirty="0">
              <a:solidFill>
                <a:srgbClr val="63B3ED"/>
              </a:solidFill>
              <a:latin typeface="Segoe UI"/>
            </a:endParaRPr>
          </a:p>
          <a:p>
            <a:pPr>
              <a:buNone/>
            </a:pPr>
            <a:endParaRPr lang="en-US" sz="1500" b="1" dirty="0">
              <a:solidFill>
                <a:srgbClr val="63B3ED"/>
              </a:solidFill>
              <a:latin typeface="Segoe UI"/>
            </a:endParaRP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ko-KR" sz="1500" dirty="0">
                <a:solidFill>
                  <a:srgbClr val="E8EAF0"/>
                </a:solidFill>
                <a:latin typeface="Segoe UI"/>
              </a:rPr>
              <a:t>타입 불일치: 연산 대상 타입 검사</a:t>
            </a: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ko-KR" sz="1500" dirty="0">
                <a:solidFill>
                  <a:srgbClr val="E8EAF0"/>
                </a:solidFill>
                <a:latin typeface="Segoe UI"/>
              </a:rPr>
              <a:t>미정의 변수: 스코프에 없는 참조 차단</a:t>
            </a: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ko-KR" sz="1500" dirty="0">
                <a:solidFill>
                  <a:srgbClr val="E8EAF0"/>
                </a:solidFill>
                <a:latin typeface="Segoe UI"/>
              </a:rPr>
              <a:t>0으로 나누기: 나눗셈 분모 검사</a:t>
            </a:r>
          </a:p>
          <a:p>
            <a:pPr marL="0" indent="0">
              <a:spcBef>
                <a:spcPts val="500"/>
              </a:spcBef>
              <a:buNone/>
            </a:pPr>
            <a:r>
              <a:rPr lang="en-US" sz="1300" dirty="0">
                <a:solidFill>
                  <a:srgbClr val="4FD1C5"/>
                </a:solidFill>
                <a:latin typeface="Consolas"/>
              </a:rPr>
              <a:t>1 / 0  // ❌ DivByZeroError</a:t>
            </a:r>
          </a:p>
        </p:txBody>
      </p:sp>
    </p:spTree>
    <p:extLst>
      <p:ext uri="{BB962C8B-B14F-4D97-AF65-F5344CB8AC3E}">
        <p14:creationId xmlns:p14="http://schemas.microsoft.com/office/powerpoint/2010/main" val="16286905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E2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AccentBar">
            <a:extLst>
              <a:ext uri="{FF2B5EF4-FFF2-40B4-BE49-F238E27FC236}">
                <a16:creationId xmlns:a16="http://schemas.microsoft.com/office/drawing/2014/main" id="{29FF770E-C7F7-4489-AFB0-629CA43003E8}"/>
              </a:ext>
            </a:extLst>
          </p:cNvPr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1" name="Kicker">
            <a:extLst>
              <a:ext uri="{FF2B5EF4-FFF2-40B4-BE49-F238E27FC236}">
                <a16:creationId xmlns:a16="http://schemas.microsoft.com/office/drawing/2014/main" id="{5F14D70F-0A8D-4A1D-953F-A4685CBD72C9}"/>
              </a:ext>
            </a:extLst>
          </p:cNvPr>
          <p:cNvSpPr txBox="1"/>
          <p:nvPr/>
        </p:nvSpPr>
        <p:spPr>
          <a:xfrm>
            <a:off x="609600" y="482600"/>
            <a:ext cx="76200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sz="1400" b="1" dirty="0">
                <a:solidFill>
                  <a:srgbClr val="F6AD55"/>
                </a:solidFill>
                <a:latin typeface="Segoe UI"/>
              </a:rPr>
              <a:t>11  EXECUTOR · TDD</a:t>
            </a:r>
          </a:p>
        </p:txBody>
      </p:sp>
      <p:sp>
        <p:nvSpPr>
          <p:cNvPr id="12" name="Title">
            <a:extLst>
              <a:ext uri="{FF2B5EF4-FFF2-40B4-BE49-F238E27FC236}">
                <a16:creationId xmlns:a16="http://schemas.microsoft.com/office/drawing/2014/main" id="{8E244791-8A37-4CDE-A7BA-6EE00A431333}"/>
              </a:ext>
            </a:extLst>
          </p:cNvPr>
          <p:cNvSpPr txBox="1"/>
          <p:nvPr/>
        </p:nvSpPr>
        <p:spPr>
          <a:xfrm>
            <a:off x="596900" y="787400"/>
            <a:ext cx="109728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ko-KR" sz="3200" b="1" dirty="0">
                <a:solidFill>
                  <a:srgbClr val="FFFFFF"/>
                </a:solidFill>
                <a:latin typeface="Segoe UI Semibold"/>
              </a:rPr>
              <a:t>Executor · 테스트 주도 개발</a:t>
            </a:r>
          </a:p>
        </p:txBody>
      </p:sp>
      <p:sp>
        <p:nvSpPr>
          <p:cNvPr id="13" name="TitleRule">
            <a:extLst>
              <a:ext uri="{FF2B5EF4-FFF2-40B4-BE49-F238E27FC236}">
                <a16:creationId xmlns:a16="http://schemas.microsoft.com/office/drawing/2014/main" id="{3CCA5443-E819-4314-9D2D-411125898B71}"/>
              </a:ext>
            </a:extLst>
          </p:cNvPr>
          <p:cNvSpPr/>
          <p:nvPr/>
        </p:nvSpPr>
        <p:spPr>
          <a:xfrm>
            <a:off x="609600" y="1549400"/>
            <a:ext cx="812800" cy="508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GoalCard">
            <a:extLst>
              <a:ext uri="{FF2B5EF4-FFF2-40B4-BE49-F238E27FC236}">
                <a16:creationId xmlns:a16="http://schemas.microsoft.com/office/drawing/2014/main" id="{D899334B-48AD-4693-8B67-68DA84742580}"/>
              </a:ext>
            </a:extLst>
          </p:cNvPr>
          <p:cNvSpPr/>
          <p:nvPr/>
        </p:nvSpPr>
        <p:spPr>
          <a:xfrm>
            <a:off x="606192" y="1827561"/>
            <a:ext cx="5334000" cy="4714487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FC818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04800" tIns="279400" rIns="304800" bIns="279400" rtlCol="0" anchor="t" anchorCtr="0"/>
          <a:lstStyle/>
          <a:p>
            <a:pPr>
              <a:buNone/>
            </a:pPr>
            <a:r>
              <a:rPr lang="en-US" sz="1400" b="1" dirty="0">
                <a:solidFill>
                  <a:srgbClr val="FC8181"/>
                </a:solidFill>
                <a:latin typeface="Segoe UI"/>
              </a:rPr>
              <a:t>🔴 RED · </a:t>
            </a:r>
            <a:r>
              <a:rPr lang="en-US" sz="1400" b="1" dirty="0" err="1">
                <a:solidFill>
                  <a:srgbClr val="FC8181"/>
                </a:solidFill>
                <a:latin typeface="Segoe UI"/>
              </a:rPr>
              <a:t>테스트</a:t>
            </a:r>
            <a:r>
              <a:rPr lang="en-US" sz="1400" b="1" dirty="0">
                <a:solidFill>
                  <a:srgbClr val="FC8181"/>
                </a:solidFill>
                <a:latin typeface="Segoe UI"/>
              </a:rPr>
              <a:t> </a:t>
            </a:r>
            <a:r>
              <a:rPr lang="en-US" sz="1400" b="1" dirty="0" err="1">
                <a:solidFill>
                  <a:srgbClr val="FC8181"/>
                </a:solidFill>
                <a:latin typeface="Segoe UI"/>
              </a:rPr>
              <a:t>먼저</a:t>
            </a:r>
            <a:endParaRPr lang="en-US" sz="1400" b="1" dirty="0" err="1">
              <a:solidFill>
                <a:srgbClr val="FC8181"/>
              </a:solidFill>
              <a:latin typeface="Segoe UI"/>
              <a:cs typeface="Segoe UI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  <a:buNone/>
            </a:pPr>
            <a:endParaRPr lang="ko-KR" sz="1200" dirty="0">
              <a:solidFill>
                <a:srgbClr val="A0AEC0"/>
              </a:solidFill>
              <a:latin typeface="Segoe UI"/>
            </a:endParaRPr>
          </a:p>
        </p:txBody>
      </p:sp>
      <p:sp>
        <p:nvSpPr>
          <p:cNvPr id="15" name="TimelineCard">
            <a:extLst>
              <a:ext uri="{FF2B5EF4-FFF2-40B4-BE49-F238E27FC236}">
                <a16:creationId xmlns:a16="http://schemas.microsoft.com/office/drawing/2014/main" id="{F3BCE98E-382B-4AEA-83F6-8A8DE697831F}"/>
              </a:ext>
            </a:extLst>
          </p:cNvPr>
          <p:cNvSpPr/>
          <p:nvPr/>
        </p:nvSpPr>
        <p:spPr>
          <a:xfrm>
            <a:off x="5943600" y="1827561"/>
            <a:ext cx="5969000" cy="4714487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68D39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04800" tIns="279400" rIns="304800" bIns="279400" rtlCol="0" anchor="t" anchorCtr="0"/>
          <a:lstStyle/>
          <a:p>
            <a:pPr>
              <a:buNone/>
            </a:pPr>
            <a:r>
              <a:rPr lang="en-US" sz="1400" b="1" dirty="0">
                <a:solidFill>
                  <a:srgbClr val="68D391"/>
                </a:solidFill>
                <a:latin typeface="Segoe UI"/>
              </a:rPr>
              <a:t>🟢 GREEN · </a:t>
            </a:r>
            <a:r>
              <a:rPr lang="en-US" sz="1400" b="1" dirty="0" err="1">
                <a:solidFill>
                  <a:srgbClr val="68D391"/>
                </a:solidFill>
                <a:latin typeface="Segoe UI"/>
              </a:rPr>
              <a:t>최소</a:t>
            </a:r>
            <a:r>
              <a:rPr lang="en-US" sz="1400" b="1" dirty="0">
                <a:solidFill>
                  <a:srgbClr val="68D391"/>
                </a:solidFill>
                <a:latin typeface="Segoe UI"/>
              </a:rPr>
              <a:t> </a:t>
            </a:r>
            <a:r>
              <a:rPr lang="en-US" sz="1400" b="1" dirty="0" err="1">
                <a:solidFill>
                  <a:srgbClr val="68D391"/>
                </a:solidFill>
                <a:latin typeface="Segoe UI"/>
              </a:rPr>
              <a:t>구현</a:t>
            </a:r>
            <a:endParaRPr lang="en-US" sz="1400" b="1" dirty="0" err="1">
              <a:solidFill>
                <a:srgbClr val="68D391"/>
              </a:solidFill>
              <a:latin typeface="Segoe UI"/>
              <a:cs typeface="Segoe UI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  <a:buNone/>
            </a:pP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150"/>
              </a:spcBef>
              <a:buNone/>
            </a:pPr>
            <a:endParaRPr lang="ko-KR" sz="1200" dirty="0">
              <a:solidFill>
                <a:srgbClr val="A0AEC0"/>
              </a:solidFill>
              <a:latin typeface="Segoe UI"/>
            </a:endParaRPr>
          </a:p>
        </p:txBody>
      </p:sp>
      <p:pic>
        <p:nvPicPr>
          <p:cNvPr id="4" name="그림 3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AB252DA-DAB2-0FE3-1BDD-23F40571A0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01" y="2728797"/>
            <a:ext cx="4969263" cy="2785016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D6269FD5-A590-4048-9BC8-1E09A6BB10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1981" y="2728797"/>
            <a:ext cx="5397719" cy="3055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91072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E2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alCard">
            <a:extLst>
              <a:ext uri="{FF2B5EF4-FFF2-40B4-BE49-F238E27FC236}">
                <a16:creationId xmlns:a16="http://schemas.microsoft.com/office/drawing/2014/main" id="{D899334B-48AD-4693-8B67-68DA84742580}"/>
              </a:ext>
            </a:extLst>
          </p:cNvPr>
          <p:cNvSpPr/>
          <p:nvPr/>
        </p:nvSpPr>
        <p:spPr>
          <a:xfrm>
            <a:off x="606192" y="1827561"/>
            <a:ext cx="5334000" cy="4714487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FC818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04800" tIns="279400" rIns="304800" bIns="279400" rtlCol="0" anchor="ctr" anchorCtr="0"/>
          <a:lstStyle/>
          <a:p>
            <a:pPr>
              <a:buNone/>
            </a:pPr>
            <a:endParaRPr lang="en-US" altLang="ko-KR" sz="1400" b="1" dirty="0">
              <a:solidFill>
                <a:srgbClr val="FC8181"/>
              </a:solidFill>
              <a:latin typeface="Segoe UI"/>
              <a:cs typeface="Segoe UI"/>
            </a:endParaRPr>
          </a:p>
          <a:p>
            <a:pPr>
              <a:buNone/>
            </a:pPr>
            <a:endParaRPr lang="en-US" altLang="ko-KR" sz="1400" b="1" dirty="0">
              <a:solidFill>
                <a:srgbClr val="FC8181"/>
              </a:solidFill>
              <a:latin typeface="Segoe UI"/>
              <a:cs typeface="Segoe UI"/>
            </a:endParaRPr>
          </a:p>
          <a:p>
            <a:pPr>
              <a:buNone/>
            </a:pPr>
            <a:endParaRPr lang="en-US" altLang="ko-KR" sz="1400" b="1" dirty="0">
              <a:solidFill>
                <a:srgbClr val="FC8181"/>
              </a:solidFill>
              <a:latin typeface="Segoe UI"/>
              <a:cs typeface="Segoe UI"/>
            </a:endParaRPr>
          </a:p>
          <a:p>
            <a:pPr>
              <a:buNone/>
            </a:pPr>
            <a:endParaRPr lang="en-US" altLang="ko-KR" sz="1400" b="1" dirty="0">
              <a:solidFill>
                <a:srgbClr val="FC8181"/>
              </a:solidFill>
              <a:latin typeface="Segoe UI"/>
              <a:cs typeface="Segoe UI"/>
            </a:endParaRPr>
          </a:p>
          <a:p>
            <a:pPr>
              <a:buNone/>
            </a:pPr>
            <a:endParaRPr lang="en-US" altLang="ko-KR" sz="1400" b="1" dirty="0">
              <a:solidFill>
                <a:srgbClr val="FC8181"/>
              </a:solidFill>
              <a:latin typeface="Segoe UI"/>
              <a:cs typeface="Segoe UI"/>
            </a:endParaRPr>
          </a:p>
          <a:p>
            <a:pPr>
              <a:buNone/>
            </a:pPr>
            <a:endParaRPr lang="en-US" altLang="ko-KR" sz="1400" b="1" dirty="0">
              <a:solidFill>
                <a:srgbClr val="FC8181"/>
              </a:solidFill>
              <a:latin typeface="Segoe UI"/>
              <a:cs typeface="Segoe UI"/>
            </a:endParaRPr>
          </a:p>
          <a:p>
            <a:pPr>
              <a:buNone/>
            </a:pPr>
            <a:endParaRPr lang="en-US" altLang="ko-KR" sz="1400" b="1" dirty="0">
              <a:solidFill>
                <a:srgbClr val="FC8181"/>
              </a:solidFill>
              <a:latin typeface="Segoe UI"/>
              <a:cs typeface="Segoe UI"/>
            </a:endParaRPr>
          </a:p>
          <a:p>
            <a:pPr>
              <a:buNone/>
            </a:pPr>
            <a:endParaRPr lang="en-US" altLang="ko-KR" sz="1400" b="1" dirty="0">
              <a:solidFill>
                <a:srgbClr val="FC8181"/>
              </a:solidFill>
              <a:latin typeface="Segoe UI"/>
              <a:cs typeface="Segoe UI"/>
            </a:endParaRPr>
          </a:p>
          <a:p>
            <a:pPr>
              <a:buNone/>
            </a:pPr>
            <a:endParaRPr lang="en-US" altLang="ko-KR" sz="1400" b="1" dirty="0">
              <a:solidFill>
                <a:srgbClr val="FC8181"/>
              </a:solidFill>
              <a:latin typeface="Segoe UI"/>
              <a:cs typeface="Segoe UI"/>
            </a:endParaRPr>
          </a:p>
          <a:p>
            <a:pPr>
              <a:buNone/>
            </a:pPr>
            <a:endParaRPr lang="en-US" altLang="ko-KR" sz="1400" b="1" dirty="0">
              <a:solidFill>
                <a:srgbClr val="FC8181"/>
              </a:solidFill>
              <a:latin typeface="Segoe UI"/>
              <a:cs typeface="Segoe UI"/>
            </a:endParaRPr>
          </a:p>
          <a:p>
            <a:pPr>
              <a:buNone/>
            </a:pPr>
            <a:endParaRPr lang="en-US" altLang="ko-KR" sz="1400" b="1" dirty="0">
              <a:solidFill>
                <a:srgbClr val="FC8181"/>
              </a:solidFill>
              <a:latin typeface="Segoe UI"/>
              <a:cs typeface="Segoe UI"/>
            </a:endParaRPr>
          </a:p>
          <a:p>
            <a:pPr>
              <a:buNone/>
            </a:pPr>
            <a:endParaRPr lang="en-US" altLang="ko-KR" sz="1400" b="1" dirty="0">
              <a:solidFill>
                <a:srgbClr val="FC8181"/>
              </a:solidFill>
              <a:latin typeface="Segoe UI"/>
              <a:cs typeface="Segoe UI"/>
            </a:endParaRPr>
          </a:p>
          <a:p>
            <a:pPr>
              <a:buNone/>
            </a:pPr>
            <a:endParaRPr lang="en-US" altLang="ko-KR" sz="1400" b="1" dirty="0">
              <a:solidFill>
                <a:srgbClr val="FC8181"/>
              </a:solidFill>
              <a:latin typeface="Segoe UI"/>
              <a:cs typeface="Segoe UI"/>
            </a:endParaRPr>
          </a:p>
          <a:p>
            <a:pPr>
              <a:buNone/>
            </a:pPr>
            <a:endParaRPr lang="en-US" altLang="ko-KR" sz="1400" b="1" dirty="0">
              <a:solidFill>
                <a:srgbClr val="FC8181"/>
              </a:solidFill>
              <a:latin typeface="Segoe UI"/>
              <a:cs typeface="Segoe UI"/>
            </a:endParaRPr>
          </a:p>
          <a:p>
            <a:pPr>
              <a:buNone/>
            </a:pPr>
            <a:endParaRPr lang="en-US" altLang="ko-KR" sz="1400" b="1" dirty="0">
              <a:solidFill>
                <a:srgbClr val="FC8181"/>
              </a:solidFill>
              <a:latin typeface="Segoe UI"/>
              <a:cs typeface="Segoe UI"/>
            </a:endParaRPr>
          </a:p>
          <a:p>
            <a:pPr>
              <a:buNone/>
            </a:pPr>
            <a:endParaRPr lang="en-US" altLang="ko-KR" sz="1400" b="1" dirty="0">
              <a:solidFill>
                <a:srgbClr val="FC8181"/>
              </a:solidFill>
              <a:latin typeface="Segoe UI"/>
              <a:cs typeface="Segoe UI"/>
            </a:endParaRPr>
          </a:p>
          <a:p>
            <a:pPr>
              <a:buNone/>
            </a:pPr>
            <a:endParaRPr lang="en-US" altLang="ko-KR" sz="1400" b="1" dirty="0">
              <a:solidFill>
                <a:srgbClr val="FC8181"/>
              </a:solidFill>
              <a:latin typeface="Segoe UI"/>
              <a:cs typeface="Segoe UI"/>
            </a:endParaRPr>
          </a:p>
          <a:p>
            <a:pPr>
              <a:buNone/>
            </a:pPr>
            <a:r>
              <a:rPr lang="en-US" altLang="ko-KR" sz="1400" b="1" dirty="0">
                <a:solidFill>
                  <a:srgbClr val="FC8181"/>
                </a:solidFill>
                <a:latin typeface="Segoe UI"/>
                <a:cs typeface="Segoe UI"/>
              </a:rPr>
              <a:t>Map</a:t>
            </a:r>
            <a:r>
              <a:rPr lang="ko-KR" altLang="en-US" sz="1400" b="1" dirty="0">
                <a:solidFill>
                  <a:srgbClr val="FC8181"/>
                </a:solidFill>
                <a:latin typeface="Segoe UI"/>
                <a:cs typeface="Segoe UI"/>
              </a:rPr>
              <a:t>이 </a:t>
            </a:r>
            <a:r>
              <a:rPr lang="en-US" altLang="ko-KR" sz="1400" b="1" dirty="0">
                <a:solidFill>
                  <a:srgbClr val="FC8181"/>
                </a:solidFill>
                <a:latin typeface="Segoe UI"/>
                <a:cs typeface="Segoe UI"/>
              </a:rPr>
              <a:t>Executor </a:t>
            </a:r>
            <a:r>
              <a:rPr lang="ko-KR" altLang="en-US" sz="1400" b="1" dirty="0">
                <a:solidFill>
                  <a:srgbClr val="FC8181"/>
                </a:solidFill>
                <a:latin typeface="Segoe UI"/>
                <a:cs typeface="Segoe UI"/>
              </a:rPr>
              <a:t>안에 있어서 </a:t>
            </a:r>
            <a:r>
              <a:rPr lang="ko-KR" altLang="en-US" sz="1400" b="1" dirty="0" err="1">
                <a:solidFill>
                  <a:srgbClr val="FC8181"/>
                </a:solidFill>
                <a:latin typeface="Segoe UI"/>
                <a:cs typeface="Segoe UI"/>
              </a:rPr>
              <a:t>스코프가</a:t>
            </a:r>
            <a:r>
              <a:rPr lang="ko-KR" altLang="en-US" sz="1400" b="1" dirty="0">
                <a:solidFill>
                  <a:srgbClr val="FC8181"/>
                </a:solidFill>
                <a:latin typeface="Segoe UI"/>
                <a:cs typeface="Segoe UI"/>
              </a:rPr>
              <a:t> 하나밖에 없습니다</a:t>
            </a:r>
            <a:r>
              <a:rPr lang="en-US" altLang="ko-KR" sz="1400" b="1" dirty="0">
                <a:solidFill>
                  <a:srgbClr val="FC8181"/>
                </a:solidFill>
                <a:latin typeface="Segoe UI"/>
                <a:cs typeface="Segoe UI"/>
              </a:rPr>
              <a:t>. </a:t>
            </a:r>
            <a:r>
              <a:rPr lang="ko-KR" altLang="en-US" sz="1400" b="1" dirty="0">
                <a:solidFill>
                  <a:srgbClr val="FC8181"/>
                </a:solidFill>
                <a:latin typeface="Segoe UI"/>
                <a:cs typeface="Segoe UI"/>
              </a:rPr>
              <a:t>블록</a:t>
            </a:r>
            <a:r>
              <a:rPr lang="en-US" altLang="ko-KR" sz="1400" b="1" dirty="0">
                <a:solidFill>
                  <a:srgbClr val="FC8181"/>
                </a:solidFill>
                <a:latin typeface="Segoe UI"/>
                <a:cs typeface="Segoe UI"/>
              </a:rPr>
              <a:t>({}) </a:t>
            </a:r>
            <a:r>
              <a:rPr lang="ko-KR" altLang="en-US" sz="1400" b="1" dirty="0">
                <a:solidFill>
                  <a:srgbClr val="FC8181"/>
                </a:solidFill>
                <a:latin typeface="Segoe UI"/>
                <a:cs typeface="Segoe UI"/>
              </a:rPr>
              <a:t>안에 변수를 선언해도 전부 같은 </a:t>
            </a:r>
            <a:r>
              <a:rPr lang="en-US" altLang="ko-KR" sz="1400" b="1" dirty="0">
                <a:solidFill>
                  <a:srgbClr val="FC8181"/>
                </a:solidFill>
                <a:latin typeface="Segoe UI"/>
                <a:cs typeface="Segoe UI"/>
              </a:rPr>
              <a:t>Map</a:t>
            </a:r>
            <a:r>
              <a:rPr lang="ko-KR" altLang="en-US" sz="1400" b="1" dirty="0">
                <a:solidFill>
                  <a:srgbClr val="FC8181"/>
                </a:solidFill>
                <a:latin typeface="Segoe UI"/>
                <a:cs typeface="Segoe UI"/>
              </a:rPr>
              <a:t>에</a:t>
            </a:r>
          </a:p>
          <a:p>
            <a:pPr>
              <a:buNone/>
            </a:pPr>
            <a:r>
              <a:rPr lang="ko-KR" altLang="en-US" sz="1400" b="1" dirty="0">
                <a:solidFill>
                  <a:srgbClr val="FC8181"/>
                </a:solidFill>
                <a:latin typeface="Segoe UI"/>
                <a:cs typeface="Segoe UI"/>
              </a:rPr>
              <a:t>  들어가고</a:t>
            </a:r>
            <a:r>
              <a:rPr lang="en-US" altLang="ko-KR" sz="1400" b="1" dirty="0">
                <a:solidFill>
                  <a:srgbClr val="FC8181"/>
                </a:solidFill>
                <a:latin typeface="Segoe UI"/>
                <a:cs typeface="Segoe UI"/>
              </a:rPr>
              <a:t>, </a:t>
            </a:r>
            <a:r>
              <a:rPr lang="ko-KR" altLang="en-US" sz="1400" b="1" dirty="0">
                <a:solidFill>
                  <a:srgbClr val="FC8181"/>
                </a:solidFill>
                <a:latin typeface="Segoe UI"/>
                <a:cs typeface="Segoe UI"/>
              </a:rPr>
              <a:t>블록이 끝나도 변수가 사라지지 않습니다</a:t>
            </a:r>
            <a:r>
              <a:rPr lang="en-US" altLang="ko-KR" sz="1400" b="1" dirty="0">
                <a:solidFill>
                  <a:srgbClr val="FC8181"/>
                </a:solidFill>
                <a:latin typeface="Segoe UI"/>
                <a:cs typeface="Segoe UI"/>
              </a:rPr>
              <a:t>.</a:t>
            </a:r>
            <a:endParaRPr lang="en-US" sz="1400" b="1" dirty="0">
              <a:solidFill>
                <a:srgbClr val="FC8181"/>
              </a:solidFill>
              <a:latin typeface="Segoe UI"/>
              <a:cs typeface="Segoe UI"/>
            </a:endParaRPr>
          </a:p>
        </p:txBody>
      </p:sp>
      <p:sp>
        <p:nvSpPr>
          <p:cNvPr id="10" name="SlideAccentBar">
            <a:extLst>
              <a:ext uri="{FF2B5EF4-FFF2-40B4-BE49-F238E27FC236}">
                <a16:creationId xmlns:a16="http://schemas.microsoft.com/office/drawing/2014/main" id="{29FF770E-C7F7-4489-AFB0-629CA43003E8}"/>
              </a:ext>
            </a:extLst>
          </p:cNvPr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1" name="Kicker">
            <a:extLst>
              <a:ext uri="{FF2B5EF4-FFF2-40B4-BE49-F238E27FC236}">
                <a16:creationId xmlns:a16="http://schemas.microsoft.com/office/drawing/2014/main" id="{5F14D70F-0A8D-4A1D-953F-A4685CBD72C9}"/>
              </a:ext>
            </a:extLst>
          </p:cNvPr>
          <p:cNvSpPr txBox="1"/>
          <p:nvPr/>
        </p:nvSpPr>
        <p:spPr>
          <a:xfrm>
            <a:off x="609600" y="482600"/>
            <a:ext cx="76200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sz="1400" b="1" dirty="0">
                <a:solidFill>
                  <a:srgbClr val="F6AD55"/>
                </a:solidFill>
                <a:latin typeface="Segoe UI"/>
              </a:rPr>
              <a:t>12  EXECUTOR · 리팩토링 &amp; 패턴</a:t>
            </a:r>
          </a:p>
        </p:txBody>
      </p:sp>
      <p:sp>
        <p:nvSpPr>
          <p:cNvPr id="12" name="Title">
            <a:extLst>
              <a:ext uri="{FF2B5EF4-FFF2-40B4-BE49-F238E27FC236}">
                <a16:creationId xmlns:a16="http://schemas.microsoft.com/office/drawing/2014/main" id="{8E244791-8A37-4CDE-A7BA-6EE00A431333}"/>
              </a:ext>
            </a:extLst>
          </p:cNvPr>
          <p:cNvSpPr txBox="1"/>
          <p:nvPr/>
        </p:nvSpPr>
        <p:spPr>
          <a:xfrm>
            <a:off x="596900" y="787400"/>
            <a:ext cx="109728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ko-KR" sz="3200" b="1" dirty="0">
                <a:solidFill>
                  <a:srgbClr val="FFFFFF"/>
                </a:solidFill>
                <a:latin typeface="Segoe UI Semibold"/>
              </a:rPr>
              <a:t>Executor · 리팩토링 &amp; 패턴</a:t>
            </a:r>
          </a:p>
        </p:txBody>
      </p:sp>
      <p:sp>
        <p:nvSpPr>
          <p:cNvPr id="13" name="TitleRule">
            <a:extLst>
              <a:ext uri="{FF2B5EF4-FFF2-40B4-BE49-F238E27FC236}">
                <a16:creationId xmlns:a16="http://schemas.microsoft.com/office/drawing/2014/main" id="{3CCA5443-E819-4314-9D2D-411125898B71}"/>
              </a:ext>
            </a:extLst>
          </p:cNvPr>
          <p:cNvSpPr/>
          <p:nvPr/>
        </p:nvSpPr>
        <p:spPr>
          <a:xfrm>
            <a:off x="609600" y="1549400"/>
            <a:ext cx="812800" cy="508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5" name="TimelineCard">
            <a:extLst>
              <a:ext uri="{FF2B5EF4-FFF2-40B4-BE49-F238E27FC236}">
                <a16:creationId xmlns:a16="http://schemas.microsoft.com/office/drawing/2014/main" id="{F3BCE98E-382B-4AEA-83F6-8A8DE697831F}"/>
              </a:ext>
            </a:extLst>
          </p:cNvPr>
          <p:cNvSpPr/>
          <p:nvPr/>
        </p:nvSpPr>
        <p:spPr>
          <a:xfrm>
            <a:off x="5943600" y="1827561"/>
            <a:ext cx="5969000" cy="4714487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68D39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04800" tIns="279400" rIns="304800" bIns="279400" rtlCol="0" anchor="ctr" anchorCtr="0"/>
          <a:lstStyle/>
          <a:p>
            <a:pPr>
              <a:buNone/>
            </a:pPr>
            <a:endParaRPr lang="en-US" sz="1400" b="1" dirty="0">
              <a:solidFill>
                <a:srgbClr val="68D391"/>
              </a:solidFill>
              <a:latin typeface="Segoe UI"/>
            </a:endParaRPr>
          </a:p>
          <a:p>
            <a:pPr marL="0" indent="0">
              <a:spcBef>
                <a:spcPts val="300"/>
              </a:spcBef>
              <a:buNone/>
            </a:pPr>
            <a:endParaRPr lang="en-US" altLang="ko-KR" sz="1200" dirty="0">
              <a:solidFill>
                <a:srgbClr val="A0AEC0"/>
              </a:solidFill>
              <a:latin typeface="Consolas"/>
            </a:endParaRPr>
          </a:p>
        </p:txBody>
      </p:sp>
      <p:sp>
        <p:nvSpPr>
          <p:cNvPr id="3" name="RefTopL">
            <a:extLst>
              <a:ext uri="{FF2B5EF4-FFF2-40B4-BE49-F238E27FC236}">
                <a16:creationId xmlns:a16="http://schemas.microsoft.com/office/drawing/2014/main" id="{B89A2221-84DE-BED6-6646-4DF885549408}"/>
              </a:ext>
            </a:extLst>
          </p:cNvPr>
          <p:cNvSpPr txBox="1"/>
          <p:nvPr/>
        </p:nvSpPr>
        <p:spPr>
          <a:xfrm>
            <a:off x="961483" y="2173868"/>
            <a:ext cx="5334000" cy="215444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lIns="0" tIns="0" rIns="0" bIns="0" rtlCol="0" anchor="t">
            <a:spAutoFit/>
          </a:bodyPr>
          <a:lstStyle/>
          <a:p>
            <a:pPr algn="l"/>
            <a:r>
              <a:rPr lang="ko-KR" altLang="en-US" sz="1400" b="1">
                <a:solidFill>
                  <a:srgbClr val="FC8181"/>
                </a:solidFill>
                <a:latin typeface="Segoe UI"/>
                <a:ea typeface="맑은 고딕"/>
                <a:cs typeface="Segoe UI"/>
              </a:rPr>
              <a:t>Before</a:t>
            </a:r>
          </a:p>
        </p:txBody>
      </p:sp>
      <p:sp>
        <p:nvSpPr>
          <p:cNvPr id="5" name="RefTopR">
            <a:extLst>
              <a:ext uri="{FF2B5EF4-FFF2-40B4-BE49-F238E27FC236}">
                <a16:creationId xmlns:a16="http://schemas.microsoft.com/office/drawing/2014/main" id="{6AC7C288-328A-D18D-EBAF-A9F43BA2C7C1}"/>
              </a:ext>
            </a:extLst>
          </p:cNvPr>
          <p:cNvSpPr txBox="1"/>
          <p:nvPr/>
        </p:nvSpPr>
        <p:spPr>
          <a:xfrm>
            <a:off x="6696617" y="2173868"/>
            <a:ext cx="4572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lIns="0" tIns="0" rIns="0" bIns="0" rtlCol="0" anchor="t">
            <a:spAutoFit/>
          </a:bodyPr>
          <a:lstStyle/>
          <a:p>
            <a:pPr algn="l"/>
            <a:r>
              <a:rPr lang="af-ZA" altLang="ko-KR" sz="1400" b="1">
                <a:solidFill>
                  <a:srgbClr val="68D391"/>
                </a:solidFill>
                <a:latin typeface="Segoe UI"/>
                <a:cs typeface="Segoe UI"/>
              </a:rPr>
              <a:t>After</a:t>
            </a:r>
            <a:endParaRPr lang="ko-KR" altLang="en-US" sz="1400" b="1">
              <a:solidFill>
                <a:srgbClr val="68D391"/>
              </a:solidFill>
              <a:latin typeface="Segoe UI"/>
              <a:cs typeface="Segoe UI"/>
            </a:endParaRPr>
          </a:p>
        </p:txBody>
      </p:sp>
      <p:pic>
        <p:nvPicPr>
          <p:cNvPr id="6" name="그림 5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18542C0-E623-8943-899F-4594AE48EB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7070" y="2612058"/>
            <a:ext cx="5275688" cy="2897689"/>
          </a:xfrm>
          <a:prstGeom prst="rect">
            <a:avLst/>
          </a:prstGeom>
        </p:spPr>
      </p:pic>
      <p:pic>
        <p:nvPicPr>
          <p:cNvPr id="7" name="그림 6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DB0927B-7A53-9FCA-61AD-AA420C1E11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439" y="2610664"/>
            <a:ext cx="4920708" cy="290047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C748BF8-CBEE-4C6A-811D-437ADED0F7A9}"/>
              </a:ext>
            </a:extLst>
          </p:cNvPr>
          <p:cNvSpPr txBox="1"/>
          <p:nvPr/>
        </p:nvSpPr>
        <p:spPr>
          <a:xfrm>
            <a:off x="923383" y="5566418"/>
            <a:ext cx="4546975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1800" dirty="0">
                <a:latin typeface="Segoe UI"/>
                <a:ea typeface="맑은 고딕"/>
              </a:rPr>
              <a:t>▎</a:t>
            </a:r>
            <a:r>
              <a:rPr lang="ko-KR" altLang="en-US" sz="1800" dirty="0">
                <a:latin typeface="Segoe UI"/>
                <a:ea typeface="맑은 고딕"/>
              </a:rPr>
              <a:t> </a:t>
            </a:r>
            <a:r>
              <a:rPr lang="en-US" altLang="ko-KR" sz="1400" dirty="0">
                <a:latin typeface="Segoe UI"/>
                <a:ea typeface="맑은 고딕"/>
              </a:rPr>
              <a:t>Map</a:t>
            </a:r>
            <a:r>
              <a:rPr lang="ko-KR" altLang="en-US" sz="1400" dirty="0">
                <a:latin typeface="Segoe UI"/>
                <a:ea typeface="맑은 고딕"/>
              </a:rPr>
              <a:t>이 </a:t>
            </a:r>
            <a:r>
              <a:rPr lang="en-US" altLang="ko-KR" sz="1400" dirty="0">
                <a:latin typeface="Segoe UI"/>
                <a:ea typeface="맑은 고딕"/>
              </a:rPr>
              <a:t>Executor </a:t>
            </a:r>
            <a:r>
              <a:rPr lang="ko-KR" altLang="en-US" sz="1400" dirty="0">
                <a:latin typeface="Segoe UI"/>
                <a:ea typeface="맑은 고딕"/>
              </a:rPr>
              <a:t>안에 있어서 </a:t>
            </a:r>
            <a:r>
              <a:rPr lang="ko-KR" altLang="en-US" sz="1400" dirty="0" err="1">
                <a:latin typeface="Segoe UI"/>
                <a:ea typeface="맑은 고딕"/>
              </a:rPr>
              <a:t>스코프가</a:t>
            </a:r>
            <a:r>
              <a:rPr lang="ko-KR" altLang="en-US" sz="1400" dirty="0">
                <a:latin typeface="Segoe UI"/>
                <a:ea typeface="맑은 고딕"/>
              </a:rPr>
              <a:t> 하나밖에 없습니다</a:t>
            </a:r>
            <a:r>
              <a:rPr lang="en-US" altLang="ko-KR" sz="1400" dirty="0">
                <a:latin typeface="Segoe UI"/>
                <a:ea typeface="맑은 고딕"/>
              </a:rPr>
              <a:t>. </a:t>
            </a:r>
            <a:r>
              <a:rPr lang="ko-KR" altLang="en-US" sz="1400" dirty="0">
                <a:latin typeface="Segoe UI"/>
                <a:ea typeface="맑은 고딕"/>
              </a:rPr>
              <a:t>블록</a:t>
            </a:r>
            <a:r>
              <a:rPr lang="en-US" altLang="ko-KR" sz="1400" dirty="0">
                <a:latin typeface="Segoe UI"/>
                <a:ea typeface="맑은 고딕"/>
              </a:rPr>
              <a:t>({}) </a:t>
            </a:r>
            <a:r>
              <a:rPr lang="ko-KR" altLang="en-US" sz="1400" dirty="0">
                <a:latin typeface="Segoe UI"/>
                <a:ea typeface="맑은 고딕"/>
              </a:rPr>
              <a:t>안에 변수를 선언해도 전부 같은 </a:t>
            </a:r>
            <a:r>
              <a:rPr lang="en-US" altLang="ko-KR" sz="1400" dirty="0">
                <a:latin typeface="Segoe UI"/>
                <a:ea typeface="맑은 고딕"/>
              </a:rPr>
              <a:t>Map</a:t>
            </a:r>
            <a:r>
              <a:rPr lang="ko-KR" altLang="en-US" sz="1400" dirty="0">
                <a:latin typeface="Segoe UI"/>
                <a:ea typeface="맑은 고딕"/>
              </a:rPr>
              <a:t>에</a:t>
            </a:r>
          </a:p>
          <a:p>
            <a:r>
              <a:rPr lang="ko-KR" altLang="en-US" sz="1400" dirty="0">
                <a:latin typeface="Segoe UI"/>
                <a:ea typeface="맑은 고딕"/>
              </a:rPr>
              <a:t>  들어가고</a:t>
            </a:r>
            <a:r>
              <a:rPr lang="en-US" altLang="ko-KR" sz="1400" dirty="0">
                <a:latin typeface="Segoe UI"/>
                <a:ea typeface="맑은 고딕"/>
              </a:rPr>
              <a:t>, </a:t>
            </a:r>
            <a:r>
              <a:rPr lang="ko-KR" altLang="en-US" sz="1400" dirty="0">
                <a:latin typeface="Segoe UI"/>
                <a:ea typeface="맑은 고딕"/>
              </a:rPr>
              <a:t>블록이 끝나도 변수가 사라지지 않습니다</a:t>
            </a:r>
            <a:r>
              <a:rPr lang="en-US" altLang="ko-KR" sz="1400" dirty="0">
                <a:latin typeface="Segoe UI"/>
                <a:ea typeface="맑은 고딕"/>
              </a:rPr>
              <a:t>.</a:t>
            </a:r>
            <a:endParaRPr lang="ko-KR" altLang="en-US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90A0985-1898-4944-9D95-DDA8CA538A7C}"/>
              </a:ext>
            </a:extLst>
          </p:cNvPr>
          <p:cNvSpPr txBox="1"/>
          <p:nvPr/>
        </p:nvSpPr>
        <p:spPr>
          <a:xfrm>
            <a:off x="6661426" y="5602274"/>
            <a:ext cx="4546975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ko-KR" sz="1800" dirty="0">
                <a:solidFill>
                  <a:srgbClr val="A0AEC0"/>
                </a:solidFill>
                <a:latin typeface="Segoe UI"/>
                <a:ea typeface="맑은 고딕"/>
              </a:rPr>
              <a:t>▎</a:t>
            </a:r>
            <a:r>
              <a:rPr lang="ko-KR" altLang="en-US" sz="1800" dirty="0">
                <a:solidFill>
                  <a:srgbClr val="A0AEC0"/>
                </a:solidFill>
                <a:latin typeface="Segoe UI"/>
                <a:ea typeface="맑은 고딕"/>
              </a:rPr>
              <a:t> </a:t>
            </a:r>
            <a:r>
              <a:rPr lang="ko-KR" altLang="en-US" sz="1400" dirty="0"/>
              <a:t>블록 진입 시 </a:t>
            </a:r>
            <a:r>
              <a:rPr lang="en-US" altLang="ko-KR" sz="1400" dirty="0"/>
              <a:t>new Environment(</a:t>
            </a:r>
            <a:r>
              <a:rPr lang="ko-KR" altLang="en-US" sz="1400" dirty="0"/>
              <a:t>현재</a:t>
            </a:r>
            <a:r>
              <a:rPr lang="en-US" altLang="ko-KR" sz="1400" dirty="0"/>
              <a:t>) </a:t>
            </a:r>
            <a:r>
              <a:rPr lang="ko-KR" altLang="en-US" sz="1400" dirty="0"/>
              <a:t>로 자식 환경을 만들고</a:t>
            </a:r>
            <a:r>
              <a:rPr lang="en-US" altLang="ko-KR" sz="1400" dirty="0"/>
              <a:t>, </a:t>
            </a:r>
            <a:r>
              <a:rPr lang="ko-KR" altLang="en-US" sz="1400" dirty="0"/>
              <a:t>블록이 끝나면 부모 환경으로 복귀하는</a:t>
            </a:r>
          </a:p>
          <a:p>
            <a:r>
              <a:rPr lang="ko-KR" altLang="en-US" sz="1400" dirty="0"/>
              <a:t>  방식으로 </a:t>
            </a:r>
            <a:r>
              <a:rPr lang="ko-KR" altLang="en-US" sz="1400" dirty="0" err="1"/>
              <a:t>스코프</a:t>
            </a:r>
            <a:r>
              <a:rPr lang="ko-KR" altLang="en-US" sz="1400" dirty="0"/>
              <a:t> 중첩이 가능해집니다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070386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E2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AccentBar">
            <a:extLst>
              <a:ext uri="{FF2B5EF4-FFF2-40B4-BE49-F238E27FC236}">
                <a16:creationId xmlns:a16="http://schemas.microsoft.com/office/drawing/2014/main" id="{29FF770E-C7F7-4489-AFB0-629CA43003E8}"/>
              </a:ext>
            </a:extLst>
          </p:cNvPr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1" name="Kicker">
            <a:extLst>
              <a:ext uri="{FF2B5EF4-FFF2-40B4-BE49-F238E27FC236}">
                <a16:creationId xmlns:a16="http://schemas.microsoft.com/office/drawing/2014/main" id="{5F14D70F-0A8D-4A1D-953F-A4685CBD72C9}"/>
              </a:ext>
            </a:extLst>
          </p:cNvPr>
          <p:cNvSpPr txBox="1"/>
          <p:nvPr/>
        </p:nvSpPr>
        <p:spPr>
          <a:xfrm>
            <a:off x="609600" y="482600"/>
            <a:ext cx="76200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sz="1400" b="1" dirty="0">
                <a:solidFill>
                  <a:srgbClr val="F6AD55"/>
                </a:solidFill>
                <a:latin typeface="Segoe UI"/>
              </a:rPr>
              <a:t>13  CODE REVIEW</a:t>
            </a:r>
          </a:p>
        </p:txBody>
      </p:sp>
      <p:sp>
        <p:nvSpPr>
          <p:cNvPr id="12" name="Title">
            <a:extLst>
              <a:ext uri="{FF2B5EF4-FFF2-40B4-BE49-F238E27FC236}">
                <a16:creationId xmlns:a16="http://schemas.microsoft.com/office/drawing/2014/main" id="{8E244791-8A37-4CDE-A7BA-6EE00A431333}"/>
              </a:ext>
            </a:extLst>
          </p:cNvPr>
          <p:cNvSpPr txBox="1"/>
          <p:nvPr/>
        </p:nvSpPr>
        <p:spPr>
          <a:xfrm>
            <a:off x="596900" y="787400"/>
            <a:ext cx="109728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ko-KR" sz="3200" b="1" dirty="0">
                <a:solidFill>
                  <a:srgbClr val="FFFFFF"/>
                </a:solidFill>
                <a:latin typeface="Segoe UI Semibold"/>
              </a:rPr>
              <a:t>코드리뷰가 만든 변화</a:t>
            </a:r>
          </a:p>
        </p:txBody>
      </p:sp>
      <p:sp>
        <p:nvSpPr>
          <p:cNvPr id="13" name="TitleRule">
            <a:extLst>
              <a:ext uri="{FF2B5EF4-FFF2-40B4-BE49-F238E27FC236}">
                <a16:creationId xmlns:a16="http://schemas.microsoft.com/office/drawing/2014/main" id="{3CCA5443-E819-4314-9D2D-411125898B71}"/>
              </a:ext>
            </a:extLst>
          </p:cNvPr>
          <p:cNvSpPr/>
          <p:nvPr/>
        </p:nvSpPr>
        <p:spPr>
          <a:xfrm>
            <a:off x="609600" y="1549400"/>
            <a:ext cx="812800" cy="508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5" name="ReviewCard1">
            <a:extLst>
              <a:ext uri="{FF2B5EF4-FFF2-40B4-BE49-F238E27FC236}">
                <a16:creationId xmlns:a16="http://schemas.microsoft.com/office/drawing/2014/main" id="{E03A3B58-C9D0-4DB8-BD5C-F1FA84BCE5FE}"/>
              </a:ext>
            </a:extLst>
          </p:cNvPr>
          <p:cNvSpPr/>
          <p:nvPr/>
        </p:nvSpPr>
        <p:spPr>
          <a:xfrm>
            <a:off x="609600" y="1905000"/>
            <a:ext cx="5486400" cy="2184400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4FD1C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03200" tIns="177800" rIns="203200" bIns="152400" rtlCol="0" anchor="t" anchorCtr="0"/>
          <a:lstStyle/>
          <a:p>
            <a:pPr>
              <a:buNone/>
            </a:pPr>
            <a:r>
              <a:rPr lang="en-US" sz="1400" b="1" dirty="0">
                <a:solidFill>
                  <a:srgbClr val="4FD1C5"/>
                </a:solidFill>
                <a:latin typeface="Segoe UI"/>
              </a:rPr>
              <a:t>①  </a:t>
            </a:r>
            <a:r>
              <a:rPr lang="ko-KR" sz="1400" b="1" dirty="0">
                <a:solidFill>
                  <a:srgbClr val="FFFFFF"/>
                </a:solidFill>
                <a:latin typeface="Segoe UI"/>
              </a:rPr>
              <a:t>String → TokenType enum</a:t>
            </a:r>
          </a:p>
          <a:p>
            <a:pPr>
              <a:spcBef>
                <a:spcPts val="400"/>
              </a:spcBef>
              <a:buNone/>
            </a:pPr>
            <a:r>
              <a:rPr lang="en-US" sz="1100" i="1" dirty="0">
                <a:solidFill>
                  <a:srgbClr val="A0AEC0"/>
                </a:solidFill>
                <a:latin typeface="Segoe UI"/>
              </a:rPr>
              <a:t>@insungahn  </a:t>
            </a:r>
            <a:r>
              <a:rPr lang="ko-KR" sz="1100" i="1" dirty="0">
                <a:solidFill>
                  <a:srgbClr val="CBD5E0"/>
                </a:solidFill>
                <a:latin typeface="Segoe UI"/>
              </a:rPr>
              <a:t>“enum으로 컴파일 타임에 오류 감지”</a:t>
            </a:r>
          </a:p>
          <a:p>
            <a:pPr>
              <a:spcBef>
                <a:spcPts val="400"/>
              </a:spcBef>
            </a:pPr>
            <a:endParaRPr lang="ko-KR" altLang="en-US" sz="1100" i="1" dirty="0">
              <a:solidFill>
                <a:srgbClr val="CBD5E0"/>
              </a:solidFill>
              <a:latin typeface="Segoe UI"/>
              <a:ea typeface="맑은 고딕"/>
            </a:endParaRPr>
          </a:p>
          <a:p>
            <a:pPr>
              <a:spcBef>
                <a:spcPts val="350"/>
              </a:spcBef>
              <a:buNone/>
            </a:pPr>
            <a:r>
              <a:rPr lang="en-US" sz="1100" b="1" dirty="0">
                <a:solidFill>
                  <a:srgbClr val="FC8181"/>
                </a:solidFill>
                <a:latin typeface="Segoe UI"/>
              </a:rPr>
              <a:t>Before </a:t>
            </a:r>
            <a:r>
              <a:rPr lang="en-US" sz="1100" dirty="0">
                <a:solidFill>
                  <a:srgbClr val="E8EAF0"/>
                </a:solidFill>
                <a:latin typeface="Consolas"/>
              </a:rPr>
              <a:t>case "+": ...  // </a:t>
            </a:r>
            <a:r>
              <a:rPr lang="en-US" sz="1100" dirty="0" err="1">
                <a:solidFill>
                  <a:srgbClr val="E8EAF0"/>
                </a:solidFill>
                <a:latin typeface="Consolas"/>
              </a:rPr>
              <a:t>오타도</a:t>
            </a:r>
            <a:r>
              <a:rPr lang="en-US" sz="1100" dirty="0">
                <a:solidFill>
                  <a:srgbClr val="E8EAF0"/>
                </a:solidFill>
                <a:latin typeface="Consolas"/>
              </a:rPr>
              <a:t> </a:t>
            </a:r>
            <a:r>
              <a:rPr lang="en-US" sz="1100" dirty="0" err="1">
                <a:solidFill>
                  <a:srgbClr val="E8EAF0"/>
                </a:solidFill>
                <a:latin typeface="Consolas"/>
              </a:rPr>
              <a:t>런타임에야</a:t>
            </a:r>
            <a:r>
              <a:rPr lang="en-US" sz="1100" dirty="0">
                <a:solidFill>
                  <a:srgbClr val="E8EAF0"/>
                </a:solidFill>
                <a:latin typeface="Consolas"/>
              </a:rPr>
              <a:t> </a:t>
            </a:r>
            <a:r>
              <a:rPr lang="en-US" sz="1100" dirty="0" err="1">
                <a:solidFill>
                  <a:srgbClr val="E8EAF0"/>
                </a:solidFill>
                <a:latin typeface="Consolas"/>
              </a:rPr>
              <a:t>발견</a:t>
            </a:r>
          </a:p>
          <a:p>
            <a:pPr>
              <a:spcBef>
                <a:spcPts val="350"/>
              </a:spcBef>
              <a:buNone/>
            </a:pPr>
            <a:r>
              <a:rPr lang="en-US" sz="1100" b="1" dirty="0">
                <a:solidFill>
                  <a:srgbClr val="68D391"/>
                </a:solidFill>
                <a:latin typeface="Segoe UI"/>
              </a:rPr>
              <a:t>After </a:t>
            </a:r>
            <a:r>
              <a:rPr lang="en-US" sz="1100" dirty="0">
                <a:solidFill>
                  <a:srgbClr val="E8EAF0"/>
                </a:solidFill>
                <a:latin typeface="Consolas"/>
              </a:rPr>
              <a:t>case PLUS -&gt; ...  // </a:t>
            </a:r>
            <a:r>
              <a:rPr lang="en-US" sz="1100" dirty="0" err="1">
                <a:solidFill>
                  <a:srgbClr val="E8EAF0"/>
                </a:solidFill>
                <a:latin typeface="Consolas"/>
              </a:rPr>
              <a:t>미존재</a:t>
            </a:r>
            <a:r>
              <a:rPr lang="en-US" sz="1100" dirty="0">
                <a:solidFill>
                  <a:srgbClr val="E8EAF0"/>
                </a:solidFill>
                <a:latin typeface="Consolas"/>
              </a:rPr>
              <a:t> 값=</a:t>
            </a:r>
            <a:r>
              <a:rPr lang="en-US" sz="1100" dirty="0" err="1">
                <a:solidFill>
                  <a:srgbClr val="E8EAF0"/>
                </a:solidFill>
                <a:latin typeface="Consolas"/>
              </a:rPr>
              <a:t>컴파일</a:t>
            </a:r>
            <a:r>
              <a:rPr lang="en-US" sz="1100" dirty="0">
                <a:solidFill>
                  <a:srgbClr val="E8EAF0"/>
                </a:solidFill>
                <a:latin typeface="Consolas"/>
              </a:rPr>
              <a:t> </a:t>
            </a:r>
            <a:r>
              <a:rPr lang="en-US" sz="1100" dirty="0" err="1">
                <a:solidFill>
                  <a:srgbClr val="E8EAF0"/>
                </a:solidFill>
                <a:latin typeface="Consolas"/>
              </a:rPr>
              <a:t>에러</a:t>
            </a:r>
          </a:p>
        </p:txBody>
      </p:sp>
      <p:sp>
        <p:nvSpPr>
          <p:cNvPr id="7" name="ReviewCard2">
            <a:extLst>
              <a:ext uri="{FF2B5EF4-FFF2-40B4-BE49-F238E27FC236}">
                <a16:creationId xmlns:a16="http://schemas.microsoft.com/office/drawing/2014/main" id="{128ABA0A-EB91-45F1-ACDF-132DB8EBE202}"/>
              </a:ext>
            </a:extLst>
          </p:cNvPr>
          <p:cNvSpPr/>
          <p:nvPr/>
        </p:nvSpPr>
        <p:spPr>
          <a:xfrm>
            <a:off x="6350000" y="1905000"/>
            <a:ext cx="5689600" cy="2184400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F6AD5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03200" tIns="177800" rIns="203200" bIns="152400" rtlCol="0" anchor="t" anchorCtr="0"/>
          <a:lstStyle/>
          <a:p>
            <a:pPr>
              <a:buNone/>
            </a:pPr>
            <a:r>
              <a:rPr lang="en-US" altLang="ko-KR" sz="1400" b="1" dirty="0">
                <a:solidFill>
                  <a:srgbClr val="F6AD55"/>
                </a:solidFill>
                <a:latin typeface="Segoe UI"/>
              </a:rPr>
              <a:t>②</a:t>
            </a:r>
            <a:r>
              <a:rPr lang="en-US" sz="1400" b="1" dirty="0">
                <a:solidFill>
                  <a:srgbClr val="F6AD55"/>
                </a:solidFill>
                <a:latin typeface="Segoe UI"/>
              </a:rPr>
              <a:t>  </a:t>
            </a:r>
            <a:r>
              <a:rPr lang="ko-KR" sz="1400" b="1" dirty="0">
                <a:solidFill>
                  <a:srgbClr val="FFFFFF"/>
                </a:solidFill>
                <a:latin typeface="Segoe UI"/>
              </a:rPr>
              <a:t>향상된 switch 적용</a:t>
            </a:r>
          </a:p>
          <a:p>
            <a:pPr>
              <a:spcBef>
                <a:spcPts val="400"/>
              </a:spcBef>
              <a:buNone/>
            </a:pPr>
            <a:r>
              <a:rPr lang="en-US" sz="1100" i="1" dirty="0">
                <a:solidFill>
                  <a:srgbClr val="A0AEC0"/>
                </a:solidFill>
                <a:latin typeface="Segoe UI"/>
              </a:rPr>
              <a:t>@soysoybean22  </a:t>
            </a:r>
            <a:r>
              <a:rPr lang="ko-KR" sz="1100" i="1" dirty="0">
                <a:solidFill>
                  <a:srgbClr val="CBD5E0"/>
                </a:solidFill>
                <a:latin typeface="Segoe UI"/>
                <a:ea typeface="맑은 고딕"/>
              </a:rPr>
              <a:t>“향상된 </a:t>
            </a:r>
            <a:r>
              <a:rPr lang="ko-KR" sz="1100" i="1" dirty="0" err="1">
                <a:solidFill>
                  <a:srgbClr val="CBD5E0"/>
                </a:solidFill>
                <a:latin typeface="Segoe UI"/>
                <a:ea typeface="맑은 고딕"/>
              </a:rPr>
              <a:t>switch</a:t>
            </a:r>
            <a:r>
              <a:rPr lang="ko-KR" altLang="en-US" sz="1100" i="1" dirty="0" err="1">
                <a:solidFill>
                  <a:srgbClr val="CBD5E0"/>
                </a:solidFill>
                <a:latin typeface="Segoe UI"/>
                <a:ea typeface="맑은 고딕"/>
              </a:rPr>
              <a:t>문으로</a:t>
            </a:r>
            <a:r>
              <a:rPr lang="ko-KR" sz="1100" i="1" dirty="0">
                <a:solidFill>
                  <a:srgbClr val="CBD5E0"/>
                </a:solidFill>
                <a:latin typeface="Segoe UI"/>
                <a:ea typeface="맑은 고딕"/>
              </a:rPr>
              <a:t> </a:t>
            </a:r>
            <a:r>
              <a:rPr lang="ko-KR" sz="1100" i="1" dirty="0" err="1">
                <a:solidFill>
                  <a:srgbClr val="CBD5E0"/>
                </a:solidFill>
                <a:latin typeface="Segoe UI"/>
                <a:ea typeface="맑은 고딕"/>
              </a:rPr>
              <a:t>fall-through</a:t>
            </a:r>
            <a:r>
              <a:rPr lang="ko-KR" sz="1100" i="1" dirty="0">
                <a:solidFill>
                  <a:srgbClr val="CBD5E0"/>
                </a:solidFill>
                <a:latin typeface="Segoe UI"/>
                <a:ea typeface="맑은 고딕"/>
              </a:rPr>
              <a:t> 차단”</a:t>
            </a:r>
            <a:endParaRPr lang="ko-KR" sz="1100" i="1" dirty="0">
              <a:solidFill>
                <a:srgbClr val="CBD5E0"/>
              </a:solidFill>
              <a:latin typeface="Segoe UI"/>
              <a:ea typeface="맑은 고딕"/>
              <a:cs typeface="Segoe UI"/>
            </a:endParaRPr>
          </a:p>
          <a:p>
            <a:pPr>
              <a:spcBef>
                <a:spcPts val="400"/>
              </a:spcBef>
            </a:pPr>
            <a:endParaRPr lang="ko-KR" altLang="en-US" sz="1100" i="1" dirty="0">
              <a:solidFill>
                <a:srgbClr val="CBD5E0"/>
              </a:solidFill>
              <a:latin typeface="Segoe UI"/>
              <a:ea typeface="맑은 고딕"/>
            </a:endParaRPr>
          </a:p>
          <a:p>
            <a:pPr>
              <a:spcBef>
                <a:spcPts val="350"/>
              </a:spcBef>
              <a:buNone/>
            </a:pPr>
            <a:r>
              <a:rPr lang="en-US" sz="1100" b="1" dirty="0">
                <a:solidFill>
                  <a:srgbClr val="FC8181"/>
                </a:solidFill>
                <a:latin typeface="Segoe UI"/>
              </a:rPr>
              <a:t>Before </a:t>
            </a:r>
            <a:r>
              <a:rPr lang="en-US" sz="1100" dirty="0">
                <a:solidFill>
                  <a:srgbClr val="E8EAF0"/>
                </a:solidFill>
                <a:latin typeface="Consolas"/>
              </a:rPr>
              <a:t>case '(': </a:t>
            </a:r>
            <a:r>
              <a:rPr lang="en-US" sz="1100" dirty="0" err="1">
                <a:solidFill>
                  <a:srgbClr val="E8EAF0"/>
                </a:solidFill>
                <a:latin typeface="Consolas"/>
              </a:rPr>
              <a:t>addToken</a:t>
            </a:r>
            <a:r>
              <a:rPr lang="en-US" sz="1100" dirty="0">
                <a:solidFill>
                  <a:srgbClr val="E8EAF0"/>
                </a:solidFill>
                <a:latin typeface="Consolas"/>
              </a:rPr>
              <a:t>(...); break;  // break </a:t>
            </a:r>
            <a:r>
              <a:rPr lang="en-US" sz="1100" dirty="0" err="1">
                <a:solidFill>
                  <a:srgbClr val="E8EAF0"/>
                </a:solidFill>
                <a:latin typeface="Consolas"/>
              </a:rPr>
              <a:t>누락</a:t>
            </a:r>
            <a:r>
              <a:rPr lang="en-US" sz="1100" dirty="0">
                <a:solidFill>
                  <a:srgbClr val="E8EAF0"/>
                </a:solidFill>
                <a:latin typeface="Consolas"/>
              </a:rPr>
              <a:t> </a:t>
            </a:r>
            <a:r>
              <a:rPr lang="en-US" sz="1100" dirty="0" err="1">
                <a:solidFill>
                  <a:srgbClr val="E8EAF0"/>
                </a:solidFill>
                <a:latin typeface="Consolas"/>
              </a:rPr>
              <a:t>위험</a:t>
            </a:r>
            <a:endParaRPr lang="en-US" sz="1100" dirty="0">
              <a:solidFill>
                <a:srgbClr val="E8EAF0"/>
              </a:solidFill>
              <a:latin typeface="Consolas"/>
            </a:endParaRPr>
          </a:p>
          <a:p>
            <a:pPr>
              <a:spcBef>
                <a:spcPts val="350"/>
              </a:spcBef>
              <a:buNone/>
            </a:pPr>
            <a:r>
              <a:rPr lang="en-US" sz="1100" b="1" dirty="0">
                <a:solidFill>
                  <a:srgbClr val="68D391"/>
                </a:solidFill>
                <a:latin typeface="Segoe UI"/>
              </a:rPr>
              <a:t>After </a:t>
            </a:r>
            <a:r>
              <a:rPr lang="en-US" sz="1100" dirty="0">
                <a:solidFill>
                  <a:srgbClr val="E8EAF0"/>
                </a:solidFill>
                <a:latin typeface="Consolas"/>
              </a:rPr>
              <a:t>case '(' -&gt; </a:t>
            </a:r>
            <a:r>
              <a:rPr lang="en-US" sz="1100" dirty="0" err="1">
                <a:solidFill>
                  <a:srgbClr val="E8EAF0"/>
                </a:solidFill>
                <a:latin typeface="Consolas"/>
              </a:rPr>
              <a:t>addToken</a:t>
            </a:r>
            <a:r>
              <a:rPr lang="en-US" sz="1100" dirty="0">
                <a:solidFill>
                  <a:srgbClr val="E8EAF0"/>
                </a:solidFill>
                <a:latin typeface="Consolas"/>
              </a:rPr>
              <a:t>(...);  // fall-through </a:t>
            </a:r>
            <a:r>
              <a:rPr lang="en-US" sz="1100" dirty="0" err="1">
                <a:solidFill>
                  <a:srgbClr val="E8EAF0"/>
                </a:solidFill>
                <a:latin typeface="Consolas"/>
              </a:rPr>
              <a:t>불가</a:t>
            </a:r>
            <a:endParaRPr lang="en-US" sz="1100" dirty="0">
              <a:solidFill>
                <a:srgbClr val="E8EAF0"/>
              </a:solidFill>
              <a:latin typeface="Consolas"/>
            </a:endParaRPr>
          </a:p>
        </p:txBody>
      </p:sp>
      <p:sp>
        <p:nvSpPr>
          <p:cNvPr id="9" name="ReviewCard3">
            <a:extLst>
              <a:ext uri="{FF2B5EF4-FFF2-40B4-BE49-F238E27FC236}">
                <a16:creationId xmlns:a16="http://schemas.microsoft.com/office/drawing/2014/main" id="{748D5BFF-27EF-4638-A2D1-077FBA0460A0}"/>
              </a:ext>
            </a:extLst>
          </p:cNvPr>
          <p:cNvSpPr/>
          <p:nvPr/>
        </p:nvSpPr>
        <p:spPr>
          <a:xfrm>
            <a:off x="609600" y="4216400"/>
            <a:ext cx="5486400" cy="2184400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63B3E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03199" tIns="177800" rIns="203199" bIns="152399" rtlCol="0" anchor="t" anchorCtr="0"/>
          <a:lstStyle/>
          <a:p>
            <a:pPr>
              <a:buNone/>
            </a:pPr>
            <a:r>
              <a:rPr lang="en-US" sz="1400" b="1" dirty="0">
                <a:solidFill>
                  <a:srgbClr val="63B3ED"/>
                </a:solidFill>
                <a:latin typeface="Segoe UI"/>
              </a:rPr>
              <a:t>③  </a:t>
            </a:r>
            <a:r>
              <a:rPr lang="ko-KR" sz="1400" b="1" dirty="0">
                <a:solidFill>
                  <a:srgbClr val="FFFFFF"/>
                </a:solidFill>
                <a:latin typeface="Segoe UI"/>
                <a:ea typeface="맑은 고딕"/>
              </a:rPr>
              <a:t>+ 연산자 문자열 연결 버그</a:t>
            </a:r>
          </a:p>
          <a:p>
            <a:pPr>
              <a:spcBef>
                <a:spcPts val="400"/>
              </a:spcBef>
              <a:buNone/>
            </a:pPr>
            <a:r>
              <a:rPr lang="en-US" sz="1100" i="1" dirty="0">
                <a:solidFill>
                  <a:srgbClr val="A0AEC0"/>
                </a:solidFill>
                <a:latin typeface="Segoe UI"/>
              </a:rPr>
              <a:t>@insungahn  </a:t>
            </a:r>
            <a:r>
              <a:rPr lang="ko-KR" sz="1100" i="1" dirty="0">
                <a:solidFill>
                  <a:srgbClr val="CBD5E0"/>
                </a:solidFill>
                <a:latin typeface="Segoe UI"/>
                <a:ea typeface="맑은 고딕"/>
              </a:rPr>
              <a:t>“String 피연산자에서 오류 발생”</a:t>
            </a:r>
            <a:endParaRPr lang="ko-KR" dirty="0">
              <a:ea typeface="맑은 고딕"/>
            </a:endParaRPr>
          </a:p>
          <a:p>
            <a:pPr>
              <a:spcBef>
                <a:spcPts val="400"/>
              </a:spcBef>
            </a:pPr>
            <a:endParaRPr lang="ko-KR" altLang="en-US" sz="1100" i="1" dirty="0">
              <a:solidFill>
                <a:srgbClr val="CBD5E0"/>
              </a:solidFill>
              <a:latin typeface="Segoe UI"/>
              <a:ea typeface="맑은 고딕"/>
            </a:endParaRPr>
          </a:p>
          <a:p>
            <a:pPr>
              <a:spcBef>
                <a:spcPts val="350"/>
              </a:spcBef>
              <a:buNone/>
            </a:pPr>
            <a:r>
              <a:rPr lang="en-US" sz="1100" b="1" dirty="0">
                <a:solidFill>
                  <a:srgbClr val="FC8181"/>
                </a:solidFill>
                <a:latin typeface="Segoe UI"/>
              </a:rPr>
              <a:t>Before </a:t>
            </a:r>
            <a:r>
              <a:rPr lang="en-US" sz="1100" dirty="0" err="1">
                <a:solidFill>
                  <a:srgbClr val="E8EAF0"/>
                </a:solidFill>
                <a:latin typeface="Consolas"/>
              </a:rPr>
              <a:t>checkNumberOperands</a:t>
            </a:r>
            <a:r>
              <a:rPr lang="en-US" sz="1100" dirty="0">
                <a:solidFill>
                  <a:srgbClr val="E8EAF0"/>
                </a:solidFill>
                <a:latin typeface="Consolas"/>
              </a:rPr>
              <a:t>(...)  // </a:t>
            </a:r>
            <a:r>
              <a:rPr lang="en-US" sz="1100" dirty="0" err="1">
                <a:solidFill>
                  <a:srgbClr val="E8EAF0"/>
                </a:solidFill>
                <a:latin typeface="Consolas"/>
              </a:rPr>
              <a:t>숫자만</a:t>
            </a:r>
            <a:r>
              <a:rPr lang="en-US" sz="1100" dirty="0">
                <a:solidFill>
                  <a:srgbClr val="E8EAF0"/>
                </a:solidFill>
                <a:latin typeface="Consolas"/>
              </a:rPr>
              <a:t> </a:t>
            </a:r>
            <a:r>
              <a:rPr lang="en-US" sz="1100" dirty="0" err="1">
                <a:solidFill>
                  <a:srgbClr val="E8EAF0"/>
                </a:solidFill>
                <a:latin typeface="Consolas"/>
              </a:rPr>
              <a:t>처리</a:t>
            </a:r>
            <a:endParaRPr lang="en-US" dirty="0"/>
          </a:p>
          <a:p>
            <a:pPr>
              <a:spcBef>
                <a:spcPts val="350"/>
              </a:spcBef>
              <a:buNone/>
            </a:pPr>
            <a:r>
              <a:rPr lang="en-US" sz="1100" b="1" dirty="0">
                <a:solidFill>
                  <a:srgbClr val="68D391"/>
                </a:solidFill>
                <a:latin typeface="Segoe UI"/>
              </a:rPr>
              <a:t>After </a:t>
            </a:r>
            <a:r>
              <a:rPr lang="en-US" sz="1100" dirty="0">
                <a:solidFill>
                  <a:srgbClr val="E8EAF0"/>
                </a:solidFill>
                <a:latin typeface="Consolas"/>
              </a:rPr>
              <a:t>if (l </a:t>
            </a:r>
            <a:r>
              <a:rPr lang="en-US" sz="1100" dirty="0" err="1">
                <a:solidFill>
                  <a:srgbClr val="E8EAF0"/>
                </a:solidFill>
                <a:latin typeface="Consolas"/>
              </a:rPr>
              <a:t>instanceof</a:t>
            </a:r>
            <a:r>
              <a:rPr lang="en-US" sz="1100" dirty="0">
                <a:solidFill>
                  <a:srgbClr val="E8EAF0"/>
                </a:solidFill>
                <a:latin typeface="Consolas"/>
              </a:rPr>
              <a:t> String) return </a:t>
            </a:r>
            <a:r>
              <a:rPr lang="en-US" sz="1100" dirty="0" err="1">
                <a:solidFill>
                  <a:srgbClr val="E8EAF0"/>
                </a:solidFill>
                <a:latin typeface="Consolas"/>
              </a:rPr>
              <a:t>l+r</a:t>
            </a:r>
            <a:r>
              <a:rPr lang="en-US" sz="1100" dirty="0">
                <a:solidFill>
                  <a:srgbClr val="E8EAF0"/>
                </a:solidFill>
                <a:latin typeface="Consolas"/>
              </a:rPr>
              <a:t>;</a:t>
            </a:r>
            <a:endParaRPr lang="en-US" dirty="0"/>
          </a:p>
        </p:txBody>
      </p:sp>
      <p:sp>
        <p:nvSpPr>
          <p:cNvPr id="16" name="ReviewCard4">
            <a:extLst>
              <a:ext uri="{FF2B5EF4-FFF2-40B4-BE49-F238E27FC236}">
                <a16:creationId xmlns:a16="http://schemas.microsoft.com/office/drawing/2014/main" id="{DCF63151-3F4F-409F-A285-0A4CBFBFE08C}"/>
              </a:ext>
            </a:extLst>
          </p:cNvPr>
          <p:cNvSpPr/>
          <p:nvPr/>
        </p:nvSpPr>
        <p:spPr>
          <a:xfrm>
            <a:off x="6350000" y="4216400"/>
            <a:ext cx="5689600" cy="2184400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FC818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203200" tIns="177800" rIns="203200" bIns="152400" rtlCol="0" anchor="t" anchorCtr="0"/>
          <a:lstStyle/>
          <a:p>
            <a:pPr>
              <a:buNone/>
            </a:pPr>
            <a:r>
              <a:rPr lang="en-US" sz="1400" b="1" dirty="0">
                <a:solidFill>
                  <a:srgbClr val="FC8181"/>
                </a:solidFill>
                <a:latin typeface="Segoe UI"/>
              </a:rPr>
              <a:t>④  </a:t>
            </a:r>
            <a:r>
              <a:rPr lang="ko-KR" sz="1400" b="1" dirty="0">
                <a:solidFill>
                  <a:srgbClr val="FFFFFF"/>
                </a:solidFill>
                <a:latin typeface="Segoe UI"/>
              </a:rPr>
              <a:t>visitIndexSet 타입 검사 누락</a:t>
            </a:r>
          </a:p>
          <a:p>
            <a:pPr>
              <a:spcBef>
                <a:spcPts val="400"/>
              </a:spcBef>
              <a:buNone/>
            </a:pPr>
            <a:r>
              <a:rPr lang="en-US" sz="1100" i="1" dirty="0">
                <a:solidFill>
                  <a:srgbClr val="A0AEC0"/>
                </a:solidFill>
                <a:latin typeface="Segoe UI"/>
              </a:rPr>
              <a:t>@YongbonJeon  </a:t>
            </a:r>
            <a:r>
              <a:rPr lang="ko-KR" sz="1100" i="1" dirty="0">
                <a:solidFill>
                  <a:srgbClr val="CBD5E0"/>
                </a:solidFill>
                <a:latin typeface="Segoe UI"/>
                <a:ea typeface="맑은 고딕"/>
              </a:rPr>
              <a:t>“비배열에 인덱스 쓰기가 통과됨”</a:t>
            </a:r>
            <a:endParaRPr lang="ko-KR" sz="1100" i="1" dirty="0">
              <a:solidFill>
                <a:srgbClr val="CBD5E0"/>
              </a:solidFill>
              <a:latin typeface="Segoe UI"/>
              <a:ea typeface="맑은 고딕"/>
              <a:cs typeface="Segoe UI"/>
            </a:endParaRPr>
          </a:p>
          <a:p>
            <a:pPr>
              <a:spcBef>
                <a:spcPts val="350"/>
              </a:spcBef>
              <a:buNone/>
            </a:pPr>
            <a:r>
              <a:rPr lang="en-US" sz="1100" b="1" dirty="0">
                <a:solidFill>
                  <a:srgbClr val="FC8181"/>
                </a:solidFill>
                <a:latin typeface="Segoe UI"/>
                <a:cs typeface="Segoe UI"/>
              </a:rPr>
              <a:t>Before </a:t>
            </a:r>
            <a:endParaRPr lang="ko-KR" sz="1100" dirty="0">
              <a:latin typeface="Segoe UI"/>
              <a:cs typeface="Segoe UI"/>
            </a:endParaRPr>
          </a:p>
          <a:p>
            <a:r>
              <a:rPr lang="en-US" sz="1000" dirty="0">
                <a:solidFill>
                  <a:srgbClr val="E8EAF0"/>
                </a:solidFill>
                <a:latin typeface="Consolas"/>
                <a:ea typeface="+mn-lt"/>
                <a:cs typeface="+mn-lt"/>
              </a:rPr>
              <a:t>  int index = </a:t>
            </a:r>
            <a:r>
              <a:rPr lang="en-US" sz="1000" dirty="0" err="1">
                <a:solidFill>
                  <a:srgbClr val="E8EAF0"/>
                </a:solidFill>
                <a:latin typeface="Consolas"/>
                <a:ea typeface="+mn-lt"/>
                <a:cs typeface="+mn-lt"/>
              </a:rPr>
              <a:t>indexOf</a:t>
            </a:r>
            <a:r>
              <a:rPr lang="en-US" sz="1000" dirty="0">
                <a:solidFill>
                  <a:srgbClr val="E8EAF0"/>
                </a:solidFill>
                <a:latin typeface="Consolas"/>
                <a:ea typeface="+mn-lt"/>
                <a:cs typeface="+mn-lt"/>
              </a:rPr>
              <a:t>(</a:t>
            </a:r>
            <a:r>
              <a:rPr lang="en-US" sz="1000" dirty="0" err="1">
                <a:solidFill>
                  <a:srgbClr val="E8EAF0"/>
                </a:solidFill>
                <a:latin typeface="Consolas"/>
                <a:ea typeface="+mn-lt"/>
                <a:cs typeface="+mn-lt"/>
              </a:rPr>
              <a:t>expr.index</a:t>
            </a:r>
            <a:r>
              <a:rPr lang="en-US" sz="1000" dirty="0">
                <a:solidFill>
                  <a:srgbClr val="E8EAF0"/>
                </a:solidFill>
                <a:latin typeface="Consolas"/>
                <a:ea typeface="+mn-lt"/>
                <a:cs typeface="+mn-lt"/>
              </a:rPr>
              <a:t>, </a:t>
            </a:r>
            <a:r>
              <a:rPr lang="en-US" sz="1000" dirty="0" err="1">
                <a:solidFill>
                  <a:srgbClr val="E8EAF0"/>
                </a:solidFill>
                <a:latin typeface="Consolas"/>
                <a:ea typeface="+mn-lt"/>
                <a:cs typeface="+mn-lt"/>
              </a:rPr>
              <a:t>expr.bracket</a:t>
            </a:r>
            <a:r>
              <a:rPr lang="en-US" sz="1000" dirty="0">
                <a:solidFill>
                  <a:srgbClr val="E8EAF0"/>
                </a:solidFill>
                <a:latin typeface="Consolas"/>
                <a:ea typeface="+mn-lt"/>
                <a:cs typeface="+mn-lt"/>
              </a:rPr>
              <a:t>, (CodeFabArray) target);</a:t>
            </a:r>
            <a:endParaRPr lang="ko-KR" altLang="en-US" sz="1000" dirty="0">
              <a:solidFill>
                <a:srgbClr val="E8EAF0"/>
              </a:solidFill>
              <a:latin typeface="Consolas"/>
              <a:ea typeface="맑은 고딕"/>
              <a:cs typeface="Segoe UI"/>
            </a:endParaRPr>
          </a:p>
          <a:p>
            <a:r>
              <a:rPr lang="en-US" sz="1100" b="1" dirty="0">
                <a:solidFill>
                  <a:srgbClr val="68D391"/>
                </a:solidFill>
                <a:latin typeface="Segoe UI"/>
                <a:ea typeface="+mn-lt"/>
                <a:cs typeface="+mn-lt"/>
              </a:rPr>
              <a:t>After </a:t>
            </a:r>
            <a:endParaRPr lang="ko-KR" sz="1100" dirty="0">
              <a:latin typeface="Segoe UI"/>
            </a:endParaRPr>
          </a:p>
          <a:p>
            <a:r>
              <a:rPr lang="en-US" sz="1000" dirty="0">
                <a:solidFill>
                  <a:srgbClr val="E8EAF0"/>
                </a:solidFill>
                <a:latin typeface="Consolas"/>
                <a:ea typeface="+mn-lt"/>
                <a:cs typeface="+mn-lt"/>
              </a:rPr>
              <a:t>  if (!(target </a:t>
            </a:r>
            <a:r>
              <a:rPr lang="en-US" sz="1000" dirty="0" err="1">
                <a:solidFill>
                  <a:srgbClr val="E8EAF0"/>
                </a:solidFill>
                <a:latin typeface="Consolas"/>
                <a:ea typeface="+mn-lt"/>
                <a:cs typeface="+mn-lt"/>
              </a:rPr>
              <a:t>instanceof</a:t>
            </a:r>
            <a:r>
              <a:rPr lang="en-US" sz="1000" dirty="0">
                <a:solidFill>
                  <a:srgbClr val="E8EAF0"/>
                </a:solidFill>
                <a:latin typeface="Consolas"/>
                <a:ea typeface="+mn-lt"/>
                <a:cs typeface="+mn-lt"/>
              </a:rPr>
              <a:t> CodeFabArray array)) {</a:t>
            </a:r>
            <a:endParaRPr lang="en-US" sz="1000" dirty="0">
              <a:latin typeface="Consolas"/>
            </a:endParaRPr>
          </a:p>
          <a:p>
            <a:r>
              <a:rPr lang="en-US" sz="1000" dirty="0">
                <a:solidFill>
                  <a:srgbClr val="E8EAF0"/>
                </a:solidFill>
                <a:latin typeface="Consolas"/>
                <a:ea typeface="+mn-lt"/>
                <a:cs typeface="+mn-lt"/>
              </a:rPr>
              <a:t>      throw new </a:t>
            </a:r>
            <a:r>
              <a:rPr lang="en-US" sz="1000" dirty="0" err="1">
                <a:solidFill>
                  <a:srgbClr val="E8EAF0"/>
                </a:solidFill>
                <a:latin typeface="Consolas"/>
                <a:ea typeface="+mn-lt"/>
                <a:cs typeface="+mn-lt"/>
              </a:rPr>
              <a:t>ExecutionError</a:t>
            </a:r>
            <a:r>
              <a:rPr lang="en-US" sz="1000" dirty="0">
                <a:solidFill>
                  <a:srgbClr val="E8EAF0"/>
                </a:solidFill>
                <a:latin typeface="Consolas"/>
                <a:ea typeface="+mn-lt"/>
                <a:cs typeface="+mn-lt"/>
              </a:rPr>
              <a:t>(</a:t>
            </a:r>
            <a:r>
              <a:rPr lang="en-US" sz="1000" dirty="0" err="1">
                <a:solidFill>
                  <a:srgbClr val="E8EAF0"/>
                </a:solidFill>
                <a:latin typeface="Consolas"/>
                <a:ea typeface="+mn-lt"/>
                <a:cs typeface="+mn-lt"/>
              </a:rPr>
              <a:t>expr.bracket.line</a:t>
            </a:r>
            <a:r>
              <a:rPr lang="en-US" sz="1000" dirty="0">
                <a:solidFill>
                  <a:srgbClr val="E8EAF0"/>
                </a:solidFill>
                <a:latin typeface="Consolas"/>
                <a:ea typeface="+mn-lt"/>
                <a:cs typeface="+mn-lt"/>
              </a:rPr>
              <a:t>, "</a:t>
            </a:r>
            <a:r>
              <a:rPr lang="ko-KR" altLang="en-US" sz="1000" dirty="0">
                <a:solidFill>
                  <a:srgbClr val="E8EAF0"/>
                </a:solidFill>
                <a:latin typeface="Consolas"/>
                <a:ea typeface="+mn-lt"/>
                <a:cs typeface="+mn-lt"/>
              </a:rPr>
              <a:t>인덱스</a:t>
            </a:r>
            <a:r>
              <a:rPr lang="en-US" altLang="ko-KR" sz="1000" dirty="0">
                <a:solidFill>
                  <a:srgbClr val="E8EAF0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ko-KR" altLang="en-US" sz="1000" dirty="0">
                <a:solidFill>
                  <a:srgbClr val="E8EAF0"/>
                </a:solidFill>
                <a:latin typeface="Consolas"/>
                <a:ea typeface="+mn-lt"/>
                <a:cs typeface="+mn-lt"/>
              </a:rPr>
              <a:t>접근은</a:t>
            </a:r>
            <a:r>
              <a:rPr lang="en-US" altLang="ko-KR" sz="1000" dirty="0">
                <a:solidFill>
                  <a:srgbClr val="E8EAF0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ko-KR" altLang="en-US" sz="1000" dirty="0">
                <a:solidFill>
                  <a:srgbClr val="E8EAF0"/>
                </a:solidFill>
                <a:latin typeface="Consolas"/>
                <a:ea typeface="+mn-lt"/>
                <a:cs typeface="+mn-lt"/>
              </a:rPr>
              <a:t>배열만</a:t>
            </a:r>
            <a:r>
              <a:rPr lang="en-US" altLang="ko-KR" sz="1000" dirty="0">
                <a:solidFill>
                  <a:srgbClr val="E8EAF0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ko-KR" altLang="en-US" sz="1000" dirty="0">
                <a:solidFill>
                  <a:srgbClr val="E8EAF0"/>
                </a:solidFill>
                <a:latin typeface="Consolas"/>
                <a:ea typeface="+mn-lt"/>
                <a:cs typeface="+mn-lt"/>
              </a:rPr>
              <a:t>지원합니다</a:t>
            </a:r>
            <a:r>
              <a:rPr lang="en-US" sz="1000" dirty="0">
                <a:solidFill>
                  <a:srgbClr val="E8EAF0"/>
                </a:solidFill>
                <a:latin typeface="Consolas"/>
                <a:ea typeface="+mn-lt"/>
                <a:cs typeface="+mn-lt"/>
              </a:rPr>
              <a:t>.");</a:t>
            </a:r>
            <a:endParaRPr lang="en-US" sz="1000" dirty="0">
              <a:latin typeface="Consolas"/>
            </a:endParaRPr>
          </a:p>
          <a:p>
            <a:pPr>
              <a:spcBef>
                <a:spcPts val="350"/>
              </a:spcBef>
            </a:pPr>
            <a:r>
              <a:rPr lang="en-US" sz="1000" dirty="0">
                <a:solidFill>
                  <a:srgbClr val="E8EAF0"/>
                </a:solidFill>
                <a:latin typeface="Consolas"/>
                <a:ea typeface="+mn-lt"/>
                <a:cs typeface="+mn-lt"/>
              </a:rPr>
              <a:t>  }</a:t>
            </a:r>
            <a:endParaRPr lang="en-US" sz="1000" dirty="0">
              <a:solidFill>
                <a:srgbClr val="E8EAF0"/>
              </a:solidFill>
              <a:latin typeface="Consolas"/>
            </a:endParaRPr>
          </a:p>
        </p:txBody>
      </p:sp>
      <p:sp>
        <p:nvSpPr>
          <p:cNvPr id="17" name="ReviewFooter">
            <a:extLst>
              <a:ext uri="{FF2B5EF4-FFF2-40B4-BE49-F238E27FC236}">
                <a16:creationId xmlns:a16="http://schemas.microsoft.com/office/drawing/2014/main" id="{5B368079-39C6-4C9C-AFE6-FFA45144D9AE}"/>
              </a:ext>
            </a:extLst>
          </p:cNvPr>
          <p:cNvSpPr txBox="1"/>
          <p:nvPr/>
        </p:nvSpPr>
        <p:spPr>
          <a:xfrm>
            <a:off x="609600" y="6502400"/>
            <a:ext cx="11226800" cy="2794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tIns="0" bIns="0" rtlCol="0" anchor="t">
            <a:spAutoFit/>
          </a:bodyPr>
          <a:lstStyle/>
          <a:p>
            <a:pPr algn="l"/>
            <a:r>
              <a:rPr lang="ko-KR" altLang="en-US" sz="1300" i="1">
                <a:solidFill>
                  <a:srgbClr val="A0AEC0"/>
                </a:solidFill>
                <a:latin typeface="Segoe UI"/>
                <a:cs typeface="Segoe UI"/>
              </a:rPr>
              <a:t>리뷰어 코멘트 → 반영 커밋으로 직결된 실제 사례</a:t>
            </a:r>
          </a:p>
        </p:txBody>
      </p:sp>
    </p:spTree>
    <p:extLst>
      <p:ext uri="{BB962C8B-B14F-4D97-AF65-F5344CB8AC3E}">
        <p14:creationId xmlns:p14="http://schemas.microsoft.com/office/powerpoint/2010/main" val="8049481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E2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AccentBar">
            <a:extLst>
              <a:ext uri="{FF2B5EF4-FFF2-40B4-BE49-F238E27FC236}">
                <a16:creationId xmlns:a16="http://schemas.microsoft.com/office/drawing/2014/main" id="{29FF770E-C7F7-4489-AFB0-629CA43003E8}"/>
              </a:ext>
            </a:extLst>
          </p:cNvPr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1" name="Kicker">
            <a:extLst>
              <a:ext uri="{FF2B5EF4-FFF2-40B4-BE49-F238E27FC236}">
                <a16:creationId xmlns:a16="http://schemas.microsoft.com/office/drawing/2014/main" id="{5F14D70F-0A8D-4A1D-953F-A4685CBD72C9}"/>
              </a:ext>
            </a:extLst>
          </p:cNvPr>
          <p:cNvSpPr txBox="1"/>
          <p:nvPr/>
        </p:nvSpPr>
        <p:spPr>
          <a:xfrm>
            <a:off x="609600" y="482600"/>
            <a:ext cx="7620000" cy="307777"/>
          </a:xfrm>
          <a:prstGeom prst="rect">
            <a:avLst/>
          </a:prstGeom>
          <a:noFill/>
        </p:spPr>
        <p:txBody>
          <a:bodyPr vertOverflow="overflow" vert="horz" wrap="square" lIns="91440" tIns="45720" rIns="91440" bIns="45720" rtlCol="0" anchor="t">
            <a:spAutoFit/>
          </a:bodyPr>
          <a:lstStyle/>
          <a:p>
            <a:r>
              <a:rPr lang="en-US" sz="1400" b="1" dirty="0">
                <a:solidFill>
                  <a:srgbClr val="F6AD55"/>
                </a:solidFill>
                <a:latin typeface="Segoe UI"/>
              </a:rPr>
              <a:t>14 </a:t>
            </a:r>
            <a:r>
              <a:rPr lang="en-US" sz="1400" b="1" dirty="0" err="1">
                <a:solidFill>
                  <a:srgbClr val="F6AD55"/>
                </a:solidFill>
                <a:latin typeface="Segoe UI"/>
              </a:rPr>
              <a:t>GoF</a:t>
            </a:r>
            <a:r>
              <a:rPr lang="en-US" sz="1400" b="1" dirty="0">
                <a:solidFill>
                  <a:srgbClr val="F6AD55"/>
                </a:solidFill>
                <a:latin typeface="Segoe UI"/>
              </a:rPr>
              <a:t> </a:t>
            </a:r>
            <a:r>
              <a:rPr lang="ko-KR" altLang="en-US" sz="1400" b="1" dirty="0">
                <a:solidFill>
                  <a:srgbClr val="F6AD55"/>
                </a:solidFill>
                <a:latin typeface="Segoe UI"/>
                <a:ea typeface="맑은 고딕"/>
              </a:rPr>
              <a:t>디자인</a:t>
            </a:r>
            <a:r>
              <a:rPr lang="en-US" sz="1400" b="1" dirty="0">
                <a:solidFill>
                  <a:srgbClr val="F6AD55"/>
                </a:solidFill>
                <a:latin typeface="Segoe UI"/>
              </a:rPr>
              <a:t> </a:t>
            </a:r>
            <a:r>
              <a:rPr lang="ko-KR" altLang="en-US" sz="1400" b="1" dirty="0">
                <a:solidFill>
                  <a:srgbClr val="F6AD55"/>
                </a:solidFill>
                <a:latin typeface="Segoe UI"/>
                <a:ea typeface="맑은 고딕"/>
              </a:rPr>
              <a:t>패턴</a:t>
            </a:r>
            <a:r>
              <a:rPr lang="en-US" altLang="ko-KR" sz="1400" b="1" dirty="0">
                <a:solidFill>
                  <a:srgbClr val="F6AD55"/>
                </a:solidFill>
                <a:latin typeface="Segoe UI"/>
                <a:ea typeface="맑은 고딕"/>
              </a:rPr>
              <a:t> </a:t>
            </a:r>
            <a:r>
              <a:rPr lang="ko-KR" altLang="en-US" sz="1400" b="1" dirty="0">
                <a:solidFill>
                  <a:srgbClr val="F6AD55"/>
                </a:solidFill>
                <a:latin typeface="Segoe UI"/>
                <a:ea typeface="맑은 고딕"/>
              </a:rPr>
              <a:t>적용</a:t>
            </a:r>
            <a:endParaRPr lang="en-US" sz="1400" b="1" dirty="0">
              <a:solidFill>
                <a:srgbClr val="F6AD55"/>
              </a:solidFill>
              <a:latin typeface="Segoe UI"/>
              <a:cs typeface="Segoe UI"/>
            </a:endParaRPr>
          </a:p>
        </p:txBody>
      </p:sp>
      <p:sp>
        <p:nvSpPr>
          <p:cNvPr id="12" name="Title">
            <a:extLst>
              <a:ext uri="{FF2B5EF4-FFF2-40B4-BE49-F238E27FC236}">
                <a16:creationId xmlns:a16="http://schemas.microsoft.com/office/drawing/2014/main" id="{8E244791-8A37-4CDE-A7BA-6EE00A431333}"/>
              </a:ext>
            </a:extLst>
          </p:cNvPr>
          <p:cNvSpPr txBox="1"/>
          <p:nvPr/>
        </p:nvSpPr>
        <p:spPr>
          <a:xfrm>
            <a:off x="596900" y="787400"/>
            <a:ext cx="109728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ko-KR" sz="3200" b="1" dirty="0">
                <a:solidFill>
                  <a:srgbClr val="FFFFFF"/>
                </a:solidFill>
                <a:latin typeface="Segoe UI Semibold"/>
              </a:rPr>
              <a:t>AST 노드 · Visitor 패턴 적용</a:t>
            </a:r>
          </a:p>
        </p:txBody>
      </p:sp>
      <p:sp>
        <p:nvSpPr>
          <p:cNvPr id="13" name="TitleRule">
            <a:extLst>
              <a:ext uri="{FF2B5EF4-FFF2-40B4-BE49-F238E27FC236}">
                <a16:creationId xmlns:a16="http://schemas.microsoft.com/office/drawing/2014/main" id="{3CCA5443-E819-4314-9D2D-411125898B71}"/>
              </a:ext>
            </a:extLst>
          </p:cNvPr>
          <p:cNvSpPr/>
          <p:nvPr/>
        </p:nvSpPr>
        <p:spPr>
          <a:xfrm>
            <a:off x="609600" y="1549400"/>
            <a:ext cx="812800" cy="508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GoalCard">
            <a:extLst>
              <a:ext uri="{FF2B5EF4-FFF2-40B4-BE49-F238E27FC236}">
                <a16:creationId xmlns:a16="http://schemas.microsoft.com/office/drawing/2014/main" id="{D899334B-48AD-4693-8B67-68DA84742580}"/>
              </a:ext>
            </a:extLst>
          </p:cNvPr>
          <p:cNvSpPr/>
          <p:nvPr/>
        </p:nvSpPr>
        <p:spPr>
          <a:xfrm>
            <a:off x="600308" y="2032000"/>
            <a:ext cx="5386038" cy="4463585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FC818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04800" tIns="279400" rIns="304800" bIns="279400" rtlCol="0" anchor="t" anchorCtr="0"/>
          <a:lstStyle/>
          <a:p>
            <a:pPr>
              <a:buNone/>
            </a:pPr>
            <a:endParaRPr lang="en-US" altLang="ko-KR" sz="1500" b="1" dirty="0">
              <a:solidFill>
                <a:srgbClr val="4FD1C5"/>
              </a:solidFill>
              <a:latin typeface="Segoe UI"/>
              <a:ea typeface="맑은 고딕"/>
              <a:cs typeface="Segoe UI"/>
            </a:endParaRPr>
          </a:p>
        </p:txBody>
      </p:sp>
      <p:sp>
        <p:nvSpPr>
          <p:cNvPr id="15" name="TimelineCard">
            <a:extLst>
              <a:ext uri="{FF2B5EF4-FFF2-40B4-BE49-F238E27FC236}">
                <a16:creationId xmlns:a16="http://schemas.microsoft.com/office/drawing/2014/main" id="{F3BCE98E-382B-4AEA-83F6-8A8DE697831F}"/>
              </a:ext>
            </a:extLst>
          </p:cNvPr>
          <p:cNvSpPr/>
          <p:nvPr/>
        </p:nvSpPr>
        <p:spPr>
          <a:xfrm>
            <a:off x="5977054" y="2032000"/>
            <a:ext cx="5906428" cy="4463585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68D391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04800" tIns="279400" rIns="304800" bIns="279400" rtlCol="0" anchor="t" anchorCtr="0"/>
          <a:lstStyle/>
          <a:p>
            <a:pPr>
              <a:buNone/>
            </a:pPr>
            <a:endParaRPr lang="en-US" altLang="ko-KR" sz="1500" b="1" dirty="0">
              <a:solidFill>
                <a:srgbClr val="63B3ED"/>
              </a:solidFill>
              <a:latin typeface="Segoe UI"/>
              <a:cs typeface="Segoe UI"/>
            </a:endParaRPr>
          </a:p>
          <a:p>
            <a:endParaRPr lang="en-US" sz="1500" b="1" dirty="0">
              <a:solidFill>
                <a:srgbClr val="63B3ED"/>
              </a:solidFill>
              <a:latin typeface="Segoe UI"/>
              <a:cs typeface="Segoe UI"/>
            </a:endParaRPr>
          </a:p>
        </p:txBody>
      </p:sp>
      <p:pic>
        <p:nvPicPr>
          <p:cNvPr id="2" name="그림 1" descr="텍스트, 폰트, 화이트, 대수학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8DAC6B-A88C-863A-06B7-DCCED2357B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345" y="2706378"/>
            <a:ext cx="1990725" cy="962025"/>
          </a:xfrm>
          <a:prstGeom prst="rect">
            <a:avLst/>
          </a:prstGeom>
        </p:spPr>
      </p:pic>
      <p:pic>
        <p:nvPicPr>
          <p:cNvPr id="3" name="그림 2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A780E06-D596-A5CC-F809-8B5519DD4F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997" y="3892124"/>
            <a:ext cx="4686300" cy="2028825"/>
          </a:xfrm>
          <a:prstGeom prst="rect">
            <a:avLst/>
          </a:prstGeom>
        </p:spPr>
      </p:pic>
      <p:pic>
        <p:nvPicPr>
          <p:cNvPr id="4" name="그림 3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18B1940-47A8-A634-9526-B9C8F5A7E8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98244" y="2468021"/>
            <a:ext cx="5073341" cy="3836252"/>
          </a:xfrm>
          <a:prstGeom prst="rect">
            <a:avLst/>
          </a:prstGeom>
        </p:spPr>
      </p:pic>
      <p:sp>
        <p:nvSpPr>
          <p:cNvPr id="6" name="RefTopL">
            <a:extLst>
              <a:ext uri="{FF2B5EF4-FFF2-40B4-BE49-F238E27FC236}">
                <a16:creationId xmlns:a16="http://schemas.microsoft.com/office/drawing/2014/main" id="{51CFDCAD-CD80-7CE2-484E-16A37326C668}"/>
              </a:ext>
            </a:extLst>
          </p:cNvPr>
          <p:cNvSpPr txBox="1"/>
          <p:nvPr/>
        </p:nvSpPr>
        <p:spPr>
          <a:xfrm>
            <a:off x="961483" y="2192454"/>
            <a:ext cx="5334000" cy="215444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lIns="0" tIns="0" rIns="0" bIns="0" rtlCol="0" anchor="t">
            <a:spAutoFit/>
          </a:bodyPr>
          <a:lstStyle/>
          <a:p>
            <a:pPr algn="l"/>
            <a:r>
              <a:rPr lang="ko-KR" altLang="en-US" sz="1400" b="1">
                <a:solidFill>
                  <a:srgbClr val="FC8181"/>
                </a:solidFill>
                <a:latin typeface="Segoe UI"/>
                <a:ea typeface="맑은 고딕"/>
                <a:cs typeface="Segoe UI"/>
              </a:rPr>
              <a:t>Before</a:t>
            </a:r>
          </a:p>
        </p:txBody>
      </p:sp>
      <p:sp>
        <p:nvSpPr>
          <p:cNvPr id="8" name="RefTopR">
            <a:extLst>
              <a:ext uri="{FF2B5EF4-FFF2-40B4-BE49-F238E27FC236}">
                <a16:creationId xmlns:a16="http://schemas.microsoft.com/office/drawing/2014/main" id="{7C8C7BA4-22F3-0ABE-4EB8-5F562F0F9B25}"/>
              </a:ext>
            </a:extLst>
          </p:cNvPr>
          <p:cNvSpPr txBox="1"/>
          <p:nvPr/>
        </p:nvSpPr>
        <p:spPr>
          <a:xfrm>
            <a:off x="6696617" y="2192454"/>
            <a:ext cx="4572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lIns="0" tIns="0" rIns="0" bIns="0" rtlCol="0" anchor="t">
            <a:spAutoFit/>
          </a:bodyPr>
          <a:lstStyle/>
          <a:p>
            <a:pPr algn="l"/>
            <a:r>
              <a:rPr lang="af-ZA" altLang="ko-KR" sz="1400" b="1">
                <a:solidFill>
                  <a:srgbClr val="68D391"/>
                </a:solidFill>
                <a:latin typeface="Segoe UI"/>
                <a:cs typeface="Segoe UI"/>
              </a:rPr>
              <a:t>After</a:t>
            </a:r>
            <a:endParaRPr lang="ko-KR" altLang="en-US" sz="1400" b="1">
              <a:solidFill>
                <a:srgbClr val="68D391"/>
              </a:solidFill>
              <a:latin typeface="Segoe UI"/>
              <a:cs typeface="Segoe UI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350AC53-801D-40F7-BA84-F33B4EE8F9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96305" y="3306402"/>
            <a:ext cx="1405291" cy="928714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3BD4FD4C-9513-48AC-AD4A-B516E88C0FA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30090" y="2300176"/>
            <a:ext cx="1505160" cy="3696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94298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E2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AccentBar">
            <a:extLst>
              <a:ext uri="{FF2B5EF4-FFF2-40B4-BE49-F238E27FC236}">
                <a16:creationId xmlns:a16="http://schemas.microsoft.com/office/drawing/2014/main" id="{29FF770E-C7F7-4489-AFB0-629CA43003E8}"/>
              </a:ext>
            </a:extLst>
          </p:cNvPr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1" name="Kicker">
            <a:extLst>
              <a:ext uri="{FF2B5EF4-FFF2-40B4-BE49-F238E27FC236}">
                <a16:creationId xmlns:a16="http://schemas.microsoft.com/office/drawing/2014/main" id="{5F14D70F-0A8D-4A1D-953F-A4685CBD72C9}"/>
              </a:ext>
            </a:extLst>
          </p:cNvPr>
          <p:cNvSpPr txBox="1"/>
          <p:nvPr/>
        </p:nvSpPr>
        <p:spPr>
          <a:xfrm>
            <a:off x="609600" y="482600"/>
            <a:ext cx="76200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sz="1400" b="1" dirty="0">
                <a:solidFill>
                  <a:srgbClr val="F6AD55"/>
                </a:solidFill>
                <a:latin typeface="Segoe UI"/>
              </a:rPr>
              <a:t>15  기능 추가 ① 함수</a:t>
            </a:r>
          </a:p>
        </p:txBody>
      </p:sp>
      <p:sp>
        <p:nvSpPr>
          <p:cNvPr id="12" name="Title">
            <a:extLst>
              <a:ext uri="{FF2B5EF4-FFF2-40B4-BE49-F238E27FC236}">
                <a16:creationId xmlns:a16="http://schemas.microsoft.com/office/drawing/2014/main" id="{8E244791-8A37-4CDE-A7BA-6EE00A431333}"/>
              </a:ext>
            </a:extLst>
          </p:cNvPr>
          <p:cNvSpPr txBox="1"/>
          <p:nvPr/>
        </p:nvSpPr>
        <p:spPr>
          <a:xfrm>
            <a:off x="596900" y="787400"/>
            <a:ext cx="109728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ko-KR" sz="3200" b="1" dirty="0">
                <a:solidFill>
                  <a:srgbClr val="FFFFFF"/>
                </a:solidFill>
                <a:latin typeface="Segoe UI Semibold"/>
              </a:rPr>
              <a:t>함수 · 클로저 + Return 시그널</a:t>
            </a:r>
          </a:p>
        </p:txBody>
      </p:sp>
      <p:sp>
        <p:nvSpPr>
          <p:cNvPr id="13" name="TitleRule">
            <a:extLst>
              <a:ext uri="{FF2B5EF4-FFF2-40B4-BE49-F238E27FC236}">
                <a16:creationId xmlns:a16="http://schemas.microsoft.com/office/drawing/2014/main" id="{3CCA5443-E819-4314-9D2D-411125898B71}"/>
              </a:ext>
            </a:extLst>
          </p:cNvPr>
          <p:cNvSpPr/>
          <p:nvPr/>
        </p:nvSpPr>
        <p:spPr>
          <a:xfrm>
            <a:off x="609600" y="1549400"/>
            <a:ext cx="812800" cy="508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6" name="LinkCard">
            <a:extLst>
              <a:ext uri="{FF2B5EF4-FFF2-40B4-BE49-F238E27FC236}">
                <a16:creationId xmlns:a16="http://schemas.microsoft.com/office/drawing/2014/main" id="{96340078-F50D-45FB-BCBD-73B9023434D9}"/>
              </a:ext>
            </a:extLst>
          </p:cNvPr>
          <p:cNvSpPr/>
          <p:nvPr/>
        </p:nvSpPr>
        <p:spPr>
          <a:xfrm>
            <a:off x="5638800" y="2997200"/>
            <a:ext cx="914400" cy="914400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4FD1C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pic>
        <p:nvPicPr>
          <p:cNvPr id="17" name="Graphic 17" descr="코드 보기 링크">
            <a:hlinkClick r:id="rId2"/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29507" y="300091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93415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E2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AccentBar">
            <a:extLst>
              <a:ext uri="{FF2B5EF4-FFF2-40B4-BE49-F238E27FC236}">
                <a16:creationId xmlns:a16="http://schemas.microsoft.com/office/drawing/2014/main" id="{29FF770E-C7F7-4489-AFB0-629CA43003E8}"/>
              </a:ext>
            </a:extLst>
          </p:cNvPr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1" name="Kicker">
            <a:extLst>
              <a:ext uri="{FF2B5EF4-FFF2-40B4-BE49-F238E27FC236}">
                <a16:creationId xmlns:a16="http://schemas.microsoft.com/office/drawing/2014/main" id="{5F14D70F-0A8D-4A1D-953F-A4685CBD72C9}"/>
              </a:ext>
            </a:extLst>
          </p:cNvPr>
          <p:cNvSpPr txBox="1"/>
          <p:nvPr/>
        </p:nvSpPr>
        <p:spPr>
          <a:xfrm>
            <a:off x="609600" y="482600"/>
            <a:ext cx="76200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sz="1400" b="1" dirty="0">
                <a:solidFill>
                  <a:srgbClr val="F6AD55"/>
                </a:solidFill>
                <a:latin typeface="Segoe UI"/>
              </a:rPr>
              <a:t>16  기능 추가 ② 정적 배열</a:t>
            </a:r>
          </a:p>
        </p:txBody>
      </p:sp>
      <p:sp>
        <p:nvSpPr>
          <p:cNvPr id="12" name="Title">
            <a:extLst>
              <a:ext uri="{FF2B5EF4-FFF2-40B4-BE49-F238E27FC236}">
                <a16:creationId xmlns:a16="http://schemas.microsoft.com/office/drawing/2014/main" id="{8E244791-8A37-4CDE-A7BA-6EE00A431333}"/>
              </a:ext>
            </a:extLst>
          </p:cNvPr>
          <p:cNvSpPr txBox="1"/>
          <p:nvPr/>
        </p:nvSpPr>
        <p:spPr>
          <a:xfrm>
            <a:off x="596900" y="787400"/>
            <a:ext cx="109728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ko-KR" sz="3200" b="1" dirty="0">
                <a:solidFill>
                  <a:srgbClr val="FFFFFF"/>
                </a:solidFill>
                <a:latin typeface="Segoe UI Semibold"/>
              </a:rPr>
              <a:t>정적 배열 · 네이티브 함수 + indexOf</a:t>
            </a:r>
          </a:p>
        </p:txBody>
      </p:sp>
      <p:sp>
        <p:nvSpPr>
          <p:cNvPr id="13" name="TitleRule">
            <a:extLst>
              <a:ext uri="{FF2B5EF4-FFF2-40B4-BE49-F238E27FC236}">
                <a16:creationId xmlns:a16="http://schemas.microsoft.com/office/drawing/2014/main" id="{3CCA5443-E819-4314-9D2D-411125898B71}"/>
              </a:ext>
            </a:extLst>
          </p:cNvPr>
          <p:cNvSpPr/>
          <p:nvPr/>
        </p:nvSpPr>
        <p:spPr>
          <a:xfrm>
            <a:off x="609600" y="1549400"/>
            <a:ext cx="812800" cy="508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3" name="LinkCard">
            <a:extLst>
              <a:ext uri="{FF2B5EF4-FFF2-40B4-BE49-F238E27FC236}">
                <a16:creationId xmlns:a16="http://schemas.microsoft.com/office/drawing/2014/main" id="{23D48CA1-9DFF-4C52-B34D-87E56DCC6E1E}"/>
              </a:ext>
            </a:extLst>
          </p:cNvPr>
          <p:cNvSpPr/>
          <p:nvPr/>
        </p:nvSpPr>
        <p:spPr>
          <a:xfrm>
            <a:off x="5638800" y="2997200"/>
            <a:ext cx="914400" cy="914400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4FD1C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pic>
        <p:nvPicPr>
          <p:cNvPr id="14" name="Graphic 14" descr="코드 보기 링크">
            <a:hlinkClick r:id="rId2"/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35393" y="300091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08160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E2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AccentBar">
            <a:extLst>
              <a:ext uri="{FF2B5EF4-FFF2-40B4-BE49-F238E27FC236}">
                <a16:creationId xmlns:a16="http://schemas.microsoft.com/office/drawing/2014/main" id="{29FF770E-C7F7-4489-AFB0-629CA43003E8}"/>
              </a:ext>
            </a:extLst>
          </p:cNvPr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1" name="Kicker">
            <a:extLst>
              <a:ext uri="{FF2B5EF4-FFF2-40B4-BE49-F238E27FC236}">
                <a16:creationId xmlns:a16="http://schemas.microsoft.com/office/drawing/2014/main" id="{5F14D70F-0A8D-4A1D-953F-A4685CBD72C9}"/>
              </a:ext>
            </a:extLst>
          </p:cNvPr>
          <p:cNvSpPr txBox="1"/>
          <p:nvPr/>
        </p:nvSpPr>
        <p:spPr>
          <a:xfrm>
            <a:off x="609600" y="482600"/>
            <a:ext cx="76200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sz="1400" b="1" dirty="0">
                <a:solidFill>
                  <a:srgbClr val="F6AD55"/>
                </a:solidFill>
                <a:latin typeface="Segoe UI"/>
              </a:rPr>
              <a:t>17  기능 추가 ③ 실행 전 최적화</a:t>
            </a:r>
          </a:p>
        </p:txBody>
      </p:sp>
      <p:sp>
        <p:nvSpPr>
          <p:cNvPr id="12" name="Title">
            <a:extLst>
              <a:ext uri="{FF2B5EF4-FFF2-40B4-BE49-F238E27FC236}">
                <a16:creationId xmlns:a16="http://schemas.microsoft.com/office/drawing/2014/main" id="{8E244791-8A37-4CDE-A7BA-6EE00A431333}"/>
              </a:ext>
            </a:extLst>
          </p:cNvPr>
          <p:cNvSpPr txBox="1"/>
          <p:nvPr/>
        </p:nvSpPr>
        <p:spPr>
          <a:xfrm>
            <a:off x="596900" y="787400"/>
            <a:ext cx="109728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ko-KR" sz="3200" b="1" dirty="0">
                <a:solidFill>
                  <a:srgbClr val="FFFFFF"/>
                </a:solidFill>
                <a:latin typeface="Segoe UI Semibold"/>
              </a:rPr>
              <a:t>실행 전 최적화</a:t>
            </a:r>
          </a:p>
        </p:txBody>
      </p:sp>
      <p:sp>
        <p:nvSpPr>
          <p:cNvPr id="13" name="TitleRule">
            <a:extLst>
              <a:ext uri="{FF2B5EF4-FFF2-40B4-BE49-F238E27FC236}">
                <a16:creationId xmlns:a16="http://schemas.microsoft.com/office/drawing/2014/main" id="{3CCA5443-E819-4314-9D2D-411125898B71}"/>
              </a:ext>
            </a:extLst>
          </p:cNvPr>
          <p:cNvSpPr/>
          <p:nvPr/>
        </p:nvSpPr>
        <p:spPr>
          <a:xfrm>
            <a:off x="609600" y="1549400"/>
            <a:ext cx="812800" cy="508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" name="LinkCard">
            <a:extLst>
              <a:ext uri="{FF2B5EF4-FFF2-40B4-BE49-F238E27FC236}">
                <a16:creationId xmlns:a16="http://schemas.microsoft.com/office/drawing/2014/main" id="{50CCC3DE-6CCF-4B8D-BE4F-3809CA77DDC6}"/>
              </a:ext>
            </a:extLst>
          </p:cNvPr>
          <p:cNvSpPr/>
          <p:nvPr/>
        </p:nvSpPr>
        <p:spPr>
          <a:xfrm>
            <a:off x="5638800" y="2997200"/>
            <a:ext cx="914400" cy="914400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4FD1C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pic>
        <p:nvPicPr>
          <p:cNvPr id="14" name="Graphic 14" descr="코드 보기 링크">
            <a:hlinkClick r:id="rId2"/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26100" y="300091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52520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E2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AccentBar">
            <a:extLst>
              <a:ext uri="{FF2B5EF4-FFF2-40B4-BE49-F238E27FC236}">
                <a16:creationId xmlns:a16="http://schemas.microsoft.com/office/drawing/2014/main" id="{29FF770E-C7F7-4489-AFB0-629CA43003E8}"/>
              </a:ext>
            </a:extLst>
          </p:cNvPr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1" name="Kicker">
            <a:extLst>
              <a:ext uri="{FF2B5EF4-FFF2-40B4-BE49-F238E27FC236}">
                <a16:creationId xmlns:a16="http://schemas.microsoft.com/office/drawing/2014/main" id="{5F14D70F-0A8D-4A1D-953F-A4685CBD72C9}"/>
              </a:ext>
            </a:extLst>
          </p:cNvPr>
          <p:cNvSpPr txBox="1"/>
          <p:nvPr/>
        </p:nvSpPr>
        <p:spPr>
          <a:xfrm>
            <a:off x="609600" y="482600"/>
            <a:ext cx="76200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sz="1400" b="1" dirty="0">
                <a:solidFill>
                  <a:srgbClr val="F6AD55"/>
                </a:solidFill>
                <a:latin typeface="Segoe UI"/>
              </a:rPr>
              <a:t>18  기능 추가 ④ 공장 제어 쉘</a:t>
            </a:r>
          </a:p>
        </p:txBody>
      </p:sp>
      <p:sp>
        <p:nvSpPr>
          <p:cNvPr id="12" name="Title">
            <a:extLst>
              <a:ext uri="{FF2B5EF4-FFF2-40B4-BE49-F238E27FC236}">
                <a16:creationId xmlns:a16="http://schemas.microsoft.com/office/drawing/2014/main" id="{8E244791-8A37-4CDE-A7BA-6EE00A431333}"/>
              </a:ext>
            </a:extLst>
          </p:cNvPr>
          <p:cNvSpPr txBox="1"/>
          <p:nvPr/>
        </p:nvSpPr>
        <p:spPr>
          <a:xfrm>
            <a:off x="596900" y="787400"/>
            <a:ext cx="109728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ko-KR" sz="3200" b="1" dirty="0">
                <a:solidFill>
                  <a:srgbClr val="FFFFFF"/>
                </a:solidFill>
                <a:latin typeface="Segoe UI Semibold"/>
              </a:rPr>
              <a:t>공장 제어 쉘</a:t>
            </a:r>
          </a:p>
        </p:txBody>
      </p:sp>
      <p:sp>
        <p:nvSpPr>
          <p:cNvPr id="13" name="TitleRule">
            <a:extLst>
              <a:ext uri="{FF2B5EF4-FFF2-40B4-BE49-F238E27FC236}">
                <a16:creationId xmlns:a16="http://schemas.microsoft.com/office/drawing/2014/main" id="{3CCA5443-E819-4314-9D2D-411125898B71}"/>
              </a:ext>
            </a:extLst>
          </p:cNvPr>
          <p:cNvSpPr/>
          <p:nvPr/>
        </p:nvSpPr>
        <p:spPr>
          <a:xfrm>
            <a:off x="609600" y="1549400"/>
            <a:ext cx="812800" cy="508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4" name="LinkCard">
            <a:extLst>
              <a:ext uri="{FF2B5EF4-FFF2-40B4-BE49-F238E27FC236}">
                <a16:creationId xmlns:a16="http://schemas.microsoft.com/office/drawing/2014/main" id="{0F0DAC0C-7C72-43BD-864A-DB054D75D6B9}"/>
              </a:ext>
            </a:extLst>
          </p:cNvPr>
          <p:cNvSpPr/>
          <p:nvPr/>
        </p:nvSpPr>
        <p:spPr>
          <a:xfrm>
            <a:off x="5638800" y="2997200"/>
            <a:ext cx="914400" cy="914400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4FD1C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pic>
        <p:nvPicPr>
          <p:cNvPr id="14" name="Graphic 14" descr="코드 보기 링크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35393" y="300091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67807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E2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AccentBar">
            <a:extLst>
              <a:ext uri="{FF2B5EF4-FFF2-40B4-BE49-F238E27FC236}">
                <a16:creationId xmlns:a16="http://schemas.microsoft.com/office/drawing/2014/main" id="{29FF770E-C7F7-4489-AFB0-629CA43003E8}"/>
              </a:ext>
            </a:extLst>
          </p:cNvPr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1" name="Kicker">
            <a:extLst>
              <a:ext uri="{FF2B5EF4-FFF2-40B4-BE49-F238E27FC236}">
                <a16:creationId xmlns:a16="http://schemas.microsoft.com/office/drawing/2014/main" id="{5F14D70F-0A8D-4A1D-953F-A4685CBD72C9}"/>
              </a:ext>
            </a:extLst>
          </p:cNvPr>
          <p:cNvSpPr txBox="1"/>
          <p:nvPr/>
        </p:nvSpPr>
        <p:spPr>
          <a:xfrm>
            <a:off x="609600" y="482600"/>
            <a:ext cx="76200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sz="1400" b="1" dirty="0">
                <a:solidFill>
                  <a:srgbClr val="F6AD55"/>
                </a:solidFill>
                <a:latin typeface="Segoe UI"/>
              </a:rPr>
              <a:t>19  LIVE DEMO</a:t>
            </a:r>
          </a:p>
        </p:txBody>
      </p:sp>
      <p:sp>
        <p:nvSpPr>
          <p:cNvPr id="12" name="Title">
            <a:extLst>
              <a:ext uri="{FF2B5EF4-FFF2-40B4-BE49-F238E27FC236}">
                <a16:creationId xmlns:a16="http://schemas.microsoft.com/office/drawing/2014/main" id="{8E244791-8A37-4CDE-A7BA-6EE00A431333}"/>
              </a:ext>
            </a:extLst>
          </p:cNvPr>
          <p:cNvSpPr txBox="1"/>
          <p:nvPr/>
        </p:nvSpPr>
        <p:spPr>
          <a:xfrm>
            <a:off x="596900" y="787400"/>
            <a:ext cx="109728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ko-KR" sz="3200" b="1" dirty="0">
                <a:solidFill>
                  <a:srgbClr val="FFFFFF"/>
                </a:solidFill>
                <a:latin typeface="Segoe UI Semibold"/>
              </a:rPr>
              <a:t>시연 — </a:t>
            </a:r>
            <a:r>
              <a:rPr lang="ko-KR" sz="3200" b="1" dirty="0" err="1">
                <a:solidFill>
                  <a:srgbClr val="FFFFFF"/>
                </a:solidFill>
                <a:latin typeface="Segoe UI Semibold"/>
              </a:rPr>
              <a:t>CodeFab</a:t>
            </a:r>
            <a:r>
              <a:rPr lang="ko-KR" sz="3200" b="1" dirty="0">
                <a:solidFill>
                  <a:srgbClr val="FFFFFF"/>
                </a:solidFill>
                <a:latin typeface="Segoe UI Semibold"/>
              </a:rPr>
              <a:t> 실</a:t>
            </a:r>
            <a:r>
              <a:rPr lang="ko-KR" altLang="en-US" sz="3200" b="1" dirty="0">
                <a:solidFill>
                  <a:srgbClr val="FFFFFF"/>
                </a:solidFill>
                <a:latin typeface="Segoe UI Semibold"/>
              </a:rPr>
              <a:t>행</a:t>
            </a:r>
            <a:endParaRPr lang="ko-KR" sz="3200" b="1" dirty="0">
              <a:solidFill>
                <a:srgbClr val="FFFFFF"/>
              </a:solidFill>
              <a:latin typeface="Segoe UI Semibold"/>
            </a:endParaRPr>
          </a:p>
        </p:txBody>
      </p:sp>
      <p:sp>
        <p:nvSpPr>
          <p:cNvPr id="13" name="TitleRule">
            <a:extLst>
              <a:ext uri="{FF2B5EF4-FFF2-40B4-BE49-F238E27FC236}">
                <a16:creationId xmlns:a16="http://schemas.microsoft.com/office/drawing/2014/main" id="{3CCA5443-E819-4314-9D2D-411125898B71}"/>
              </a:ext>
            </a:extLst>
          </p:cNvPr>
          <p:cNvSpPr/>
          <p:nvPr/>
        </p:nvSpPr>
        <p:spPr>
          <a:xfrm>
            <a:off x="609600" y="1549400"/>
            <a:ext cx="812800" cy="508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GoalCard">
            <a:extLst>
              <a:ext uri="{FF2B5EF4-FFF2-40B4-BE49-F238E27FC236}">
                <a16:creationId xmlns:a16="http://schemas.microsoft.com/office/drawing/2014/main" id="{D899334B-48AD-4693-8B67-68DA84742580}"/>
              </a:ext>
            </a:extLst>
          </p:cNvPr>
          <p:cNvSpPr/>
          <p:nvPr/>
        </p:nvSpPr>
        <p:spPr>
          <a:xfrm>
            <a:off x="3622598" y="2132106"/>
            <a:ext cx="4946804" cy="3810000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4FD1C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04800" tIns="279400" rIns="304800" bIns="279400" rtlCol="0" anchor="ctr" anchorCtr="0"/>
          <a:lstStyle/>
          <a:p>
            <a:pPr>
              <a:buNone/>
            </a:pPr>
            <a:r>
              <a:rPr lang="en-US" sz="1500" b="1" dirty="0" err="1">
                <a:solidFill>
                  <a:srgbClr val="4FD1C5"/>
                </a:solidFill>
                <a:latin typeface="Segoe UI"/>
              </a:rPr>
              <a:t>시연</a:t>
            </a:r>
            <a:r>
              <a:rPr lang="en-US" sz="1500" b="1" dirty="0">
                <a:solidFill>
                  <a:srgbClr val="4FD1C5"/>
                </a:solidFill>
                <a:latin typeface="Segoe UI"/>
              </a:rPr>
              <a:t> </a:t>
            </a:r>
            <a:r>
              <a:rPr lang="en-US" sz="1500" b="1" dirty="0" err="1">
                <a:solidFill>
                  <a:srgbClr val="4FD1C5"/>
                </a:solidFill>
                <a:latin typeface="Segoe UI"/>
              </a:rPr>
              <a:t>시나리오</a:t>
            </a:r>
            <a:endParaRPr lang="en-US" sz="1500" b="1" dirty="0">
              <a:solidFill>
                <a:srgbClr val="4FD1C5"/>
              </a:solidFill>
              <a:latin typeface="Segoe UI"/>
            </a:endParaRPr>
          </a:p>
          <a:p>
            <a:pPr>
              <a:buNone/>
            </a:pPr>
            <a:endParaRPr lang="en-US" sz="1500" b="1" dirty="0">
              <a:solidFill>
                <a:srgbClr val="4FD1C5"/>
              </a:solidFill>
              <a:latin typeface="Segoe UI"/>
            </a:endParaRPr>
          </a:p>
          <a:p>
            <a:pPr marL="0" indent="0">
              <a:spcBef>
                <a:spcPts val="700"/>
              </a:spcBef>
              <a:buNone/>
            </a:pPr>
            <a:r>
              <a:rPr lang="en-US" sz="1500" b="1" dirty="0">
                <a:solidFill>
                  <a:srgbClr val="F6AD55"/>
                </a:solidFill>
                <a:latin typeface="Segoe UI"/>
              </a:rPr>
              <a:t>STEP 1  </a:t>
            </a:r>
            <a:r>
              <a:rPr lang="ko-KR" altLang="en-US" sz="1500" b="1" dirty="0">
                <a:solidFill>
                  <a:srgbClr val="E8EAF0"/>
                </a:solidFill>
                <a:latin typeface="Segoe UI"/>
              </a:rPr>
              <a:t>파일 실행 모드 </a:t>
            </a:r>
            <a:r>
              <a:rPr lang="en-US" altLang="ko-KR" sz="1500" b="1" dirty="0">
                <a:solidFill>
                  <a:srgbClr val="E8EAF0"/>
                </a:solidFill>
                <a:latin typeface="Segoe UI"/>
              </a:rPr>
              <a:t>: </a:t>
            </a:r>
            <a:r>
              <a:rPr lang="en-US" altLang="ko-KR" sz="1500" dirty="0">
                <a:solidFill>
                  <a:srgbClr val="E8EAF0"/>
                </a:solidFill>
                <a:latin typeface="Segoe UI"/>
              </a:rPr>
              <a:t>Bubble Sort </a:t>
            </a:r>
            <a:endParaRPr lang="ko-KR" sz="1500" dirty="0">
              <a:solidFill>
                <a:srgbClr val="E8EAF0"/>
              </a:solidFill>
              <a:latin typeface="Segoe UI"/>
            </a:endParaRPr>
          </a:p>
          <a:p>
            <a:pPr marL="0" indent="0">
              <a:spcBef>
                <a:spcPts val="700"/>
              </a:spcBef>
              <a:buNone/>
            </a:pPr>
            <a:r>
              <a:rPr lang="en-US" sz="1500" b="1" dirty="0">
                <a:solidFill>
                  <a:srgbClr val="F6AD55"/>
                </a:solidFill>
                <a:latin typeface="Segoe UI"/>
              </a:rPr>
              <a:t>STEP 2  </a:t>
            </a:r>
            <a:r>
              <a:rPr lang="en-US" sz="1500" b="1" dirty="0">
                <a:solidFill>
                  <a:srgbClr val="E8EAF0"/>
                </a:solidFill>
                <a:latin typeface="Segoe UI"/>
              </a:rPr>
              <a:t>D</a:t>
            </a:r>
            <a:r>
              <a:rPr lang="en-US" altLang="ko-KR" sz="1500" dirty="0">
                <a:solidFill>
                  <a:srgbClr val="E8EAF0"/>
                </a:solidFill>
                <a:latin typeface="Segoe UI"/>
              </a:rPr>
              <a:t>ebug </a:t>
            </a:r>
            <a:r>
              <a:rPr lang="ko-KR" altLang="en-US" sz="1500" dirty="0">
                <a:solidFill>
                  <a:srgbClr val="E8EAF0"/>
                </a:solidFill>
                <a:latin typeface="Segoe UI"/>
              </a:rPr>
              <a:t>모드 </a:t>
            </a:r>
            <a:r>
              <a:rPr lang="en-US" altLang="ko-KR" sz="1500" dirty="0">
                <a:solidFill>
                  <a:srgbClr val="E8EAF0"/>
                </a:solidFill>
                <a:latin typeface="Segoe UI"/>
              </a:rPr>
              <a:t>: Factorial</a:t>
            </a:r>
          </a:p>
        </p:txBody>
      </p:sp>
    </p:spTree>
    <p:extLst>
      <p:ext uri="{BB962C8B-B14F-4D97-AF65-F5344CB8AC3E}">
        <p14:creationId xmlns:p14="http://schemas.microsoft.com/office/powerpoint/2010/main" val="102413649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E2A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AccentBar">
            <a:extLst>
              <a:ext uri="{FF2B5EF4-FFF2-40B4-BE49-F238E27FC236}">
                <a16:creationId xmlns:a16="http://schemas.microsoft.com/office/drawing/2014/main" id="{29FF770E-C7F7-4489-AFB0-629CA43003E8}"/>
              </a:ext>
            </a:extLst>
          </p:cNvPr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1" name="Kicker">
            <a:extLst>
              <a:ext uri="{FF2B5EF4-FFF2-40B4-BE49-F238E27FC236}">
                <a16:creationId xmlns:a16="http://schemas.microsoft.com/office/drawing/2014/main" id="{5F14D70F-0A8D-4A1D-953F-A4685CBD72C9}"/>
              </a:ext>
            </a:extLst>
          </p:cNvPr>
          <p:cNvSpPr txBox="1"/>
          <p:nvPr/>
        </p:nvSpPr>
        <p:spPr>
          <a:xfrm>
            <a:off x="609600" y="482600"/>
            <a:ext cx="7620000" cy="30777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sz="1400" b="1" dirty="0">
                <a:solidFill>
                  <a:srgbClr val="F6AD55"/>
                </a:solidFill>
                <a:latin typeface="Segoe UI"/>
              </a:rPr>
              <a:t>20  WRAP-UP</a:t>
            </a:r>
          </a:p>
        </p:txBody>
      </p:sp>
      <p:sp>
        <p:nvSpPr>
          <p:cNvPr id="12" name="Title">
            <a:extLst>
              <a:ext uri="{FF2B5EF4-FFF2-40B4-BE49-F238E27FC236}">
                <a16:creationId xmlns:a16="http://schemas.microsoft.com/office/drawing/2014/main" id="{8E244791-8A37-4CDE-A7BA-6EE00A431333}"/>
              </a:ext>
            </a:extLst>
          </p:cNvPr>
          <p:cNvSpPr txBox="1"/>
          <p:nvPr/>
        </p:nvSpPr>
        <p:spPr>
          <a:xfrm>
            <a:off x="596900" y="787400"/>
            <a:ext cx="10972800" cy="584775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ko-KR" sz="3200" b="1" dirty="0">
                <a:solidFill>
                  <a:srgbClr val="FFFFFF"/>
                </a:solidFill>
                <a:latin typeface="Segoe UI Semibold"/>
              </a:rPr>
              <a:t>회고 &amp; Q&amp;A</a:t>
            </a:r>
          </a:p>
        </p:txBody>
      </p:sp>
      <p:sp>
        <p:nvSpPr>
          <p:cNvPr id="13" name="TitleRule">
            <a:extLst>
              <a:ext uri="{FF2B5EF4-FFF2-40B4-BE49-F238E27FC236}">
                <a16:creationId xmlns:a16="http://schemas.microsoft.com/office/drawing/2014/main" id="{3CCA5443-E819-4314-9D2D-411125898B71}"/>
              </a:ext>
            </a:extLst>
          </p:cNvPr>
          <p:cNvSpPr/>
          <p:nvPr/>
        </p:nvSpPr>
        <p:spPr>
          <a:xfrm>
            <a:off x="609600" y="1549400"/>
            <a:ext cx="812800" cy="50800"/>
          </a:xfrm>
          <a:prstGeom prst="rect">
            <a:avLst/>
          </a:prstGeom>
          <a:solidFill>
            <a:srgbClr val="4FD1C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ko-KR" altLang="en-US"/>
          </a:p>
        </p:txBody>
      </p:sp>
      <p:sp>
        <p:nvSpPr>
          <p:cNvPr id="14" name="GoalCard">
            <a:extLst>
              <a:ext uri="{FF2B5EF4-FFF2-40B4-BE49-F238E27FC236}">
                <a16:creationId xmlns:a16="http://schemas.microsoft.com/office/drawing/2014/main" id="{D899334B-48AD-4693-8B67-68DA84742580}"/>
              </a:ext>
            </a:extLst>
          </p:cNvPr>
          <p:cNvSpPr/>
          <p:nvPr/>
        </p:nvSpPr>
        <p:spPr>
          <a:xfrm>
            <a:off x="609600" y="2159000"/>
            <a:ext cx="4826000" cy="3810000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4FD1C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04800" tIns="279400" rIns="304800" bIns="279400" rtlCol="0" anchor="ctr" anchorCtr="0"/>
          <a:lstStyle/>
          <a:p>
            <a:pPr>
              <a:buNone/>
            </a:pPr>
            <a:r>
              <a:rPr lang="en-US" sz="1500" b="1" dirty="0" err="1">
                <a:solidFill>
                  <a:srgbClr val="4FD1C5"/>
                </a:solidFill>
                <a:latin typeface="Segoe UI"/>
              </a:rPr>
              <a:t>배운</a:t>
            </a:r>
            <a:r>
              <a:rPr lang="en-US" sz="1500" b="1" dirty="0">
                <a:solidFill>
                  <a:srgbClr val="4FD1C5"/>
                </a:solidFill>
                <a:latin typeface="Segoe UI"/>
              </a:rPr>
              <a:t> 점</a:t>
            </a: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ko-KR" sz="1500" dirty="0">
                <a:solidFill>
                  <a:srgbClr val="E8EAF0"/>
                </a:solidFill>
                <a:latin typeface="Segoe UI"/>
              </a:rPr>
              <a:t>3-Unit 분리로 책임이 명확한 구조 설계</a:t>
            </a: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ko-KR" sz="1500" dirty="0">
                <a:solidFill>
                  <a:srgbClr val="E8EAF0"/>
                </a:solidFill>
                <a:latin typeface="Segoe UI"/>
              </a:rPr>
              <a:t>TDD가 리팩토링의 안전망이 됨을 체감</a:t>
            </a: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ko-KR" sz="1500" dirty="0">
                <a:solidFill>
                  <a:srgbClr val="E8EAF0"/>
                </a:solidFill>
                <a:latin typeface="Segoe UI"/>
              </a:rPr>
              <a:t>디자인 패턴으로 분기문 폭증 해결</a:t>
            </a: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ko-KR" sz="1500" dirty="0">
                <a:solidFill>
                  <a:srgbClr val="E8EAF0"/>
                </a:solidFill>
                <a:latin typeface="Segoe UI"/>
              </a:rPr>
              <a:t>단계적 기능 확장의 중요성 (</a:t>
            </a:r>
            <a:r>
              <a:rPr lang="ko-KR" sz="1500" dirty="0" err="1">
                <a:solidFill>
                  <a:srgbClr val="E8EAF0"/>
                </a:solidFill>
                <a:latin typeface="Segoe UI"/>
              </a:rPr>
              <a:t>함수→쉘</a:t>
            </a:r>
            <a:r>
              <a:rPr lang="ko-KR" sz="1500" dirty="0">
                <a:solidFill>
                  <a:srgbClr val="E8EAF0"/>
                </a:solidFill>
                <a:latin typeface="Segoe UI"/>
              </a:rPr>
              <a:t>)</a:t>
            </a:r>
            <a:endParaRPr lang="en-US" altLang="ko-KR" sz="1500" dirty="0">
              <a:solidFill>
                <a:srgbClr val="E8EAF0"/>
              </a:solidFill>
              <a:latin typeface="Segoe UI"/>
            </a:endParaRP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en-US" altLang="ko-KR" sz="1500" dirty="0">
                <a:solidFill>
                  <a:srgbClr val="E8EAF0"/>
                </a:solidFill>
                <a:latin typeface="Segoe UI"/>
              </a:rPr>
              <a:t>AI </a:t>
            </a:r>
            <a:r>
              <a:rPr lang="ko-KR" altLang="en-US" sz="1500" dirty="0">
                <a:solidFill>
                  <a:srgbClr val="E8EAF0"/>
                </a:solidFill>
                <a:latin typeface="Segoe UI"/>
              </a:rPr>
              <a:t>보조 도구 활용의 편리함</a:t>
            </a:r>
            <a:endParaRPr lang="ko-KR" sz="1500" dirty="0">
              <a:solidFill>
                <a:srgbClr val="E8EAF0"/>
              </a:solidFill>
              <a:latin typeface="Segoe UI"/>
            </a:endParaRPr>
          </a:p>
        </p:txBody>
      </p:sp>
      <p:sp>
        <p:nvSpPr>
          <p:cNvPr id="15" name="TimelineCard">
            <a:extLst>
              <a:ext uri="{FF2B5EF4-FFF2-40B4-BE49-F238E27FC236}">
                <a16:creationId xmlns:a16="http://schemas.microsoft.com/office/drawing/2014/main" id="{F3BCE98E-382B-4AEA-83F6-8A8DE697831F}"/>
              </a:ext>
            </a:extLst>
          </p:cNvPr>
          <p:cNvSpPr/>
          <p:nvPr/>
        </p:nvSpPr>
        <p:spPr>
          <a:xfrm>
            <a:off x="5740400" y="2159000"/>
            <a:ext cx="5842000" cy="3810000"/>
          </a:xfrm>
          <a:prstGeom prst="roundRect">
            <a:avLst/>
          </a:prstGeom>
          <a:solidFill>
            <a:srgbClr val="242A3A"/>
          </a:solidFill>
          <a:ln w="12700" cap="flat" cmpd="sng" algn="ctr">
            <a:solidFill>
              <a:srgbClr val="63B3ED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lIns="304800" tIns="279400" rIns="304800" bIns="279400" rtlCol="0" anchor="ctr" anchorCtr="0"/>
          <a:lstStyle/>
          <a:p>
            <a:pPr>
              <a:spcBef>
                <a:spcPts val="600"/>
              </a:spcBef>
              <a:buNone/>
            </a:pPr>
            <a:r>
              <a:rPr lang="ko-KR" sz="2000" b="1" dirty="0">
                <a:solidFill>
                  <a:srgbClr val="4FD1C5"/>
                </a:solidFill>
                <a:latin typeface="Segoe UI Semibold"/>
              </a:rPr>
              <a:t>5일간 완성한 인터프리터</a:t>
            </a:r>
          </a:p>
          <a:p>
            <a:pPr>
              <a:spcBef>
                <a:spcPts val="300"/>
              </a:spcBef>
              <a:buNone/>
            </a:pPr>
            <a:r>
              <a:rPr lang="ko-KR" sz="1400" dirty="0">
                <a:solidFill>
                  <a:srgbClr val="A0AEC0"/>
                </a:solidFill>
                <a:latin typeface="Segoe UI"/>
              </a:rPr>
              <a:t>Assembler · Checker · Executor 풀 파이프라인</a:t>
            </a: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ko-KR" sz="1500" dirty="0">
                <a:solidFill>
                  <a:srgbClr val="E8EAF0"/>
                </a:solidFill>
                <a:latin typeface="Segoe UI"/>
              </a:rPr>
              <a:t>함수 · 배열 · 최적화 · 제어 쉘까지 확장</a:t>
            </a: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r>
              <a:rPr lang="ko-KR" sz="1500" dirty="0">
                <a:solidFill>
                  <a:srgbClr val="E8EAF0"/>
                </a:solidFill>
                <a:latin typeface="Segoe UI"/>
              </a:rPr>
              <a:t>TDD + GoF 패턴 기반 리팩토링 적용</a:t>
            </a:r>
          </a:p>
          <a:p>
            <a:pPr marL="228600" indent="-228600">
              <a:spcBef>
                <a:spcPts val="700"/>
              </a:spcBef>
              <a:buFont typeface="Arial"/>
              <a:buChar char="•"/>
            </a:pPr>
            <a:endParaRPr lang="ko-KR" altLang="en-US" sz="1500" dirty="0">
              <a:solidFill>
                <a:srgbClr val="E8EAF0"/>
              </a:solidFill>
              <a:latin typeface="Segoe UI"/>
              <a:ea typeface="맑은 고딕"/>
              <a:cs typeface="Segoe UI"/>
            </a:endParaRPr>
          </a:p>
          <a:p>
            <a:pPr>
              <a:spcBef>
                <a:spcPts val="600"/>
              </a:spcBef>
              <a:buNone/>
            </a:pPr>
            <a:r>
              <a:rPr lang="ko-KR" sz="2000" b="1" dirty="0">
                <a:solidFill>
                  <a:srgbClr val="F6AD55"/>
                </a:solidFill>
                <a:latin typeface="Segoe UI Semibold"/>
              </a:rPr>
              <a:t>감사합니다 — Q&amp;A</a:t>
            </a:r>
          </a:p>
          <a:p>
            <a:pPr>
              <a:spcBef>
                <a:spcPts val="300"/>
              </a:spcBef>
              <a:buNone/>
            </a:pPr>
            <a:r>
              <a:rPr lang="ko-KR" sz="1400" dirty="0">
                <a:solidFill>
                  <a:srgbClr val="A0AEC0"/>
                </a:solidFill>
                <a:latin typeface="Segoe UI"/>
              </a:rPr>
              <a:t>Team AceCoder · 안인성 · 김용우 · 전용본</a:t>
            </a:r>
          </a:p>
        </p:txBody>
      </p:sp>
    </p:spTree>
    <p:extLst>
      <p:ext uri="{BB962C8B-B14F-4D97-AF65-F5344CB8AC3E}">
        <p14:creationId xmlns:p14="http://schemas.microsoft.com/office/powerpoint/2010/main" val="17368525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 [1780644801109]">
  <a:themeElements>
    <a:clrScheme name="Office">
      <a:dk1>
        <a:srgbClr val="E8EAF0"/>
      </a:dk1>
      <a:lt1>
        <a:srgbClr val="1A1E2A"/>
      </a:lt1>
      <a:dk2>
        <a:srgbClr val="0F1420"/>
      </a:dk2>
      <a:lt2>
        <a:srgbClr val="242A3A"/>
      </a:lt2>
      <a:accent1>
        <a:srgbClr val="4FD1C5"/>
      </a:accent1>
      <a:accent2>
        <a:srgbClr val="F6AD55"/>
      </a:accent2>
      <a:accent3>
        <a:srgbClr val="63B3ED"/>
      </a:accent3>
      <a:accent4>
        <a:srgbClr val="68D391"/>
      </a:accent4>
      <a:accent5>
        <a:srgbClr val="B794F4"/>
      </a:accent5>
      <a:accent6>
        <a:srgbClr val="FC8181"/>
      </a:accent6>
      <a:hlink>
        <a:srgbClr val="467886"/>
      </a:hlink>
      <a:folHlink>
        <a:srgbClr val="96607D"/>
      </a:folHlink>
    </a:clrScheme>
    <a:fontScheme name="Office">
      <a:majorFont>
        <a:latin typeface="Segoe UI Semibold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C966B46-B9C0-47EC-9ED1-91AD9C3F3A1B}">
  <we:reference id="WA200010725" version="1.0.0.1" store="en-US" storeType="omex"/>
  <we:alternateReferences>
    <we:reference id="WA200010725" version="1.0.0.1" store="en-US" storeType="omex"/>
  </we:alternateReferences>
  <we:properties>
    <we:property name="claude.fileId" value="&quot;15c36e69-196b-40a0-b23e-067612e013ae&quot;"/>
  </we:properties>
  <we:bindings/>
  <we:snapshot xmlns:r="http://schemas.openxmlformats.org/officeDocument/2006/relationships"/>
  <we:extLst>
    <a:ext xmlns:a="http://schemas.openxmlformats.org/drawingml/2006/main" uri="{0858819E-0033-43BF-8937-05EC82904868}">
      <we:backgroundApp state="0" runtimeId="Taskpane.Url"/>
    </a:ext>
  </we:extLst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1163</TotalTime>
  <Words>1314</Words>
  <Application>Microsoft Office PowerPoint</Application>
  <PresentationFormat>와이드스크린</PresentationFormat>
  <Paragraphs>368</Paragraphs>
  <Slides>24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29" baseType="lpstr">
      <vt:lpstr>Arial</vt:lpstr>
      <vt:lpstr>Consolas</vt:lpstr>
      <vt:lpstr>Segoe UI</vt:lpstr>
      <vt:lpstr>Segoe UI Semibold</vt:lpstr>
      <vt:lpstr>Office 테마 [1780644801109]</vt:lpstr>
      <vt:lpstr>CodeFab Interpreter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CodeFab Interpreter</dc:title>
  <dc:creator/>
  <cp:lastModifiedBy>User</cp:lastModifiedBy>
  <cp:revision>435</cp:revision>
  <dcterms:created xsi:type="dcterms:W3CDTF">2026-06-05T06:39:30Z</dcterms:created>
  <dcterms:modified xsi:type="dcterms:W3CDTF">2026-06-09T05:19:52Z</dcterms:modified>
</cp:coreProperties>
</file>