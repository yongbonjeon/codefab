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96" r:id="rId3"/>
    <p:sldId id="265" r:id="rId4"/>
    <p:sldId id="365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53" r:id="rId18"/>
    <p:sldId id="345" r:id="rId19"/>
    <p:sldId id="358" r:id="rId20"/>
    <p:sldId id="359" r:id="rId21"/>
    <p:sldId id="360" r:id="rId22"/>
    <p:sldId id="361" r:id="rId23"/>
    <p:sldId id="350" r:id="rId24"/>
    <p:sldId id="35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E3E92-C78C-4306-8529-161AD70A1FE1}" v="44" dt="2026-06-09T05:15:05.079"/>
    <p1510:client id="{75DF3875-CD8A-4AAC-856A-1FEBA80DE610}" v="305" dt="2026-06-08T01:18:04.545"/>
    <p1510:client id="{D600364E-4A8E-4AEF-A6C5-196DDF51CBB2}" v="1651" dt="2026-06-08T07:21:00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LeftAccentBar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AF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ithub.com/YongBonJeon/CodeFab/issues/13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ithub.com/YongBonJeon/CodeFab/issues/14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ithub.com/YongBonJeon/CodeFab/issues/15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CodeFab Interpreter</a:t>
            </a:r>
          </a:p>
        </p:txBody>
      </p:sp>
      <p:sp>
        <p:nvSpPr>
          <p:cNvPr id="50" name="TeamPanel"/>
          <p:cNvSpPr/>
          <p:nvPr/>
        </p:nvSpPr>
        <p:spPr>
          <a:xfrm>
            <a:off x="4151971" y="3811549"/>
            <a:ext cx="3886200" cy="1143000"/>
          </a:xfrm>
          <a:prstGeom prst="roundRect">
            <a:avLst>
              <a:gd name="adj" fmla="val 6000"/>
            </a:avLst>
          </a:prstGeom>
          <a:solidFill>
            <a:srgbClr val="242A3A"/>
          </a:solidFill>
          <a:ln w="12700">
            <a:solidFill>
              <a:srgbClr val="4FD1C5"/>
            </a:solidFill>
          </a:ln>
        </p:spPr>
        <p:txBody>
          <a:bodyPr lIns="137160" tIns="91440" rIns="137160" bIns="91440" anchor="ctr"/>
          <a:lstStyle/>
          <a:p>
            <a:pPr algn="ctr"/>
            <a:r>
              <a:rPr lang="en-US" sz="1400" b="1" dirty="0">
                <a:solidFill>
                  <a:srgbClr val="F6AD55"/>
                </a:solidFill>
              </a:rPr>
              <a:t>TEAM</a:t>
            </a:r>
            <a:r>
              <a:rPr lang="en-US" sz="2000" b="1" dirty="0">
                <a:solidFill>
                  <a:srgbClr val="FFFFFF"/>
                </a:solidFill>
              </a:rPr>
              <a:t>  AceCoder</a:t>
            </a:r>
          </a:p>
          <a:p>
            <a:pPr algn="ctr">
              <a:spcBef>
                <a:spcPts val="600"/>
              </a:spcBef>
            </a:pPr>
            <a:r>
              <a:rPr lang="ko-KR" altLang="ko-KR" sz="1600" dirty="0" err="1">
                <a:solidFill>
                  <a:srgbClr val="E8EAF0"/>
                </a:solidFill>
              </a:rPr>
              <a:t>전용본</a:t>
            </a:r>
            <a:r>
              <a:rPr lang="ko-KR" altLang="ko-KR" sz="1600" dirty="0">
                <a:solidFill>
                  <a:srgbClr val="E8EAF0"/>
                </a:solidFill>
              </a:rPr>
              <a:t> ·</a:t>
            </a:r>
            <a:r>
              <a:rPr lang="en-US" altLang="ko-KR" sz="1600" dirty="0">
                <a:solidFill>
                  <a:srgbClr val="E8EAF0"/>
                </a:solidFill>
              </a:rPr>
              <a:t> </a:t>
            </a:r>
            <a:r>
              <a:rPr lang="ko-KR" altLang="ko-KR" sz="1600" dirty="0">
                <a:solidFill>
                  <a:srgbClr val="E8EAF0"/>
                </a:solidFill>
              </a:rPr>
              <a:t>김용우 · </a:t>
            </a:r>
            <a:r>
              <a:rPr lang="ko-KR" sz="1600" dirty="0" err="1">
                <a:solidFill>
                  <a:srgbClr val="E8EAF0"/>
                </a:solidFill>
              </a:rPr>
              <a:t>안인성</a:t>
            </a:r>
            <a:endParaRPr lang="ko-KR" sz="1600" dirty="0">
              <a:solidFill>
                <a:srgbClr val="E8EAF0"/>
              </a:solidFill>
            </a:endParaRPr>
          </a:p>
        </p:txBody>
      </p:sp>
      <p:sp>
        <p:nvSpPr>
          <p:cNvPr id="60" name="SlideAccentBar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9466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af-ZA" altLang="ko-KR" sz="1400" b="1">
                <a:solidFill>
                  <a:srgbClr val="F6AD55"/>
                </a:solidFill>
                <a:latin typeface="Segoe UI"/>
                <a:cs typeface="Segoe UI"/>
              </a:rPr>
              <a:t>01  PROJECT OVERVIEW</a:t>
            </a:r>
            <a:endParaRPr lang="ko-KR" altLang="en-US" sz="1400" b="1">
              <a:solidFill>
                <a:srgbClr val="F6AD55"/>
              </a:solidFill>
              <a:latin typeface="Segoe UI"/>
              <a:cs typeface="Segoe UI"/>
            </a:endParaRP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Segoe UI Semibold"/>
                <a:cs typeface="Segoe UI Semibold"/>
              </a:rPr>
              <a:t>프로젝트 개요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0308" y="1905000"/>
            <a:ext cx="5485779" cy="4318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목표</a:t>
            </a:r>
            <a:endParaRPr lang="en-US" sz="1500" b="1" err="1">
              <a:solidFill>
                <a:srgbClr val="4FD1C5"/>
              </a:solidFill>
              <a:latin typeface="Segoe UI"/>
              <a:cs typeface="Segoe UI"/>
            </a:endParaRPr>
          </a:p>
          <a:p>
            <a:pPr>
              <a:spcBef>
                <a:spcPts val="300"/>
              </a:spcBef>
            </a:pPr>
            <a:r>
              <a:rPr lang="ko-KR" sz="1400" dirty="0">
                <a:solidFill>
                  <a:srgbClr val="E8EAF0"/>
                </a:solidFill>
                <a:latin typeface="Segoe UI"/>
                <a:ea typeface="맑은 고딕"/>
              </a:rPr>
              <a:t> </a:t>
            </a:r>
            <a:r>
              <a:rPr lang="ko-KR" altLang="en-US" sz="1400" dirty="0">
                <a:solidFill>
                  <a:srgbClr val="E8EAF0"/>
                </a:solidFill>
                <a:latin typeface="Segoe UI"/>
                <a:ea typeface="맑은 고딕"/>
              </a:rPr>
              <a:t> </a:t>
            </a:r>
            <a:r>
              <a:rPr lang="ko-KR" sz="1400">
                <a:solidFill>
                  <a:srgbClr val="E8EAF0"/>
                </a:solidFill>
                <a:latin typeface="Segoe UI"/>
                <a:ea typeface="맑은 고딕"/>
              </a:rPr>
              <a:t>커스텀 언어의 문법부터 실행까지 직접 구현</a:t>
            </a:r>
            <a:endParaRPr lang="ko-KR" sz="1400">
              <a:solidFill>
                <a:srgbClr val="E8EAF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800"/>
              </a:spcBef>
              <a:buNone/>
            </a:pPr>
            <a:r>
              <a:rPr lang="ko-KR" sz="1300" b="1" dirty="0">
                <a:solidFill>
                  <a:srgbClr val="63B3ED"/>
                </a:solidFill>
                <a:latin typeface="Segoe UI"/>
              </a:rPr>
              <a:t>일정 (5일)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sz="1400" b="1" dirty="0">
                <a:solidFill>
                  <a:srgbClr val="F6AD55"/>
                </a:solidFill>
                <a:latin typeface="Segoe UI"/>
              </a:rPr>
              <a:t>1일차  </a:t>
            </a:r>
            <a:r>
              <a:rPr lang="ko-KR" sz="1400" dirty="0">
                <a:solidFill>
                  <a:srgbClr val="E8EAF0"/>
                </a:solidFill>
                <a:latin typeface="Segoe UI"/>
              </a:rPr>
              <a:t>파이프라인 설계 · Assembler(Lexer+Parser) · Checker · Executor 기초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sz="1400" b="1" dirty="0">
                <a:solidFill>
                  <a:srgbClr val="F6AD55"/>
                </a:solidFill>
                <a:latin typeface="Segoe UI"/>
              </a:rPr>
              <a:t>2일차  </a:t>
            </a:r>
            <a:r>
              <a:rPr lang="ko-KR" sz="1400" dirty="0">
                <a:solidFill>
                  <a:srgbClr val="E8EAF0"/>
                </a:solidFill>
                <a:latin typeface="Segoe UI"/>
              </a:rPr>
              <a:t>기능 확장(if·for·scope) + TDD + 리팩토링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sz="1400" b="1" dirty="0">
                <a:solidFill>
                  <a:srgbClr val="F6AD55"/>
                </a:solidFill>
                <a:latin typeface="Segoe UI"/>
              </a:rPr>
              <a:t>3일차  </a:t>
            </a:r>
            <a:r>
              <a:rPr lang="ko-KR" sz="1400" dirty="0">
                <a:solidFill>
                  <a:srgbClr val="E8EAF0"/>
                </a:solidFill>
                <a:latin typeface="Segoe UI"/>
              </a:rPr>
              <a:t>함수 · 정적 배열 · 최적화 · 쉘 추가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sz="1400" b="1" dirty="0">
                <a:solidFill>
                  <a:srgbClr val="F6AD55"/>
                </a:solidFill>
                <a:latin typeface="Segoe UI"/>
              </a:rPr>
              <a:t>4일차  </a:t>
            </a:r>
            <a:r>
              <a:rPr lang="ko-KR" sz="1400" dirty="0">
                <a:solidFill>
                  <a:srgbClr val="E8EAF0"/>
                </a:solidFill>
                <a:latin typeface="Segoe UI"/>
              </a:rPr>
              <a:t>팀 통합 · PR 코드리뷰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sz="1400" b="1" dirty="0">
                <a:solidFill>
                  <a:srgbClr val="F6AD55"/>
                </a:solidFill>
                <a:latin typeface="Segoe UI"/>
              </a:rPr>
              <a:t>5일차  </a:t>
            </a:r>
            <a:r>
              <a:rPr lang="ko-KR" sz="1400" dirty="0">
                <a:solidFill>
                  <a:srgbClr val="E8EAF0"/>
                </a:solidFill>
                <a:latin typeface="Segoe UI"/>
              </a:rPr>
              <a:t>발표 준비</a:t>
            </a: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6353717" y="1905000"/>
            <a:ext cx="5228683" cy="4318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3B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500" b="1" dirty="0" err="1">
                <a:solidFill>
                  <a:srgbClr val="F6AD55"/>
                </a:solidFill>
                <a:latin typeface="Segoe UI"/>
              </a:rPr>
              <a:t>지원</a:t>
            </a:r>
            <a:r>
              <a:rPr lang="en-US" sz="1500" b="1" dirty="0">
                <a:solidFill>
                  <a:srgbClr val="F6AD55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F6AD55"/>
                </a:solidFill>
                <a:latin typeface="Segoe UI"/>
              </a:rPr>
              <a:t>문법</a:t>
            </a:r>
            <a:endParaRPr lang="en-US" sz="1500" b="1" dirty="0" err="1">
              <a:solidFill>
                <a:srgbClr val="F6AD55"/>
              </a:solidFill>
              <a:latin typeface="Segoe UI"/>
              <a:cs typeface="Segoe UI"/>
            </a:endParaRPr>
          </a:p>
          <a:p>
            <a:pPr>
              <a:spcBef>
                <a:spcPts val="800"/>
              </a:spcBef>
              <a:buNone/>
            </a:pPr>
            <a:r>
              <a:rPr lang="ko-KR" sz="1300" b="1" dirty="0">
                <a:solidFill>
                  <a:srgbClr val="4FD1C5"/>
                </a:solidFill>
                <a:latin typeface="Segoe UI"/>
              </a:rPr>
              <a:t>키워드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chemeClr val="tx1"/>
                </a:solidFill>
                <a:latin typeface="Consolas"/>
              </a:rPr>
              <a:t>  var · if/else · for · Func · return · print</a:t>
            </a:r>
          </a:p>
          <a:p>
            <a:pPr>
              <a:spcBef>
                <a:spcPts val="800"/>
              </a:spcBef>
              <a:buNone/>
            </a:pPr>
            <a:r>
              <a:rPr lang="ko-KR" sz="1300" b="1" dirty="0">
                <a:solidFill>
                  <a:srgbClr val="4FD1C5"/>
                </a:solidFill>
                <a:latin typeface="Segoe UI"/>
              </a:rPr>
              <a:t>연산자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chemeClr val="tx1"/>
                </a:solidFill>
                <a:latin typeface="Consolas"/>
              </a:rPr>
              <a:t>  +  -  *  /  %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chemeClr val="tx1"/>
                </a:solidFill>
                <a:latin typeface="Consolas"/>
              </a:rPr>
              <a:t>  ==  !=  &lt;  &gt;</a:t>
            </a:r>
          </a:p>
          <a:p>
            <a:pPr>
              <a:spcBef>
                <a:spcPts val="300"/>
              </a:spcBef>
            </a:pPr>
            <a:r>
              <a:rPr lang="en-US" sz="1300">
                <a:solidFill>
                  <a:schemeClr val="tx1"/>
                </a:solidFill>
                <a:latin typeface="Consolas"/>
              </a:rPr>
              <a:t>  and  or  !</a:t>
            </a:r>
          </a:p>
          <a:p>
            <a:pPr>
              <a:spcBef>
                <a:spcPts val="800"/>
              </a:spcBef>
              <a:buNone/>
            </a:pPr>
            <a:r>
              <a:rPr lang="ko-KR" sz="1300" b="1" dirty="0">
                <a:solidFill>
                  <a:srgbClr val="4FD1C5"/>
                </a:solidFill>
                <a:latin typeface="Segoe UI"/>
                <a:ea typeface="맑은 고딕"/>
              </a:rPr>
              <a:t>배열</a:t>
            </a:r>
            <a:endParaRPr lang="ko-KR" sz="1300" b="1" dirty="0">
              <a:solidFill>
                <a:srgbClr val="4FD1C5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300"/>
              </a:spcBef>
            </a:pPr>
            <a:r>
              <a:rPr lang="en-US" sz="1300" dirty="0">
                <a:solidFill>
                  <a:schemeClr val="tx1"/>
                </a:solidFill>
                <a:latin typeface="Consolas"/>
              </a:rPr>
              <a:t>  Array(n) · </a:t>
            </a:r>
            <a:r>
              <a:rPr lang="en-US" sz="1300" dirty="0" err="1">
                <a:solidFill>
                  <a:schemeClr val="tx1"/>
                </a:solidFill>
                <a:latin typeface="Consolas"/>
              </a:rPr>
              <a:t>arr</a:t>
            </a:r>
            <a:r>
              <a:rPr lang="en-US" sz="1300" dirty="0">
                <a:solidFill>
                  <a:schemeClr val="tx1"/>
                </a:solidFill>
                <a:latin typeface="Consolas"/>
              </a:rPr>
              <a:t>[</a:t>
            </a:r>
            <a:r>
              <a:rPr lang="en-US" sz="1300" dirty="0" err="1">
                <a:solidFill>
                  <a:schemeClr val="tx1"/>
                </a:solidFill>
                <a:latin typeface="Consolas"/>
              </a:rPr>
              <a:t>i</a:t>
            </a:r>
            <a:r>
              <a:rPr lang="en-US" sz="1300" dirty="0">
                <a:solidFill>
                  <a:schemeClr val="tx1"/>
                </a:solidFill>
                <a:latin typeface="Consolas"/>
              </a:rPr>
              <a:t>] = v</a:t>
            </a:r>
          </a:p>
        </p:txBody>
      </p:sp>
    </p:spTree>
    <p:extLst>
      <p:ext uri="{BB962C8B-B14F-4D97-AF65-F5344CB8AC3E}">
        <p14:creationId xmlns:p14="http://schemas.microsoft.com/office/powerpoint/2010/main" val="1572789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02  ARCHITECTURE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아키텍처 설계 · 3-Unit 파이프라인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1" name="UNIT 1"/>
          <p:cNvSpPr/>
          <p:nvPr/>
        </p:nvSpPr>
        <p:spPr>
          <a:xfrm>
            <a:off x="609600" y="2286000"/>
            <a:ext cx="3251200" cy="1397000"/>
          </a:xfrm>
          <a:prstGeom prst="roundRect">
            <a:avLst/>
          </a:prstGeom>
          <a:solidFill>
            <a:srgbClr val="242A3A"/>
          </a:solidFill>
          <a:ln w="19050">
            <a:solidFill>
              <a:srgbClr val="4FD1C5"/>
            </a:solidFill>
          </a:ln>
        </p:spPr>
        <p:txBody>
          <a:bodyPr wrap="square" lIns="228600" tIns="203200" rIns="228600" bIns="203200" anchor="t"/>
          <a:lstStyle/>
          <a:p>
            <a:pPr algn="ctr"/>
            <a:r>
              <a:rPr lang="en-US" sz="1100" b="1" dirty="0">
                <a:solidFill>
                  <a:srgbClr val="4FD1C5"/>
                </a:solidFill>
                <a:latin typeface="Segoe UI"/>
              </a:rPr>
              <a:t>UNIT 1</a:t>
            </a:r>
          </a:p>
          <a:p>
            <a:pPr algn="ctr">
              <a:spcBef>
                <a:spcPts val="300"/>
              </a:spcBef>
            </a:pPr>
            <a:r>
              <a:rPr lang="en-US" sz="1900" b="1" dirty="0">
                <a:solidFill>
                  <a:srgbClr val="FFFFFF"/>
                </a:solidFill>
                <a:latin typeface="Segoe UI Semibold"/>
              </a:rPr>
              <a:t>Assembler</a:t>
            </a:r>
          </a:p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rgbClr val="FFFFFF"/>
                </a:solidFill>
                <a:latin typeface="Segoe UI Semibold"/>
                <a:ea typeface="맑은 고딕"/>
                <a:cs typeface="Segoe UI Semibold"/>
              </a:rPr>
              <a:t>(</a:t>
            </a:r>
            <a:r>
              <a:rPr lang="ko-KR" altLang="en-US" sz="1200" b="1" dirty="0" err="1">
                <a:solidFill>
                  <a:srgbClr val="FFFFFF"/>
                </a:solidFill>
                <a:latin typeface="Segoe UI Semibold"/>
                <a:ea typeface="맑은 고딕"/>
                <a:cs typeface="Segoe UI Semibold"/>
              </a:rPr>
              <a:t>안인성</a:t>
            </a:r>
            <a:r>
              <a:rPr lang="ko-KR" altLang="en-US" sz="1200" b="1" dirty="0">
                <a:solidFill>
                  <a:srgbClr val="FFFFFF"/>
                </a:solidFill>
                <a:latin typeface="Segoe UI Semibold"/>
                <a:ea typeface="맑은 고딕"/>
                <a:cs typeface="Segoe UI Semibold"/>
              </a:rPr>
              <a:t>)</a:t>
            </a:r>
          </a:p>
        </p:txBody>
      </p:sp>
      <p:sp>
        <p:nvSpPr>
          <p:cNvPr id="102" name="UNIT 2"/>
          <p:cNvSpPr/>
          <p:nvPr/>
        </p:nvSpPr>
        <p:spPr>
          <a:xfrm>
            <a:off x="4470400" y="2286000"/>
            <a:ext cx="3251200" cy="1397000"/>
          </a:xfrm>
          <a:prstGeom prst="roundRect">
            <a:avLst/>
          </a:prstGeom>
          <a:solidFill>
            <a:srgbClr val="242A3A"/>
          </a:solidFill>
          <a:ln w="19050">
            <a:solidFill>
              <a:srgbClr val="F6AD55"/>
            </a:solidFill>
          </a:ln>
        </p:spPr>
        <p:txBody>
          <a:bodyPr wrap="square" lIns="228600" tIns="203200" rIns="228600" bIns="203200" anchor="t"/>
          <a:lstStyle/>
          <a:p>
            <a:pPr algn="ctr"/>
            <a:r>
              <a:rPr lang="en-US" sz="1100" b="1" dirty="0">
                <a:solidFill>
                  <a:srgbClr val="F6AD55"/>
                </a:solidFill>
                <a:latin typeface="Segoe UI"/>
              </a:rPr>
              <a:t>UNIT 2</a:t>
            </a:r>
          </a:p>
          <a:p>
            <a:pPr algn="ctr">
              <a:spcBef>
                <a:spcPts val="300"/>
              </a:spcBef>
            </a:pPr>
            <a:r>
              <a:rPr lang="en-US" sz="1900" b="1" dirty="0">
                <a:solidFill>
                  <a:srgbClr val="FFFFFF"/>
                </a:solidFill>
                <a:latin typeface="Segoe UI Semibold"/>
              </a:rPr>
              <a:t>Checker</a:t>
            </a:r>
          </a:p>
          <a:p>
            <a:pPr algn="ctr">
              <a:spcBef>
                <a:spcPts val="300"/>
              </a:spcBef>
            </a:pPr>
            <a:r>
              <a:rPr lang="en-US" sz="1200" b="1" dirty="0">
                <a:solidFill>
                  <a:srgbClr val="FFFFFF"/>
                </a:solidFill>
                <a:latin typeface="Segoe UI Semibold"/>
                <a:cs typeface="Segoe UI Semibold"/>
              </a:rPr>
              <a:t>(</a:t>
            </a:r>
            <a:r>
              <a:rPr lang="ko-KR" altLang="en-US" sz="1200" b="1" dirty="0">
                <a:solidFill>
                  <a:srgbClr val="FFFFFF"/>
                </a:solidFill>
                <a:latin typeface="Segoe UI Semibold"/>
                <a:ea typeface="맑은 고딕"/>
                <a:cs typeface="Segoe UI Semibold"/>
              </a:rPr>
              <a:t>김용우</a:t>
            </a:r>
            <a:r>
              <a:rPr lang="en-US" altLang="ko-KR" sz="1200" b="1" dirty="0">
                <a:solidFill>
                  <a:srgbClr val="FFFFFF"/>
                </a:solidFill>
                <a:latin typeface="Segoe UI Semibold"/>
                <a:ea typeface="맑은 고딕"/>
                <a:cs typeface="Segoe UI Semibold"/>
              </a:rPr>
              <a:t>)</a:t>
            </a:r>
            <a:endParaRPr lang="ko-KR" altLang="en-US" sz="1200" b="1" dirty="0">
              <a:solidFill>
                <a:srgbClr val="FFFFFF"/>
              </a:solidFill>
              <a:latin typeface="Segoe UI Semibold"/>
              <a:ea typeface="맑은 고딕"/>
              <a:cs typeface="Segoe UI Semibold"/>
            </a:endParaRPr>
          </a:p>
        </p:txBody>
      </p:sp>
      <p:sp>
        <p:nvSpPr>
          <p:cNvPr id="103" name="UNIT 3"/>
          <p:cNvSpPr/>
          <p:nvPr/>
        </p:nvSpPr>
        <p:spPr>
          <a:xfrm>
            <a:off x="8331200" y="2286000"/>
            <a:ext cx="3251200" cy="1397000"/>
          </a:xfrm>
          <a:prstGeom prst="roundRect">
            <a:avLst/>
          </a:prstGeom>
          <a:solidFill>
            <a:srgbClr val="242A3A"/>
          </a:solidFill>
          <a:ln w="19050">
            <a:solidFill>
              <a:srgbClr val="63B3ED"/>
            </a:solidFill>
          </a:ln>
        </p:spPr>
        <p:txBody>
          <a:bodyPr wrap="square" lIns="228600" tIns="203200" rIns="228600" bIns="203200" anchor="t"/>
          <a:lstStyle/>
          <a:p>
            <a:pPr algn="ctr"/>
            <a:r>
              <a:rPr lang="en-US" sz="1100" b="1" dirty="0">
                <a:solidFill>
                  <a:srgbClr val="63B3ED"/>
                </a:solidFill>
                <a:latin typeface="Segoe UI"/>
              </a:rPr>
              <a:t>UNIT 3</a:t>
            </a:r>
          </a:p>
          <a:p>
            <a:pPr algn="ctr">
              <a:spcBef>
                <a:spcPts val="300"/>
              </a:spcBef>
            </a:pPr>
            <a:r>
              <a:rPr lang="en-US" sz="1900" b="1" dirty="0">
                <a:solidFill>
                  <a:srgbClr val="FFFFFF"/>
                </a:solidFill>
                <a:latin typeface="Segoe UI Semibold"/>
              </a:rPr>
              <a:t>Executor</a:t>
            </a:r>
          </a:p>
          <a:p>
            <a:pPr algn="ctr">
              <a:spcBef>
                <a:spcPts val="300"/>
              </a:spcBef>
            </a:pPr>
            <a:r>
              <a:rPr lang="en-US" sz="1200" b="1" dirty="0">
                <a:solidFill>
                  <a:srgbClr val="FFFFFF"/>
                </a:solidFill>
                <a:latin typeface="Segoe UI Semibold"/>
                <a:cs typeface="Segoe UI Semibold"/>
              </a:rPr>
              <a:t>(</a:t>
            </a:r>
            <a:r>
              <a:rPr lang="ko-KR" altLang="en-US" sz="1200" b="1" dirty="0" err="1">
                <a:solidFill>
                  <a:srgbClr val="FFFFFF"/>
                </a:solidFill>
                <a:latin typeface="Segoe UI Semibold"/>
                <a:ea typeface="맑은 고딕"/>
                <a:cs typeface="Segoe UI Semibold"/>
              </a:rPr>
              <a:t>전용본</a:t>
            </a:r>
            <a:r>
              <a:rPr lang="en-US" altLang="ko-KR" sz="1200" b="1" dirty="0">
                <a:solidFill>
                  <a:srgbClr val="FFFFFF"/>
                </a:solidFill>
                <a:latin typeface="Segoe UI Semibold"/>
                <a:ea typeface="맑은 고딕"/>
                <a:cs typeface="Segoe UI Semibold"/>
              </a:rPr>
              <a:t>)</a:t>
            </a:r>
            <a:endParaRPr lang="ko-KR" altLang="en-US" sz="1200" b="1" dirty="0">
              <a:solidFill>
                <a:srgbClr val="FFFFFF"/>
              </a:solidFill>
              <a:latin typeface="Segoe UI Semibold"/>
              <a:ea typeface="맑은 고딕"/>
              <a:cs typeface="Segoe UI Semibold"/>
            </a:endParaRPr>
          </a:p>
        </p:txBody>
      </p:sp>
      <p:sp>
        <p:nvSpPr>
          <p:cNvPr id="104" name="Arrow"/>
          <p:cNvSpPr/>
          <p:nvPr/>
        </p:nvSpPr>
        <p:spPr>
          <a:xfrm>
            <a:off x="3911600" y="2730500"/>
            <a:ext cx="508000" cy="508000"/>
          </a:xfrm>
          <a:prstGeom prst="rightArrow">
            <a:avLst/>
          </a:prstGeom>
          <a:solidFill>
            <a:srgbClr val="F6AD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Arrow"/>
          <p:cNvSpPr/>
          <p:nvPr/>
        </p:nvSpPr>
        <p:spPr>
          <a:xfrm>
            <a:off x="7772400" y="2730500"/>
            <a:ext cx="508000" cy="508000"/>
          </a:xfrm>
          <a:prstGeom prst="rightArrow">
            <a:avLst/>
          </a:prstGeom>
          <a:solidFill>
            <a:srgbClr val="F6AD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Desc"/>
          <p:cNvSpPr/>
          <p:nvPr/>
        </p:nvSpPr>
        <p:spPr>
          <a:xfrm>
            <a:off x="609600" y="3911600"/>
            <a:ext cx="3251200" cy="215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8000" indent="-178000" algn="l">
              <a:spcBef>
                <a:spcPts val="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소스코드 → 토큰화(Lexer)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토큰 → 문법 트리(Parser)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Expr / Stmt 구조 생성</a:t>
            </a:r>
          </a:p>
        </p:txBody>
      </p:sp>
      <p:sp>
        <p:nvSpPr>
          <p:cNvPr id="107" name="Desc"/>
          <p:cNvSpPr/>
          <p:nvPr/>
        </p:nvSpPr>
        <p:spPr>
          <a:xfrm>
            <a:off x="4470400" y="3911600"/>
            <a:ext cx="3251200" cy="215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8000" indent="-178000" algn="l">
              <a:spcBef>
                <a:spcPts val="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AST 의미 검사 (재귀 DFS)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중복 선언 · 자기참조 탐지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실행 전 정합성 보장</a:t>
            </a:r>
          </a:p>
        </p:txBody>
      </p:sp>
      <p:sp>
        <p:nvSpPr>
          <p:cNvPr id="108" name="Desc"/>
          <p:cNvSpPr/>
          <p:nvPr/>
        </p:nvSpPr>
        <p:spPr>
          <a:xfrm>
            <a:off x="8331200" y="3911600"/>
            <a:ext cx="3251200" cy="215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8000" indent="-178000" algn="l">
              <a:spcBef>
                <a:spcPts val="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트리 실행 (DFS)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Global / Local 스코프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sz="1200" dirty="0">
                <a:solidFill>
                  <a:srgbClr val="E8EAF0"/>
                </a:solidFill>
                <a:latin typeface="Segoe UI"/>
              </a:rPr>
              <a:t>런타임 오류 처리</a:t>
            </a:r>
          </a:p>
        </p:txBody>
      </p:sp>
      <p:sp>
        <p:nvSpPr>
          <p:cNvPr id="109" name="Note"/>
          <p:cNvSpPr/>
          <p:nvPr/>
        </p:nvSpPr>
        <p:spPr>
          <a:xfrm>
            <a:off x="609600" y="5994400"/>
            <a:ext cx="10972800" cy="381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ko-KR" sz="1200" i="1" dirty="0">
                <a:solidFill>
                  <a:srgbClr val="A0AEC0"/>
                </a:solidFill>
                <a:latin typeface="Segoe UI"/>
              </a:rPr>
              <a:t>런타임 오류: 타입 불일치 · 미정의 변수 · 0으로 나누기</a:t>
            </a:r>
          </a:p>
        </p:txBody>
      </p:sp>
    </p:spTree>
    <p:extLst>
      <p:ext uri="{BB962C8B-B14F-4D97-AF65-F5344CB8AC3E}">
        <p14:creationId xmlns:p14="http://schemas.microsoft.com/office/powerpoint/2010/main" val="211960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TEAM CONVENTION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3200" b="1" dirty="0">
                <a:solidFill>
                  <a:srgbClr val="FFFFFF"/>
                </a:solidFill>
                <a:latin typeface="Segoe UI Semibold"/>
                <a:ea typeface="맑은 고딕"/>
              </a:rPr>
              <a:t>팀 규약 · 협업 컨벤션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1" name="UNIT 1"/>
          <p:cNvSpPr/>
          <p:nvPr/>
        </p:nvSpPr>
        <p:spPr>
          <a:xfrm>
            <a:off x="451449" y="2133600"/>
            <a:ext cx="3657600" cy="889000"/>
          </a:xfrm>
          <a:prstGeom prst="roundRect">
            <a:avLst/>
          </a:prstGeom>
          <a:solidFill>
            <a:srgbClr val="242A3A"/>
          </a:solidFill>
          <a:ln w="19050">
            <a:solidFill>
              <a:srgbClr val="4FD1C5"/>
            </a:solidFill>
          </a:ln>
        </p:spPr>
        <p:txBody>
          <a:bodyPr wrap="square" lIns="228600" tIns="203200" rIns="228600" bIns="203200" anchor="t"/>
          <a:lstStyle/>
          <a:p>
            <a:pPr algn="ctr"/>
            <a:r>
              <a:rPr lang="en-US" sz="1100" b="1" dirty="0">
                <a:solidFill>
                  <a:srgbClr val="4FD1C5"/>
                </a:solidFill>
                <a:latin typeface="Segoe UI"/>
              </a:rPr>
              <a:t>RULE 1</a:t>
            </a:r>
          </a:p>
          <a:p>
            <a:pPr algn="ctr">
              <a:spcBef>
                <a:spcPts val="300"/>
              </a:spcBef>
            </a:pPr>
            <a:r>
              <a:rPr lang="ko-KR" altLang="en-US" sz="1700" b="1" dirty="0">
                <a:solidFill>
                  <a:srgbClr val="FFFFFF"/>
                </a:solidFill>
                <a:latin typeface="Segoe UI Semibold"/>
                <a:ea typeface="맑은 고딕"/>
              </a:rPr>
              <a:t>코드 컨벤션</a:t>
            </a:r>
          </a:p>
        </p:txBody>
      </p:sp>
      <p:sp>
        <p:nvSpPr>
          <p:cNvPr id="102" name="UNIT 2"/>
          <p:cNvSpPr/>
          <p:nvPr/>
        </p:nvSpPr>
        <p:spPr>
          <a:xfrm>
            <a:off x="4413849" y="2133600"/>
            <a:ext cx="3657600" cy="889000"/>
          </a:xfrm>
          <a:prstGeom prst="roundRect">
            <a:avLst/>
          </a:prstGeom>
          <a:solidFill>
            <a:srgbClr val="242A3A"/>
          </a:solidFill>
          <a:ln w="19050">
            <a:solidFill>
              <a:srgbClr val="F6AD55"/>
            </a:solidFill>
          </a:ln>
        </p:spPr>
        <p:txBody>
          <a:bodyPr wrap="square" lIns="228600" tIns="203200" rIns="228600" bIns="203200" anchor="t"/>
          <a:lstStyle/>
          <a:p>
            <a:pPr algn="ctr"/>
            <a:r>
              <a:rPr lang="en-US" sz="1100" b="1" dirty="0">
                <a:solidFill>
                  <a:srgbClr val="4FD1C5"/>
                </a:solidFill>
                <a:latin typeface="Segoe UI"/>
              </a:rPr>
              <a:t>RULE 2</a:t>
            </a:r>
          </a:p>
          <a:p>
            <a:pPr algn="ctr">
              <a:spcBef>
                <a:spcPts val="300"/>
              </a:spcBef>
            </a:pPr>
            <a:r>
              <a:rPr lang="ko-KR" altLang="en-US" sz="1700" b="1" dirty="0">
                <a:solidFill>
                  <a:srgbClr val="FFFFFF"/>
                </a:solidFill>
                <a:latin typeface="Segoe UI Semibold"/>
                <a:ea typeface="맑은 고딕"/>
              </a:rPr>
              <a:t>Git 브랜치 전략</a:t>
            </a:r>
          </a:p>
        </p:txBody>
      </p:sp>
      <p:sp>
        <p:nvSpPr>
          <p:cNvPr id="103" name="UNIT 3"/>
          <p:cNvSpPr/>
          <p:nvPr/>
        </p:nvSpPr>
        <p:spPr>
          <a:xfrm>
            <a:off x="8376249" y="2133600"/>
            <a:ext cx="3657600" cy="889000"/>
          </a:xfrm>
          <a:prstGeom prst="roundRect">
            <a:avLst/>
          </a:prstGeom>
          <a:solidFill>
            <a:srgbClr val="242A3A"/>
          </a:solidFill>
          <a:ln w="19050">
            <a:solidFill>
              <a:srgbClr val="63B3ED"/>
            </a:solidFill>
          </a:ln>
        </p:spPr>
        <p:txBody>
          <a:bodyPr wrap="square" lIns="228600" tIns="203200" rIns="228600" bIns="203200" anchor="t"/>
          <a:lstStyle/>
          <a:p>
            <a:pPr algn="ctr"/>
            <a:r>
              <a:rPr lang="en-US" sz="1100" b="1" dirty="0">
                <a:solidFill>
                  <a:srgbClr val="4FD1C5"/>
                </a:solidFill>
                <a:latin typeface="Segoe UI"/>
              </a:rPr>
              <a:t>RULE 3</a:t>
            </a:r>
          </a:p>
          <a:p>
            <a:pPr algn="ctr">
              <a:spcBef>
                <a:spcPts val="300"/>
              </a:spcBef>
            </a:pPr>
            <a:r>
              <a:rPr lang="ko-KR" altLang="en-US" sz="1700" b="1" dirty="0">
                <a:solidFill>
                  <a:srgbClr val="FFFFFF"/>
                </a:solidFill>
                <a:latin typeface="Segoe UI Semibold"/>
                <a:ea typeface="맑은 고딕"/>
              </a:rPr>
              <a:t>Commit 컨벤션</a:t>
            </a:r>
          </a:p>
        </p:txBody>
      </p:sp>
      <p:sp>
        <p:nvSpPr>
          <p:cNvPr id="106" name="Desc"/>
          <p:cNvSpPr/>
          <p:nvPr/>
        </p:nvSpPr>
        <p:spPr>
          <a:xfrm>
            <a:off x="451449" y="3175000"/>
            <a:ext cx="3657600" cy="281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8000" indent="-178000" algn="l">
              <a:spcBef>
                <a:spcPts val="0"/>
              </a:spcBef>
              <a:buFont typeface="Arial"/>
              <a:buChar char="·"/>
            </a:pPr>
            <a:r>
              <a:rPr lang="ko-KR" altLang="en-US" sz="1200" dirty="0">
                <a:solidFill>
                  <a:srgbClr val="E8EAF0"/>
                </a:solidFill>
                <a:latin typeface="Segoe UI"/>
                <a:ea typeface="맑은 고딕"/>
              </a:rPr>
              <a:t>Google 코드 컨벤션 준수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altLang="en-US" sz="1200" dirty="0">
                <a:solidFill>
                  <a:srgbClr val="E8EAF0"/>
                </a:solidFill>
                <a:latin typeface="Segoe UI"/>
                <a:ea typeface="맑은 고딕"/>
              </a:rPr>
              <a:t>일관된 네이밍 · 들여쓰기 규칙 적용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altLang="en-US" sz="1200" dirty="0">
                <a:solidFill>
                  <a:srgbClr val="E8EAF0"/>
                </a:solidFill>
                <a:latin typeface="Segoe UI"/>
                <a:ea typeface="맑은 고딕"/>
              </a:rPr>
              <a:t>팀 전체 동일 포맷 유지</a:t>
            </a:r>
          </a:p>
        </p:txBody>
      </p:sp>
      <p:sp>
        <p:nvSpPr>
          <p:cNvPr id="107" name="Desc"/>
          <p:cNvSpPr/>
          <p:nvPr/>
        </p:nvSpPr>
        <p:spPr>
          <a:xfrm>
            <a:off x="4413849" y="3175000"/>
            <a:ext cx="3657600" cy="281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8000" indent="-178000" algn="l">
              <a:spcBef>
                <a:spcPts val="0"/>
              </a:spcBef>
              <a:buFont typeface="Arial"/>
              <a:buChar char="·"/>
            </a:pPr>
            <a:r>
              <a:rPr lang="ko-KR" altLang="en-US" sz="1200" dirty="0">
                <a:solidFill>
                  <a:srgbClr val="E8EAF0"/>
                </a:solidFill>
                <a:latin typeface="Segoe UI"/>
                <a:ea typeface="맑은 고딕"/>
              </a:rPr>
              <a:t>PR 생성 후 Approve 1개 획득 시 Merge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altLang="en-US" sz="1200" dirty="0">
                <a:solidFill>
                  <a:srgbClr val="E8EAF0"/>
                </a:solidFill>
                <a:latin typeface="Segoe UI"/>
                <a:ea typeface="맑은 고딕"/>
              </a:rPr>
              <a:t>리뷰어 1인 이상 승인 필수</a:t>
            </a:r>
          </a:p>
          <a:p>
            <a:pPr marL="178000" indent="-178000" algn="l">
              <a:spcBef>
                <a:spcPts val="400"/>
              </a:spcBef>
              <a:buFont typeface="Arial"/>
              <a:buChar char="·"/>
            </a:pPr>
            <a:r>
              <a:rPr lang="ko-KR" altLang="en-US" sz="1200" dirty="0">
                <a:solidFill>
                  <a:srgbClr val="E8EAF0"/>
                </a:solidFill>
                <a:latin typeface="Segoe UI"/>
                <a:ea typeface="맑은 고딕"/>
              </a:rPr>
              <a:t>상호 코드 리뷰 문화 정착</a:t>
            </a:r>
          </a:p>
        </p:txBody>
      </p:sp>
      <p:sp>
        <p:nvSpPr>
          <p:cNvPr id="108" name="Desc"/>
          <p:cNvSpPr/>
          <p:nvPr/>
        </p:nvSpPr>
        <p:spPr>
          <a:xfrm>
            <a:off x="8376249" y="3175000"/>
            <a:ext cx="3657600" cy="281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F6AD55"/>
                </a:solidFill>
                <a:latin typeface="Segoe UI"/>
              </a:rPr>
              <a:t>COMMIT TYPE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en-US" sz="1100" b="1" dirty="0">
                <a:solidFill>
                  <a:srgbClr val="4FD1C5"/>
                </a:solidFill>
                <a:latin typeface="Segoe UI"/>
              </a:rPr>
              <a:t>feat </a:t>
            </a:r>
            <a:r>
              <a:rPr lang="ko-KR" altLang="en-US" sz="1100" dirty="0">
                <a:solidFill>
                  <a:srgbClr val="E8EAF0"/>
                </a:solidFill>
                <a:latin typeface="Segoe UI"/>
                <a:ea typeface="맑은 고딕"/>
              </a:rPr>
              <a:t>새로운 기능 추가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FD1C5"/>
                </a:solidFill>
                <a:latin typeface="Segoe UI"/>
              </a:rPr>
              <a:t>fix </a:t>
            </a:r>
            <a:r>
              <a:rPr lang="ko-KR" altLang="en-US" sz="1100" dirty="0">
                <a:solidFill>
                  <a:srgbClr val="E8EAF0"/>
                </a:solidFill>
                <a:latin typeface="Segoe UI"/>
                <a:ea typeface="맑은 고딕"/>
              </a:rPr>
              <a:t>버그 수정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FD1C5"/>
                </a:solidFill>
                <a:latin typeface="Segoe UI"/>
              </a:rPr>
              <a:t>docs </a:t>
            </a:r>
            <a:r>
              <a:rPr lang="ko-KR" altLang="en-US" sz="1100" dirty="0">
                <a:solidFill>
                  <a:srgbClr val="E8EAF0"/>
                </a:solidFill>
                <a:latin typeface="Segoe UI"/>
                <a:ea typeface="맑은 고딕"/>
              </a:rPr>
              <a:t>문서 수정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FD1C5"/>
                </a:solidFill>
                <a:latin typeface="Segoe UI"/>
              </a:rPr>
              <a:t>style </a:t>
            </a:r>
            <a:r>
              <a:rPr lang="ko-KR" altLang="en-US" sz="1100" dirty="0">
                <a:solidFill>
                  <a:srgbClr val="E8EAF0"/>
                </a:solidFill>
                <a:latin typeface="Segoe UI"/>
                <a:ea typeface="맑은 고딕"/>
              </a:rPr>
              <a:t>코드 포맷팅 · 변경 없음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FD1C5"/>
                </a:solidFill>
                <a:latin typeface="Segoe UI"/>
              </a:rPr>
              <a:t>refactor </a:t>
            </a:r>
            <a:r>
              <a:rPr lang="ko-KR" altLang="en-US" sz="1100" dirty="0">
                <a:solidFill>
                  <a:srgbClr val="E8EAF0"/>
                </a:solidFill>
                <a:latin typeface="Segoe UI"/>
                <a:ea typeface="맑은 고딕"/>
              </a:rPr>
              <a:t>코드 리팩토링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FD1C5"/>
                </a:solidFill>
                <a:latin typeface="Segoe UI"/>
              </a:rPr>
              <a:t>test </a:t>
            </a:r>
            <a:r>
              <a:rPr lang="ko-KR" altLang="en-US" sz="1100" dirty="0">
                <a:solidFill>
                  <a:srgbClr val="E8EAF0"/>
                </a:solidFill>
                <a:latin typeface="Segoe UI"/>
                <a:ea typeface="맑은 고딕"/>
              </a:rPr>
              <a:t>테스트 코드 추가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4FD1C5"/>
                </a:solidFill>
                <a:latin typeface="Segoe UI"/>
              </a:rPr>
              <a:t>chore </a:t>
            </a:r>
            <a:r>
              <a:rPr lang="ko-KR" altLang="en-US" sz="1100" dirty="0">
                <a:solidFill>
                  <a:srgbClr val="E8EAF0"/>
                </a:solidFill>
                <a:latin typeface="Segoe UI"/>
                <a:ea typeface="맑은 고딕"/>
              </a:rPr>
              <a:t>빌드 · 패키지 매니저 수정</a:t>
            </a:r>
          </a:p>
          <a:p>
            <a:pPr>
              <a:spcBef>
                <a:spcPts val="200"/>
              </a:spcBef>
            </a:pPr>
            <a:endParaRPr lang="ko-KR" altLang="en-US" sz="1100" dirty="0">
              <a:solidFill>
                <a:srgbClr val="E8EAF0"/>
              </a:solidFill>
              <a:latin typeface="Segoe UI"/>
              <a:ea typeface="맑은 고딕"/>
            </a:endParaRPr>
          </a:p>
          <a:p>
            <a:pPr marL="0" indent="0" algn="l">
              <a:spcBef>
                <a:spcPts val="450"/>
              </a:spcBef>
              <a:buNone/>
            </a:pPr>
            <a:r>
              <a:rPr lang="en-US" sz="1000" b="1" dirty="0">
                <a:solidFill>
                  <a:srgbClr val="F6AD55"/>
                </a:solidFill>
                <a:latin typeface="Segoe UI"/>
              </a:rPr>
              <a:t>BODY : [TYPE] BODY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ko-KR" altLang="en-US" sz="950" i="1" dirty="0">
                <a:solidFill>
                  <a:srgbClr val="B8BECF"/>
                </a:solidFill>
                <a:latin typeface="Segoe UI"/>
                <a:ea typeface="맑은 고딕"/>
              </a:rPr>
              <a:t>[test] Checker Local 중복 변수 Test Case 추가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73938A-507C-4B32-BF16-5E311B38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137" y="4020100"/>
            <a:ext cx="3002312" cy="28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33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01  ASSEMBLER · 기능 구현 ①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Tokenizer · 문자 → 토큰 스트림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9600" y="2032000"/>
            <a:ext cx="5181600" cy="4064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핵심</a:t>
            </a:r>
            <a:r>
              <a:rPr lang="en-US" sz="1500" b="1" dirty="0">
                <a:solidFill>
                  <a:srgbClr val="4FD1C5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구조</a:t>
            </a:r>
            <a:endParaRPr lang="en-US" sz="1500" b="1" dirty="0" err="1">
              <a:solidFill>
                <a:srgbClr val="4FD1C5"/>
              </a:solidFill>
              <a:latin typeface="Segoe UI"/>
              <a:cs typeface="Segoe UI"/>
            </a:endParaRPr>
          </a:p>
          <a:p>
            <a:endParaRPr lang="en-US" altLang="ko-KR" sz="1500" b="1" dirty="0">
              <a:solidFill>
                <a:srgbClr val="4FD1C5"/>
              </a:solidFill>
              <a:latin typeface="Segoe UI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ko-KR" sz="1300" dirty="0">
                <a:solidFill>
                  <a:srgbClr val="E8EAF0"/>
                </a:solidFill>
                <a:latin typeface="Segoe UI"/>
              </a:rPr>
              <a:t>source (문자열)</a:t>
            </a:r>
          </a:p>
          <a:p>
            <a:pPr>
              <a:spcBef>
                <a:spcPts val="250"/>
              </a:spcBef>
            </a:pPr>
            <a:r>
              <a:rPr lang="ko-KR" altLang="en-US" sz="1300" dirty="0">
                <a:solidFill>
                  <a:srgbClr val="A0AEC0"/>
                </a:solidFill>
                <a:latin typeface="Segoe UI"/>
                <a:ea typeface="맑은 고딕"/>
              </a:rPr>
              <a:t> </a:t>
            </a:r>
            <a:r>
              <a:rPr lang="ko-KR" sz="1300" dirty="0">
                <a:solidFill>
                  <a:srgbClr val="A0AEC0"/>
                </a:solidFill>
                <a:latin typeface="Segoe UI"/>
                <a:ea typeface="맑은 고딕"/>
              </a:rPr>
              <a:t>   ↓ </a:t>
            </a:r>
            <a:r>
              <a:rPr lang="ko-KR" sz="1300" dirty="0" err="1">
                <a:solidFill>
                  <a:srgbClr val="A0AEC0"/>
                </a:solidFill>
                <a:latin typeface="Segoe UI"/>
                <a:ea typeface="맑은 고딕"/>
              </a:rPr>
              <a:t>start</a:t>
            </a:r>
            <a:r>
              <a:rPr lang="ko-KR" sz="1300" dirty="0">
                <a:solidFill>
                  <a:srgbClr val="A0AEC0"/>
                </a:solidFill>
                <a:latin typeface="Segoe UI"/>
                <a:ea typeface="맑은 고딕"/>
              </a:rPr>
              <a:t> / </a:t>
            </a:r>
            <a:r>
              <a:rPr lang="ko-KR" sz="1300" dirty="0" err="1">
                <a:solidFill>
                  <a:srgbClr val="A0AEC0"/>
                </a:solidFill>
                <a:latin typeface="Segoe UI"/>
                <a:ea typeface="맑은 고딕"/>
              </a:rPr>
              <a:t>current</a:t>
            </a:r>
            <a:r>
              <a:rPr lang="ko-KR" sz="1300" dirty="0">
                <a:solidFill>
                  <a:srgbClr val="A0AEC0"/>
                </a:solidFill>
                <a:latin typeface="Segoe UI"/>
                <a:ea typeface="맑은 고딕"/>
              </a:rPr>
              <a:t> 포인터로 한 </a:t>
            </a:r>
            <a:r>
              <a:rPr lang="ko-KR" sz="1300" dirty="0" err="1">
                <a:solidFill>
                  <a:srgbClr val="A0AEC0"/>
                </a:solidFill>
                <a:latin typeface="Segoe UI"/>
                <a:ea typeface="맑은 고딕"/>
              </a:rPr>
              <a:t>문자씩</a:t>
            </a:r>
            <a:r>
              <a:rPr lang="ko-KR" sz="1300" dirty="0">
                <a:solidFill>
                  <a:srgbClr val="A0AEC0"/>
                </a:solidFill>
                <a:latin typeface="Segoe UI"/>
                <a:ea typeface="맑은 고딕"/>
              </a:rPr>
              <a:t> 스캔</a:t>
            </a:r>
            <a:endParaRPr lang="ko-KR" sz="13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ko-KR" sz="1300" dirty="0">
                <a:solidFill>
                  <a:srgbClr val="E8EAF0"/>
                </a:solidFill>
                <a:latin typeface="Segoe UI"/>
              </a:rPr>
              <a:t>scanToken() → switch(c)로 토큰 결정</a:t>
            </a:r>
          </a:p>
          <a:p>
            <a:pPr>
              <a:spcBef>
                <a:spcPts val="250"/>
              </a:spcBef>
            </a:pPr>
            <a:r>
              <a:rPr lang="ko-KR" altLang="en-US" sz="1300" dirty="0">
                <a:solidFill>
                  <a:srgbClr val="A0AEC0"/>
                </a:solidFill>
                <a:latin typeface="Segoe UI"/>
                <a:ea typeface="맑은 고딕"/>
              </a:rPr>
              <a:t>  </a:t>
            </a:r>
            <a:r>
              <a:rPr lang="ko-KR" sz="1300" dirty="0">
                <a:solidFill>
                  <a:srgbClr val="A0AEC0"/>
                </a:solidFill>
                <a:latin typeface="Segoe UI"/>
                <a:ea typeface="맑은 고딕"/>
              </a:rPr>
              <a:t>  ↓</a:t>
            </a:r>
            <a:endParaRPr lang="ko-KR" sz="13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ko-KR" sz="1300" dirty="0">
                <a:solidFill>
                  <a:srgbClr val="E8EAF0"/>
                </a:solidFill>
                <a:latin typeface="Segoe UI"/>
              </a:rPr>
              <a:t>tokens 리스트 추가 → EOF로 마무리</a:t>
            </a:r>
          </a:p>
          <a:p>
            <a:pPr>
              <a:spcBef>
                <a:spcPts val="250"/>
              </a:spcBef>
            </a:pPr>
            <a:endParaRPr lang="ko-KR" altLang="en-US" sz="1300" dirty="0">
              <a:solidFill>
                <a:srgbClr val="E8EAF0"/>
              </a:solidFill>
              <a:latin typeface="Segoe UI"/>
              <a:ea typeface="맑은 고딕"/>
            </a:endParaRPr>
          </a:p>
          <a:p>
            <a:pPr>
              <a:spcBef>
                <a:spcPts val="600"/>
              </a:spcBef>
              <a:buNone/>
            </a:pPr>
            <a:r>
              <a:rPr lang="ko-KR" sz="1300" b="1" dirty="0">
                <a:solidFill>
                  <a:srgbClr val="FC8181"/>
                </a:solidFill>
                <a:latin typeface="Segoe UI"/>
              </a:rPr>
              <a:t>에러 처리</a:t>
            </a:r>
          </a:p>
          <a:p>
            <a:pPr>
              <a:spcBef>
                <a:spcPts val="250"/>
              </a:spcBef>
            </a:pPr>
            <a:r>
              <a:rPr lang="ko-KR" altLang="en-US" sz="1300" dirty="0">
                <a:solidFill>
                  <a:srgbClr val="FC8181"/>
                </a:solidFill>
                <a:latin typeface="Segoe UI"/>
                <a:ea typeface="맑은 고딕"/>
              </a:rPr>
              <a:t> </a:t>
            </a:r>
            <a:r>
              <a:rPr lang="ko-KR" sz="1300" dirty="0">
                <a:solidFill>
                  <a:srgbClr val="FC8181"/>
                </a:solidFill>
                <a:latin typeface="Segoe UI"/>
                <a:ea typeface="맑은 고딕"/>
              </a:rPr>
              <a:t>미정의 문자 → </a:t>
            </a:r>
            <a:r>
              <a:rPr lang="ko-KR" sz="1300" dirty="0" err="1">
                <a:solidFill>
                  <a:srgbClr val="FC8181"/>
                </a:solidFill>
                <a:latin typeface="Segoe UI"/>
                <a:ea typeface="맑은 고딕"/>
              </a:rPr>
              <a:t>ParseError</a:t>
            </a:r>
            <a:r>
              <a:rPr lang="ko-KR" sz="1300" dirty="0">
                <a:solidFill>
                  <a:srgbClr val="FC8181"/>
                </a:solidFill>
                <a:latin typeface="Segoe UI"/>
                <a:ea typeface="맑은 고딕"/>
              </a:rPr>
              <a:t>("예상치 못한 문자")</a:t>
            </a:r>
            <a:endParaRPr lang="ko-KR" sz="1300" dirty="0">
              <a:solidFill>
                <a:srgbClr val="FC8181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250"/>
              </a:spcBef>
            </a:pPr>
            <a:r>
              <a:rPr lang="ko-KR" sz="1300" dirty="0">
                <a:solidFill>
                  <a:srgbClr val="FC8181"/>
                </a:solidFill>
                <a:latin typeface="Segoe UI"/>
                <a:ea typeface="맑은 고딕"/>
              </a:rPr>
              <a:t> 닫히지 않은 "" → </a:t>
            </a:r>
            <a:r>
              <a:rPr lang="ko-KR" sz="1300" dirty="0" err="1">
                <a:solidFill>
                  <a:srgbClr val="FC8181"/>
                </a:solidFill>
                <a:latin typeface="Segoe UI"/>
                <a:ea typeface="맑은 고딕"/>
              </a:rPr>
              <a:t>ParseError</a:t>
            </a:r>
            <a:r>
              <a:rPr lang="ko-KR" sz="1300" dirty="0">
                <a:solidFill>
                  <a:srgbClr val="FC8181"/>
                </a:solidFill>
                <a:latin typeface="Segoe UI"/>
                <a:ea typeface="맑은 고딕"/>
              </a:rPr>
              <a:t>("닫히지 않은 문자열")</a:t>
            </a:r>
            <a:endParaRPr lang="ko-KR" sz="1300" dirty="0">
              <a:solidFill>
                <a:srgbClr val="FC8181"/>
              </a:solidFill>
              <a:latin typeface="Segoe UI"/>
              <a:ea typeface="맑은 고딕"/>
              <a:cs typeface="Segoe UI"/>
            </a:endParaRP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791200" y="2032000"/>
            <a:ext cx="5181600" cy="4064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3B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500" b="1" dirty="0" err="1">
                <a:solidFill>
                  <a:srgbClr val="63B3ED"/>
                </a:solidFill>
                <a:latin typeface="Segoe UI"/>
              </a:rPr>
              <a:t>지원</a:t>
            </a:r>
            <a:r>
              <a:rPr lang="en-US" sz="1500" b="1" dirty="0">
                <a:solidFill>
                  <a:srgbClr val="63B3ED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63B3ED"/>
                </a:solidFill>
                <a:latin typeface="Segoe UI"/>
              </a:rPr>
              <a:t>토큰</a:t>
            </a:r>
          </a:p>
          <a:p>
            <a:endParaRPr lang="en-US" altLang="ko-KR" sz="1500" b="1" dirty="0">
              <a:solidFill>
                <a:srgbClr val="63B3ED"/>
              </a:solidFill>
              <a:latin typeface="Segoe UI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4FD1C5"/>
                </a:solidFill>
                <a:latin typeface="Segoe UI"/>
              </a:rPr>
              <a:t>구분자  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( ) { } [ ] ; 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4FD1C5"/>
                </a:solidFill>
                <a:latin typeface="Segoe UI"/>
              </a:rPr>
              <a:t>연산자  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+ - * / % = == != &gt; &gt;= &lt; &lt;= !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4FD1C5"/>
                </a:solidFill>
                <a:latin typeface="Segoe UI"/>
              </a:rPr>
              <a:t>  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and  or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F6AD55"/>
                </a:solidFill>
                <a:latin typeface="Segoe UI"/>
                <a:ea typeface="맑은 고딕"/>
              </a:rPr>
              <a:t>리터럴  </a:t>
            </a:r>
            <a:r>
              <a:rPr lang="en-US" sz="1250" dirty="0" err="1">
                <a:solidFill>
                  <a:srgbClr val="E8EAF0"/>
                </a:solidFill>
                <a:latin typeface="Consolas"/>
              </a:rPr>
              <a:t>숫자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(double) · "</a:t>
            </a:r>
            <a:r>
              <a:rPr lang="en-US" sz="1250" dirty="0" err="1">
                <a:solidFill>
                  <a:srgbClr val="E8EAF0"/>
                </a:solidFill>
                <a:latin typeface="Consolas"/>
              </a:rPr>
              <a:t>문자열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" · true/false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68D391"/>
                </a:solidFill>
                <a:latin typeface="Segoe UI"/>
              </a:rPr>
              <a:t>예약어  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var if else for Func return print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sz="1300" b="1" dirty="0">
                <a:solidFill>
                  <a:srgbClr val="A0AEC0"/>
                </a:solidFill>
                <a:latin typeface="Segoe UI"/>
                <a:ea typeface="맑은 고딕"/>
              </a:rPr>
              <a:t>기타  </a:t>
            </a:r>
            <a:r>
              <a:rPr lang="en-US" sz="1250" dirty="0" err="1">
                <a:solidFill>
                  <a:srgbClr val="E8EAF0"/>
                </a:solidFill>
                <a:latin typeface="Consolas"/>
              </a:rPr>
              <a:t>식별자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(</a:t>
            </a:r>
            <a:r>
              <a:rPr lang="en-US" sz="1250" dirty="0" err="1">
                <a:solidFill>
                  <a:srgbClr val="E8EAF0"/>
                </a:solidFill>
                <a:latin typeface="Consolas"/>
              </a:rPr>
              <a:t>변수명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) · // </a:t>
            </a:r>
            <a:r>
              <a:rPr lang="en-US" sz="1250" dirty="0" err="1">
                <a:solidFill>
                  <a:srgbClr val="E8EAF0"/>
                </a:solidFill>
                <a:latin typeface="Consolas"/>
              </a:rPr>
              <a:t>주석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(</a:t>
            </a:r>
            <a:r>
              <a:rPr lang="en-US" sz="1250" dirty="0" err="1">
                <a:solidFill>
                  <a:srgbClr val="E8EAF0"/>
                </a:solidFill>
                <a:latin typeface="Consolas"/>
              </a:rPr>
              <a:t>무시</a:t>
            </a:r>
            <a:r>
              <a:rPr lang="en-US" sz="1250" dirty="0">
                <a:solidFill>
                  <a:srgbClr val="E8EAF0"/>
                </a:solidFill>
                <a:latin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00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02  ASSEMBLER · 기능 구현 ②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Parser · 토큰 스트림 → AST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9600" y="2032000"/>
            <a:ext cx="5181600" cy="4064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파싱</a:t>
            </a:r>
            <a:r>
              <a:rPr lang="en-US" sz="1500" b="1" dirty="0">
                <a:solidFill>
                  <a:srgbClr val="4FD1C5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방식</a:t>
            </a:r>
          </a:p>
          <a:p>
            <a:endParaRPr lang="en-US" altLang="ko-KR" sz="1500" b="1" dirty="0">
              <a:solidFill>
                <a:srgbClr val="4FD1C5"/>
              </a:solidFill>
              <a:latin typeface="Segoe UI"/>
            </a:endParaRPr>
          </a:p>
          <a:p>
            <a:pPr marL="200000" indent="-200000">
              <a:spcBef>
                <a:spcPts val="400"/>
              </a:spcBef>
              <a:buFont typeface="Arial"/>
              <a:buChar char="•"/>
            </a:pPr>
            <a:r>
              <a:rPr lang="ko-KR" sz="1350" dirty="0">
                <a:solidFill>
                  <a:srgbClr val="E8EAF0"/>
                </a:solidFill>
                <a:latin typeface="Segoe UI"/>
              </a:rPr>
              <a:t>재귀 하강 파싱 (Recursive Descent)</a:t>
            </a:r>
          </a:p>
          <a:p>
            <a:pPr marL="200000" indent="-200000">
              <a:spcBef>
                <a:spcPts val="400"/>
              </a:spcBef>
              <a:buFont typeface="Arial"/>
              <a:buChar char="•"/>
            </a:pPr>
            <a:r>
              <a:rPr lang="ko-KR" sz="1350" dirty="0">
                <a:solidFill>
                  <a:srgbClr val="E8EAF0"/>
                </a:solidFill>
                <a:latin typeface="Segoe UI"/>
              </a:rPr>
              <a:t>문법 우선순위를 메서드 호출 계층으로 표현</a:t>
            </a:r>
          </a:p>
          <a:p>
            <a:pPr marL="200000" indent="-200000">
              <a:spcBef>
                <a:spcPts val="400"/>
              </a:spcBef>
              <a:buFont typeface="Arial"/>
              <a:buChar char="•"/>
            </a:pPr>
            <a:r>
              <a:rPr lang="ko-KR" sz="1350" dirty="0">
                <a:solidFill>
                  <a:srgbClr val="E8EAF0"/>
                </a:solidFill>
                <a:latin typeface="Segoe UI"/>
              </a:rPr>
              <a:t>낮은 우선순위 메서드가 높은 쪽을 호출</a:t>
            </a:r>
          </a:p>
          <a:p>
            <a:pPr marL="200000" indent="-200000">
              <a:spcBef>
                <a:spcPts val="400"/>
              </a:spcBef>
              <a:buFont typeface="Arial"/>
              <a:buChar char="•"/>
            </a:pPr>
            <a:r>
              <a:rPr lang="ko-KR" sz="1350" dirty="0">
                <a:solidFill>
                  <a:srgbClr val="E8EAF0"/>
                </a:solidFill>
                <a:latin typeface="Segoe UI"/>
              </a:rPr>
              <a:t>→ 깊이 호출될수록 먼저 묶임 (트리 하단)</a:t>
            </a: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791200" y="2032000"/>
            <a:ext cx="5181600" cy="4064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3B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500" b="1" dirty="0" err="1">
                <a:solidFill>
                  <a:srgbClr val="63B3ED"/>
                </a:solidFill>
                <a:latin typeface="Segoe UI"/>
              </a:rPr>
              <a:t>우선순위</a:t>
            </a:r>
            <a:r>
              <a:rPr lang="en-US" sz="1500" b="1" dirty="0">
                <a:solidFill>
                  <a:srgbClr val="63B3ED"/>
                </a:solidFill>
                <a:latin typeface="Segoe UI"/>
              </a:rPr>
              <a:t> (</a:t>
            </a:r>
            <a:r>
              <a:rPr lang="en-US" sz="1500" b="1" dirty="0" err="1">
                <a:solidFill>
                  <a:srgbClr val="63B3ED"/>
                </a:solidFill>
                <a:latin typeface="Segoe UI"/>
              </a:rPr>
              <a:t>낮음</a:t>
            </a:r>
            <a:r>
              <a:rPr lang="en-US" sz="1500" b="1" dirty="0">
                <a:solidFill>
                  <a:srgbClr val="63B3ED"/>
                </a:solidFill>
                <a:latin typeface="Segoe UI"/>
              </a:rPr>
              <a:t> → </a:t>
            </a:r>
            <a:r>
              <a:rPr lang="en-US" sz="1500" b="1" dirty="0" err="1">
                <a:solidFill>
                  <a:srgbClr val="63B3ED"/>
                </a:solidFill>
                <a:latin typeface="Segoe UI"/>
              </a:rPr>
              <a:t>높음</a:t>
            </a:r>
            <a:r>
              <a:rPr lang="en-US" sz="1500" b="1" dirty="0">
                <a:solidFill>
                  <a:srgbClr val="63B3ED"/>
                </a:solidFill>
                <a:latin typeface="Segoe UI"/>
              </a:rPr>
              <a:t>)</a:t>
            </a:r>
          </a:p>
          <a:p>
            <a:endParaRPr lang="en-US" altLang="ko-KR" sz="1500" b="1" dirty="0">
              <a:solidFill>
                <a:srgbClr val="63B3ED"/>
              </a:solidFill>
              <a:latin typeface="Segoe UI"/>
            </a:endParaRPr>
          </a:p>
          <a:p>
            <a:pPr marL="0" indent="0">
              <a:spcBef>
                <a:spcPts val="350"/>
              </a:spcBef>
              <a:buNone/>
            </a:pPr>
            <a:r>
              <a:rPr lang="ko-KR" sz="1250" b="1" dirty="0">
                <a:solidFill>
                  <a:srgbClr val="F6AD55"/>
                </a:solidFill>
                <a:latin typeface="Segoe UI"/>
              </a:rPr>
              <a:t>대입  </a:t>
            </a:r>
            <a:r>
              <a:rPr lang="en-US" sz="1200" dirty="0">
                <a:solidFill>
                  <a:srgbClr val="4FD1C5"/>
                </a:solidFill>
                <a:latin typeface="Consolas"/>
              </a:rPr>
              <a:t>assignment()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  a = 3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ko-KR" sz="1250" b="1" dirty="0">
                <a:solidFill>
                  <a:srgbClr val="F6AD55"/>
                </a:solidFill>
                <a:latin typeface="Segoe UI"/>
              </a:rPr>
              <a:t>논리  </a:t>
            </a:r>
            <a:r>
              <a:rPr lang="en-US" sz="1200" dirty="0">
                <a:solidFill>
                  <a:srgbClr val="4FD1C5"/>
                </a:solidFill>
                <a:latin typeface="Consolas"/>
              </a:rPr>
              <a:t>or() / and()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  a or b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ko-KR" sz="1250" b="1" dirty="0">
                <a:solidFill>
                  <a:srgbClr val="F6AD55"/>
                </a:solidFill>
                <a:latin typeface="Segoe UI"/>
              </a:rPr>
              <a:t>비교  </a:t>
            </a:r>
            <a:r>
              <a:rPr lang="en-US" sz="1200" dirty="0">
                <a:solidFill>
                  <a:srgbClr val="4FD1C5"/>
                </a:solidFill>
                <a:latin typeface="Consolas"/>
              </a:rPr>
              <a:t>comparison()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  a &gt; b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ko-KR" sz="1250" b="1" dirty="0">
                <a:solidFill>
                  <a:srgbClr val="F6AD55"/>
                </a:solidFill>
                <a:latin typeface="Segoe UI"/>
              </a:rPr>
              <a:t>덧셈  </a:t>
            </a:r>
            <a:r>
              <a:rPr lang="en-US" sz="1200" dirty="0">
                <a:solidFill>
                  <a:srgbClr val="4FD1C5"/>
                </a:solidFill>
                <a:latin typeface="Consolas"/>
              </a:rPr>
              <a:t>term()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  a + b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ko-KR" sz="1250" b="1" dirty="0">
                <a:solidFill>
                  <a:srgbClr val="F6AD55"/>
                </a:solidFill>
                <a:latin typeface="Segoe UI"/>
              </a:rPr>
              <a:t>곱셈  </a:t>
            </a:r>
            <a:r>
              <a:rPr lang="en-US" sz="1200" dirty="0">
                <a:solidFill>
                  <a:srgbClr val="4FD1C5"/>
                </a:solidFill>
                <a:latin typeface="Consolas"/>
              </a:rPr>
              <a:t>factor()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  a * b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ko-KR" sz="1250" b="1" dirty="0">
                <a:solidFill>
                  <a:srgbClr val="F6AD55"/>
                </a:solidFill>
                <a:latin typeface="Segoe UI"/>
              </a:rPr>
              <a:t>단항  </a:t>
            </a:r>
            <a:r>
              <a:rPr lang="en-US" sz="1200" dirty="0">
                <a:solidFill>
                  <a:srgbClr val="4FD1C5"/>
                </a:solidFill>
                <a:latin typeface="Consolas"/>
              </a:rPr>
              <a:t>unary()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  -a  !a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ko-KR" sz="1250" b="1" dirty="0">
                <a:solidFill>
                  <a:srgbClr val="F6AD55"/>
                </a:solidFill>
                <a:latin typeface="Segoe UI"/>
                <a:ea typeface="맑은 고딕"/>
              </a:rPr>
              <a:t>호출·인덱스  </a:t>
            </a:r>
            <a:r>
              <a:rPr lang="en-US" sz="1200" dirty="0">
                <a:solidFill>
                  <a:srgbClr val="4FD1C5"/>
                </a:solidFill>
                <a:latin typeface="Consolas"/>
              </a:rPr>
              <a:t>call()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  add(1,2) </a:t>
            </a:r>
            <a:r>
              <a:rPr lang="en-US" sz="1150" dirty="0" err="1">
                <a:solidFill>
                  <a:srgbClr val="A0AEC0"/>
                </a:solidFill>
                <a:latin typeface="Consolas"/>
              </a:rPr>
              <a:t>arr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[</a:t>
            </a:r>
            <a:r>
              <a:rPr lang="en-US" sz="1150" dirty="0" err="1">
                <a:solidFill>
                  <a:srgbClr val="A0AEC0"/>
                </a:solidFill>
                <a:latin typeface="Consolas"/>
              </a:rPr>
              <a:t>i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]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ko-KR" sz="1250" b="1" dirty="0">
                <a:solidFill>
                  <a:srgbClr val="F6AD55"/>
                </a:solidFill>
                <a:latin typeface="Segoe UI"/>
                <a:ea typeface="맑은 고딕"/>
              </a:rPr>
              <a:t>기본값  </a:t>
            </a:r>
            <a:r>
              <a:rPr lang="en-US" sz="1200" dirty="0">
                <a:solidFill>
                  <a:srgbClr val="4FD1C5"/>
                </a:solidFill>
                <a:latin typeface="Consolas"/>
              </a:rPr>
              <a:t>primary()</a:t>
            </a:r>
            <a:r>
              <a:rPr lang="en-US" sz="1150" dirty="0">
                <a:solidFill>
                  <a:srgbClr val="A0AEC0"/>
                </a:solidFill>
                <a:latin typeface="Consolas"/>
              </a:rPr>
              <a:t>  </a:t>
            </a:r>
            <a:r>
              <a:rPr lang="en-US" sz="1150" dirty="0" err="1">
                <a:solidFill>
                  <a:srgbClr val="A0AEC0"/>
                </a:solidFill>
                <a:latin typeface="Consolas"/>
              </a:rPr>
              <a:t>리터럴·변수·괄호</a:t>
            </a:r>
          </a:p>
        </p:txBody>
      </p:sp>
    </p:spTree>
    <p:extLst>
      <p:ext uri="{BB962C8B-B14F-4D97-AF65-F5344CB8AC3E}">
        <p14:creationId xmlns:p14="http://schemas.microsoft.com/office/powerpoint/2010/main" val="223330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03  ASSEMBLER · TDD ①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구분자 토큰화 · 기본 RED → GREEN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6192" y="1827561"/>
            <a:ext cx="53340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FC8181"/>
                </a:solidFill>
                <a:latin typeface="Segoe UI"/>
              </a:rPr>
              <a:t>🔴 RED · </a:t>
            </a:r>
            <a:r>
              <a:rPr lang="en-US" sz="1400" b="1" dirty="0" err="1">
                <a:solidFill>
                  <a:srgbClr val="FC8181"/>
                </a:solidFill>
                <a:latin typeface="Segoe UI"/>
              </a:rPr>
              <a:t>테스트</a:t>
            </a:r>
            <a:r>
              <a:rPr lang="en-US" sz="1400" b="1" dirty="0">
                <a:solidFill>
                  <a:srgbClr val="FC8181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FC8181"/>
                </a:solidFill>
                <a:latin typeface="Segoe UI"/>
              </a:rPr>
              <a:t>먼저</a:t>
            </a:r>
            <a:endParaRPr lang="en-US" sz="1400" b="1" dirty="0" err="1">
              <a:solidFill>
                <a:srgbClr val="FC8181"/>
              </a:solidFill>
              <a:latin typeface="Segoe UI"/>
              <a:cs typeface="Segoe UI"/>
            </a:endParaRPr>
          </a:p>
          <a:p>
            <a:pPr marL="0" indent="0"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ko-KR" altLang="en-US" sz="12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150"/>
              </a:spcBef>
            </a:pPr>
            <a:endParaRPr lang="ko-KR" altLang="en-US" sz="12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150"/>
              </a:spcBef>
            </a:pPr>
            <a:endParaRPr lang="ko-KR" altLang="en-US" sz="12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150"/>
              </a:spcBef>
            </a:pPr>
            <a:endParaRPr lang="ko-KR" altLang="en-US" sz="12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150"/>
              </a:spcBef>
            </a:pPr>
            <a:endParaRPr lang="en-US" altLang="ko-KR" sz="12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150"/>
              </a:spcBef>
            </a:pPr>
            <a:endParaRPr lang="en-US" altLang="ko-KR" sz="12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150"/>
              </a:spcBef>
            </a:pPr>
            <a:endParaRPr lang="ko-KR" altLang="en-US" sz="12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150"/>
              </a:spcBef>
            </a:pPr>
            <a:r>
              <a:rPr lang="ko-KR" altLang="en-US" sz="1200" dirty="0">
                <a:solidFill>
                  <a:schemeClr val="tx1"/>
                </a:solidFill>
                <a:latin typeface="Segoe UI"/>
                <a:ea typeface="맑은 고딕"/>
                <a:cs typeface="Segoe UI"/>
              </a:rPr>
              <a:t>▎ 구현 전 기대 동작을 테스트로 먼저 명세</a:t>
            </a:r>
            <a:endParaRPr lang="en-US" sz="1200" dirty="0">
              <a:solidFill>
                <a:schemeClr val="tx1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943600" y="1827561"/>
            <a:ext cx="59690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68D391"/>
                </a:solidFill>
                <a:latin typeface="Segoe UI"/>
              </a:rPr>
              <a:t>🟢 GREEN · </a:t>
            </a:r>
            <a:r>
              <a:rPr lang="en-US" sz="1400" b="1" dirty="0" err="1">
                <a:solidFill>
                  <a:srgbClr val="68D391"/>
                </a:solidFill>
                <a:latin typeface="Segoe UI"/>
              </a:rPr>
              <a:t>최소</a:t>
            </a:r>
            <a:r>
              <a:rPr lang="en-US" sz="1400" b="1" dirty="0">
                <a:solidFill>
                  <a:srgbClr val="68D391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68D391"/>
                </a:solidFill>
                <a:latin typeface="Segoe UI"/>
              </a:rPr>
              <a:t>구현</a:t>
            </a:r>
            <a:endParaRPr lang="en-US" sz="1400" b="1" dirty="0" err="1">
              <a:solidFill>
                <a:srgbClr val="68D391"/>
              </a:solidFill>
              <a:latin typeface="Segoe UI"/>
              <a:cs typeface="Segoe UI"/>
            </a:endParaRPr>
          </a:p>
          <a:p>
            <a:pPr marL="0" indent="0"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buNone/>
            </a:pPr>
            <a:endParaRPr lang="en-US" altLang="ko-KR" sz="600">
              <a:solidFill>
                <a:srgbClr val="1A1E2A"/>
              </a:solidFill>
              <a:latin typeface="Segoe UI"/>
              <a:cs typeface="Segoe UI"/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0202D4-AA33-198E-B988-BB0413DFA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49" y="2843677"/>
            <a:ext cx="5010150" cy="285127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A6906AE-0518-4347-929A-A72050DD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43676"/>
            <a:ext cx="5489808" cy="337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3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04  ASSEMBLER · TDD ②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1077218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ko-KR" altLang="en-US" sz="3200" b="1" dirty="0">
                <a:solidFill>
                  <a:srgbClr val="FFFFFF"/>
                </a:solidFill>
                <a:latin typeface="Segoe UI Semibold"/>
                <a:ea typeface="맑은 고딕"/>
              </a:rPr>
              <a:t>연산자 우선순위 </a:t>
            </a:r>
            <a:r>
              <a:rPr lang="ko-KR" sz="3200" b="1">
                <a:solidFill>
                  <a:srgbClr val="FFFFFF"/>
                </a:solidFill>
                <a:latin typeface="Segoe UI Semibold"/>
                <a:ea typeface="맑은 고딕"/>
              </a:rPr>
              <a:t>TDD · </a:t>
            </a:r>
            <a:r>
              <a:rPr lang="en-US" altLang="ko-KR" sz="3200" b="1">
                <a:solidFill>
                  <a:srgbClr val="FFFFFF"/>
                </a:solidFill>
                <a:latin typeface="Segoe UI Semibold"/>
                <a:ea typeface="맑은 고딕"/>
              </a:rPr>
              <a:t>Parser</a:t>
            </a:r>
            <a:r>
              <a:rPr lang="ko-KR" altLang="en-US" sz="3200" b="1">
                <a:solidFill>
                  <a:srgbClr val="FFFFFF"/>
                </a:solidFill>
                <a:latin typeface="Segoe UI Semibold"/>
                <a:ea typeface="맑은 고딕"/>
              </a:rPr>
              <a:t> 설계 명세</a:t>
            </a:r>
            <a:endParaRPr lang="ko-KR" altLang="en-US" sz="3200">
              <a:solidFill>
                <a:srgbClr val="000000"/>
              </a:solidFill>
              <a:latin typeface="Segoe UI Semibold"/>
              <a:ea typeface="맑은 고딕"/>
            </a:endParaRPr>
          </a:p>
          <a:p>
            <a:endParaRPr lang="ko-KR" sz="3200" b="1" dirty="0">
              <a:solidFill>
                <a:srgbClr val="FFFFFF"/>
              </a:solidFill>
              <a:latin typeface="Segoe UI Semibold"/>
              <a:ea typeface="맑은 고딕"/>
              <a:cs typeface="Segoe UI Semibold"/>
            </a:endParaRP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GoalCard">
            <a:extLst>
              <a:ext uri="{FF2B5EF4-FFF2-40B4-BE49-F238E27FC236}">
                <a16:creationId xmlns:a16="http://schemas.microsoft.com/office/drawing/2014/main" id="{CDDFDFD9-76BD-5D4C-89CD-196703B3469A}"/>
              </a:ext>
            </a:extLst>
          </p:cNvPr>
          <p:cNvSpPr/>
          <p:nvPr/>
        </p:nvSpPr>
        <p:spPr>
          <a:xfrm>
            <a:off x="609600" y="2032000"/>
            <a:ext cx="5181600" cy="4343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300" b="1" dirty="0">
                <a:solidFill>
                  <a:srgbClr val="FC8181"/>
                </a:solidFill>
                <a:latin typeface="Segoe UI"/>
              </a:rPr>
              <a:t>🔴 RED</a:t>
            </a:r>
          </a:p>
          <a:p>
            <a:pPr marL="0" indent="0">
              <a:spcBef>
                <a:spcPts val="100"/>
              </a:spcBef>
              <a:buNone/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</p:txBody>
      </p:sp>
      <p:sp>
        <p:nvSpPr>
          <p:cNvPr id="6" name="TimelineCard">
            <a:extLst>
              <a:ext uri="{FF2B5EF4-FFF2-40B4-BE49-F238E27FC236}">
                <a16:creationId xmlns:a16="http://schemas.microsoft.com/office/drawing/2014/main" id="{4B788E45-ED39-26AF-CDCE-175E16CED509}"/>
              </a:ext>
            </a:extLst>
          </p:cNvPr>
          <p:cNvSpPr/>
          <p:nvPr/>
        </p:nvSpPr>
        <p:spPr>
          <a:xfrm>
            <a:off x="5781908" y="2032000"/>
            <a:ext cx="6055111" cy="4343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300" b="1" dirty="0">
                <a:solidFill>
                  <a:srgbClr val="68D391"/>
                </a:solidFill>
                <a:latin typeface="Segoe UI"/>
              </a:rPr>
              <a:t>🟢 GREEN · </a:t>
            </a:r>
            <a:r>
              <a:rPr lang="en-US" sz="1300" b="1" dirty="0" err="1">
                <a:solidFill>
                  <a:srgbClr val="68D391"/>
                </a:solidFill>
                <a:latin typeface="Segoe UI"/>
              </a:rPr>
              <a:t>재귀하강으로</a:t>
            </a:r>
            <a:r>
              <a:rPr lang="en-US" sz="1300" b="1" dirty="0">
                <a:solidFill>
                  <a:srgbClr val="68D391"/>
                </a:solidFill>
                <a:latin typeface="Segoe UI"/>
              </a:rPr>
              <a:t> </a:t>
            </a:r>
            <a:r>
              <a:rPr lang="en-US" sz="1300" b="1" dirty="0" err="1">
                <a:solidFill>
                  <a:srgbClr val="68D391"/>
                </a:solidFill>
                <a:latin typeface="Segoe UI"/>
              </a:rPr>
              <a:t>우선순위</a:t>
            </a:r>
            <a:r>
              <a:rPr lang="en-US" sz="1300" b="1" dirty="0">
                <a:solidFill>
                  <a:srgbClr val="68D391"/>
                </a:solidFill>
                <a:latin typeface="Segoe UI"/>
              </a:rPr>
              <a:t> </a:t>
            </a:r>
            <a:r>
              <a:rPr lang="en-US" sz="1300" b="1" dirty="0" err="1">
                <a:solidFill>
                  <a:srgbClr val="68D391"/>
                </a:solidFill>
                <a:latin typeface="Segoe UI"/>
              </a:rPr>
              <a:t>표현</a:t>
            </a:r>
            <a:endParaRPr lang="en-US" sz="1300" b="1" dirty="0" err="1">
              <a:solidFill>
                <a:srgbClr val="68D391"/>
              </a:solidFill>
              <a:latin typeface="Segoe UI"/>
              <a:cs typeface="Segoe UI"/>
            </a:endParaRPr>
          </a:p>
          <a:p>
            <a:pPr marL="0" indent="0">
              <a:spcBef>
                <a:spcPts val="100"/>
              </a:spcBef>
              <a:buNone/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altLang="ko-KR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altLang="ko-KR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altLang="ko-KR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altLang="ko-KR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endParaRPr lang="en-US" altLang="ko-KR" sz="10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250"/>
              </a:spcBef>
              <a:buNone/>
            </a:pPr>
            <a:r>
              <a:rPr lang="ko-KR" sz="1100" dirty="0">
                <a:solidFill>
                  <a:schemeClr val="tx1"/>
                </a:solidFill>
                <a:latin typeface="Segoe UI"/>
              </a:rPr>
              <a:t>▎ "1+2*3 트리 구조"를 테스트로 명세</a:t>
            </a:r>
          </a:p>
          <a:p>
            <a:pPr>
              <a:spcBef>
                <a:spcPts val="250"/>
              </a:spcBef>
              <a:buNone/>
            </a:pPr>
            <a:r>
              <a:rPr lang="ko-KR" sz="1100" dirty="0">
                <a:solidFill>
                  <a:schemeClr val="tx1"/>
                </a:solidFill>
                <a:latin typeface="Segoe UI"/>
              </a:rPr>
              <a:t>   → 재귀하강 구조가 자연히 도출</a:t>
            </a:r>
          </a:p>
        </p:txBody>
      </p:sp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772CE1-A764-785F-AA30-017FB5346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88" y="2813709"/>
            <a:ext cx="4780389" cy="2143302"/>
          </a:xfrm>
          <a:prstGeom prst="rect">
            <a:avLst/>
          </a:prstGeom>
        </p:spPr>
      </p:pic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4D67AD-B0AA-6354-3DB8-C4FDBDB46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63" y="2817890"/>
            <a:ext cx="5715000" cy="23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05  ASSEMBLER · 리팩토링 ①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9-case 분기 → 정적 Map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6192" y="1827561"/>
            <a:ext cx="5640659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FC8181"/>
                </a:solidFill>
                <a:latin typeface="Segoe UI"/>
              </a:rPr>
              <a:t>BEFORE</a:t>
            </a:r>
          </a:p>
          <a:p>
            <a:pPr marL="0" indent="0"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6268843" y="1827561"/>
            <a:ext cx="5643757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68D391"/>
                </a:solidFill>
                <a:latin typeface="Segoe UI"/>
              </a:rPr>
              <a:t>AFTER</a:t>
            </a:r>
          </a:p>
          <a:p>
            <a:pPr marL="0" indent="0">
              <a:buNone/>
            </a:pPr>
            <a:endParaRPr lang="en-US" sz="600" dirty="0"/>
          </a:p>
          <a:p>
            <a:endParaRPr lang="en-US" altLang="ko-KR" sz="600" dirty="0">
              <a:solidFill>
                <a:srgbClr val="1A1E2A"/>
              </a:solidFill>
              <a:latin typeface="Segoe UI"/>
            </a:endParaRPr>
          </a:p>
          <a:p>
            <a:endParaRPr lang="en-US" altLang="ko-KR" sz="600" dirty="0">
              <a:solidFill>
                <a:srgbClr val="1A1E2A"/>
              </a:solidFill>
              <a:latin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altLang="ko-KR" sz="600" dirty="0">
              <a:solidFill>
                <a:srgbClr val="1A1E2A"/>
              </a:solidFill>
              <a:latin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sz="600" dirty="0">
              <a:solidFill>
                <a:srgbClr val="1A1E2A"/>
              </a:solidFill>
              <a:latin typeface="Segoe UI"/>
              <a:cs typeface="Segoe UI"/>
            </a:endParaRPr>
          </a:p>
          <a:p>
            <a:endParaRPr lang="en-US" altLang="ko-KR" sz="600" dirty="0">
              <a:solidFill>
                <a:srgbClr val="1A1E2A"/>
              </a:solidFill>
              <a:latin typeface="Segoe UI"/>
              <a:ea typeface="맑은 고딕"/>
            </a:endParaRPr>
          </a:p>
          <a:p>
            <a:endParaRPr lang="en-US" altLang="ko-KR" sz="600" dirty="0">
              <a:solidFill>
                <a:srgbClr val="1A1E2A"/>
              </a:solidFill>
              <a:latin typeface="Segoe UI"/>
              <a:ea typeface="맑은 고딕"/>
            </a:endParaRPr>
          </a:p>
          <a:p>
            <a:endParaRPr lang="en-US" altLang="ko-KR" sz="600" dirty="0">
              <a:solidFill>
                <a:srgbClr val="1A1E2A"/>
              </a:solidFill>
              <a:latin typeface="Segoe UI"/>
              <a:ea typeface="맑은 고딕"/>
            </a:endParaRPr>
          </a:p>
          <a:p>
            <a:endParaRPr lang="en-US" altLang="ko-KR" sz="600" dirty="0">
              <a:solidFill>
                <a:srgbClr val="1A1E2A"/>
              </a:solidFill>
              <a:latin typeface="Segoe UI"/>
              <a:ea typeface="맑은 고딕"/>
            </a:endParaRPr>
          </a:p>
          <a:p>
            <a:pPr>
              <a:spcBef>
                <a:spcPts val="300"/>
              </a:spcBef>
            </a:pPr>
            <a:r>
              <a:rPr lang="ko-KR" sz="1200" dirty="0">
                <a:solidFill>
                  <a:schemeClr val="tx1"/>
                </a:solidFill>
                <a:latin typeface="Segoe UI"/>
                <a:ea typeface="맑은 고딕"/>
              </a:rPr>
              <a:t>▎</a:t>
            </a:r>
            <a:r>
              <a:rPr lang="ko-KR" altLang="en-US" sz="1200" dirty="0">
                <a:solidFill>
                  <a:schemeClr val="tx1"/>
                </a:solidFill>
                <a:latin typeface="Segoe UI"/>
                <a:ea typeface="맑은 고딕"/>
              </a:rPr>
              <a:t> </a:t>
            </a:r>
            <a:r>
              <a:rPr lang="ko-KR" sz="1200" dirty="0">
                <a:solidFill>
                  <a:schemeClr val="tx1"/>
                </a:solidFill>
                <a:latin typeface="Segoe UI"/>
                <a:ea typeface="맑은 고딕"/>
              </a:rPr>
              <a:t>키워드 추가가 한 줄 → 확장에 열린 구조</a:t>
            </a:r>
            <a:r>
              <a:rPr lang="en-US" altLang="ko-KR" sz="1200" dirty="0">
                <a:solidFill>
                  <a:schemeClr val="tx1"/>
                </a:solidFill>
                <a:latin typeface="Segoe UI"/>
                <a:ea typeface="맑은 고딕"/>
              </a:rPr>
              <a:t> (OCP)</a:t>
            </a:r>
            <a:endParaRPr lang="ko-KR" dirty="0">
              <a:solidFill>
                <a:schemeClr val="tx1"/>
              </a:solidFill>
              <a:ea typeface="맑은 고딕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B77E2EB-427E-9FB0-5B82-7F9FADD37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25" y="3019657"/>
            <a:ext cx="5283123" cy="71646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1C3C359-D9A5-266C-A5EE-C65FD7B69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668" y="3021399"/>
            <a:ext cx="5207154" cy="114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70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06  ASSEMBLER · 리팩토링 ②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반복 패턴 → 헬퍼 메서드 추출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596900" y="1827561"/>
            <a:ext cx="54864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endParaRPr lang="en-US"/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6311900" y="1827561"/>
            <a:ext cx="54864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endParaRPr lang="en-US"/>
          </a:p>
        </p:txBody>
      </p:sp>
      <p:pic>
        <p:nvPicPr>
          <p:cNvPr id="2" name="그림 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19D14F-1633-5EF5-7ABB-2F54573F0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577575"/>
            <a:ext cx="5120268" cy="1140443"/>
          </a:xfrm>
          <a:prstGeom prst="rect">
            <a:avLst/>
          </a:prstGeom>
        </p:spPr>
      </p:pic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5F28B6-EC99-DF30-B34F-986B7E0B2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332" y="4414992"/>
            <a:ext cx="4525536" cy="1762512"/>
          </a:xfrm>
          <a:prstGeom prst="rect">
            <a:avLst/>
          </a:prstGeom>
        </p:spPr>
      </p:pic>
      <p:pic>
        <p:nvPicPr>
          <p:cNvPr id="16" name="Copied Picture 16">
            <a:extLst>
              <a:ext uri="{FF2B5EF4-FFF2-40B4-BE49-F238E27FC236}">
                <a16:creationId xmlns:a16="http://schemas.microsoft.com/office/drawing/2014/main" id="{8C85831F-8FBD-EE88-38FB-3BF6029BF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3088888"/>
            <a:ext cx="5110975" cy="955288"/>
          </a:xfrm>
          <a:prstGeom prst="rect">
            <a:avLst/>
          </a:prstGeom>
        </p:spPr>
      </p:pic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F565C60B-2C87-F4A3-D698-B1A278F90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985" y="2791522"/>
            <a:ext cx="5073804" cy="1258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0F019A-12D9-4282-BE69-0499D4E66AD2}"/>
              </a:ext>
            </a:extLst>
          </p:cNvPr>
          <p:cNvSpPr txBox="1"/>
          <p:nvPr/>
        </p:nvSpPr>
        <p:spPr>
          <a:xfrm>
            <a:off x="812800" y="2387600"/>
            <a:ext cx="3810000" cy="279400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ctr" anchorCtr="0">
            <a:noAutofit/>
          </a:bodyPr>
          <a:lstStyle/>
          <a:p>
            <a:endParaRPr lang="af-ZA" altLang="ko-KR" sz="1400" b="1" dirty="0">
              <a:solidFill>
                <a:srgbClr val="4FD1C5"/>
              </a:solidFill>
              <a:latin typeface="Segoe UI"/>
              <a:ea typeface="맑은 고딕"/>
              <a:cs typeface="Segoe UI"/>
            </a:endParaRPr>
          </a:p>
          <a:p>
            <a:r>
              <a:rPr lang="en-US" sz="1400" b="1" dirty="0">
                <a:solidFill>
                  <a:srgbClr val="FC8181"/>
                </a:solidFill>
                <a:latin typeface="Segoe UI"/>
                <a:ea typeface="맑은 고딕"/>
                <a:cs typeface="Segoe UI"/>
              </a:rPr>
              <a:t>BEFORE</a:t>
            </a:r>
            <a:endParaRPr lang="af-ZA" sz="1400" dirty="0">
              <a:solidFill>
                <a:srgbClr val="000000"/>
              </a:solidFill>
              <a:latin typeface="Segoe UI"/>
              <a:ea typeface="맑은 고딕"/>
              <a:cs typeface="Segoe UI"/>
            </a:endParaRPr>
          </a:p>
          <a:p>
            <a:endParaRPr lang="af-ZA" altLang="ko-KR" sz="1400" b="1" dirty="0">
              <a:solidFill>
                <a:srgbClr val="4FD1C5"/>
              </a:solidFill>
              <a:latin typeface="Segoe UI"/>
              <a:ea typeface="맑은 고딕"/>
              <a:cs typeface="Segoe UI"/>
            </a:endParaRPr>
          </a:p>
          <a:p>
            <a:pPr algn="l"/>
            <a:r>
              <a:rPr lang="af-ZA" altLang="ko-KR" sz="1400" b="1" dirty="0">
                <a:solidFill>
                  <a:srgbClr val="4FD1C5"/>
                </a:solidFill>
                <a:latin typeface="Segoe UI"/>
                <a:ea typeface="맑은 고딕"/>
                <a:cs typeface="Segoe UI"/>
              </a:rPr>
              <a:t>① addToken() </a:t>
            </a:r>
            <a:r>
              <a:rPr lang="ko-KR" altLang="en-US" sz="1400" b="1" dirty="0" err="1">
                <a:solidFill>
                  <a:srgbClr val="4FD1C5"/>
                </a:solidFill>
                <a:latin typeface="Segoe UI"/>
                <a:ea typeface="맑은 고딕"/>
                <a:cs typeface="Segoe UI"/>
              </a:rPr>
              <a:t>헬퍼</a:t>
            </a:r>
            <a:r>
              <a:rPr lang="ko-KR" altLang="en-US" sz="1400" b="1" dirty="0">
                <a:solidFill>
                  <a:srgbClr val="4FD1C5"/>
                </a:solidFill>
                <a:latin typeface="Segoe UI"/>
                <a:ea typeface="맑은 고딕"/>
                <a:cs typeface="Segoe UI"/>
              </a:rPr>
              <a:t> 추출</a:t>
            </a:r>
            <a:endParaRPr 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9C7C6-BEFE-4D00-9F1A-9788C1132D08}"/>
              </a:ext>
            </a:extLst>
          </p:cNvPr>
          <p:cNvSpPr txBox="1"/>
          <p:nvPr/>
        </p:nvSpPr>
        <p:spPr>
          <a:xfrm>
            <a:off x="812800" y="4171176"/>
            <a:ext cx="3810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af-ZA" altLang="ko-KR" sz="1400" b="1">
                <a:solidFill>
                  <a:srgbClr val="4FD1C5"/>
                </a:solidFill>
                <a:latin typeface="Segoe UI"/>
                <a:cs typeface="Segoe UI"/>
              </a:rPr>
              <a:t>② consume() </a:t>
            </a:r>
            <a:r>
              <a:rPr lang="ko-KR" altLang="en-US" sz="1400" b="1">
                <a:solidFill>
                  <a:srgbClr val="4FD1C5"/>
                </a:solidFill>
                <a:latin typeface="Segoe UI"/>
                <a:cs typeface="Segoe UI"/>
              </a:rPr>
              <a:t>추출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E7474-1940-A1C9-1ED8-BBBB0A8700D3}"/>
              </a:ext>
            </a:extLst>
          </p:cNvPr>
          <p:cNvSpPr txBox="1"/>
          <p:nvPr/>
        </p:nvSpPr>
        <p:spPr>
          <a:xfrm>
            <a:off x="6843752" y="2248210"/>
            <a:ext cx="3810000" cy="279400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ctr" anchorCtr="0">
            <a:noAutofit/>
          </a:bodyPr>
          <a:lstStyle/>
          <a:p>
            <a:endParaRPr lang="af-ZA" altLang="ko-KR" sz="1400" b="1" dirty="0">
              <a:solidFill>
                <a:srgbClr val="4FD1C5"/>
              </a:solidFill>
              <a:latin typeface="Segoe UI"/>
              <a:ea typeface="맑은 고딕"/>
              <a:cs typeface="Segoe UI"/>
            </a:endParaRPr>
          </a:p>
          <a:p>
            <a:r>
              <a:rPr lang="en-US" sz="1400" b="1">
                <a:solidFill>
                  <a:srgbClr val="68D391"/>
                </a:solidFill>
                <a:latin typeface="Segoe UI"/>
                <a:ea typeface="맑은 고딕"/>
                <a:cs typeface="Segoe UI"/>
              </a:rPr>
              <a:t>AFTER</a:t>
            </a:r>
            <a:endParaRPr lang="en-US" sz="1400">
              <a:solidFill>
                <a:srgbClr val="000000"/>
              </a:solidFill>
              <a:latin typeface="Segoe UI"/>
              <a:ea typeface="맑은 고딕"/>
              <a:cs typeface="Segoe UI"/>
            </a:endParaRPr>
          </a:p>
          <a:p>
            <a:pPr algn="l"/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36839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07  CHECKER · 기능 구현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Checker · 실행 전 의미 검사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9600" y="2159000"/>
            <a:ext cx="4826000" cy="3810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buNone/>
            </a:pPr>
            <a:r>
              <a:rPr lang="en-US" sz="1500" b="1" dirty="0">
                <a:solidFill>
                  <a:srgbClr val="4FD1C5"/>
                </a:solidFill>
              </a:rPr>
              <a:t>① 의미 검사 — DFS</a:t>
            </a:r>
          </a:p>
          <a:p>
            <a:pPr>
              <a:buNone/>
            </a:pPr>
            <a:endParaRPr lang="en-US" sz="1500" b="1" dirty="0">
              <a:solidFill>
                <a:srgbClr val="4FD1C5"/>
              </a:solidFill>
            </a:endParaRP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</a:rPr>
              <a:t>AST를 재귀 DFS로 순회하며 검사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</a:rPr>
              <a:t>심볼 테이블로 선언/참조 추적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</a:rPr>
              <a:t>실행 전에 오류를 미리 차단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300" dirty="0">
                <a:solidFill>
                  <a:srgbClr val="4FD1C5"/>
                </a:solidFill>
              </a:rPr>
              <a:t>checkNode(node) → DFS(children)</a:t>
            </a: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740400" y="2159000"/>
            <a:ext cx="5842000" cy="3810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3B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buNone/>
            </a:pPr>
            <a:r>
              <a:rPr lang="en-US" sz="1500" b="1" dirty="0">
                <a:solidFill>
                  <a:srgbClr val="63B3ED"/>
                </a:solidFill>
              </a:rPr>
              <a:t>② </a:t>
            </a:r>
            <a:r>
              <a:rPr lang="en-US" sz="1500" b="1" dirty="0" err="1">
                <a:solidFill>
                  <a:srgbClr val="63B3ED"/>
                </a:solidFill>
              </a:rPr>
              <a:t>검사</a:t>
            </a:r>
            <a:r>
              <a:rPr lang="en-US" sz="1500" b="1" dirty="0">
                <a:solidFill>
                  <a:srgbClr val="63B3ED"/>
                </a:solidFill>
              </a:rPr>
              <a:t> </a:t>
            </a:r>
            <a:r>
              <a:rPr lang="en-US" sz="1500" b="1" dirty="0" err="1">
                <a:solidFill>
                  <a:srgbClr val="63B3ED"/>
                </a:solidFill>
              </a:rPr>
              <a:t>항목</a:t>
            </a:r>
            <a:endParaRPr lang="en-US" sz="1500" b="1" dirty="0">
              <a:solidFill>
                <a:srgbClr val="63B3ED"/>
              </a:solidFill>
            </a:endParaRPr>
          </a:p>
          <a:p>
            <a:pPr>
              <a:buNone/>
            </a:pPr>
            <a:endParaRPr lang="en-US" sz="1500" b="1" dirty="0">
              <a:solidFill>
                <a:srgbClr val="63B3ED"/>
              </a:solidFill>
            </a:endParaRP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</a:rPr>
              <a:t>중복 선언: 같은 스코프 내 재선언 탐지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</a:rPr>
              <a:t>자기 참조: 선언 중 자기 자신 참조 차단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</a:rPr>
              <a:t>미정의 식별자 사용 검출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300" dirty="0">
                <a:solidFill>
                  <a:srgbClr val="4FD1C5"/>
                </a:solidFill>
              </a:rPr>
              <a:t>var x = x;  // ❌ 자기참조 오류</a:t>
            </a:r>
          </a:p>
        </p:txBody>
      </p:sp>
    </p:spTree>
    <p:extLst>
      <p:ext uri="{BB962C8B-B14F-4D97-AF65-F5344CB8AC3E}">
        <p14:creationId xmlns:p14="http://schemas.microsoft.com/office/powerpoint/2010/main" val="369136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08  CHECKER · TDD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Checker · 테스트 주도 개발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6192" y="1827561"/>
            <a:ext cx="53340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FC8181"/>
                </a:solidFill>
                <a:latin typeface="Segoe UI"/>
              </a:rPr>
              <a:t>🔴 RED · </a:t>
            </a:r>
            <a:r>
              <a:rPr lang="en-US" sz="1400" b="1" dirty="0" err="1">
                <a:solidFill>
                  <a:srgbClr val="FC8181"/>
                </a:solidFill>
                <a:latin typeface="Segoe UI"/>
              </a:rPr>
              <a:t>테스트</a:t>
            </a:r>
            <a:r>
              <a:rPr lang="en-US" sz="1400" b="1" dirty="0">
                <a:solidFill>
                  <a:srgbClr val="FC8181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FC8181"/>
                </a:solidFill>
                <a:latin typeface="Segoe UI"/>
              </a:rPr>
              <a:t>먼저</a:t>
            </a:r>
            <a:endParaRPr lang="en-US" sz="1400" b="1" dirty="0" err="1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ko-KR" sz="1200" dirty="0">
              <a:solidFill>
                <a:srgbClr val="A0AEC0"/>
              </a:solidFill>
              <a:ea typeface="+mn-lt"/>
              <a:cs typeface="+mn-lt"/>
            </a:endParaRPr>
          </a:p>
          <a:p>
            <a:pPr>
              <a:spcBef>
                <a:spcPts val="150"/>
              </a:spcBef>
              <a:buNone/>
            </a:pPr>
            <a:endParaRPr lang="ko-KR" altLang="en-US" sz="1200" dirty="0">
              <a:solidFill>
                <a:srgbClr val="A0AEC0"/>
              </a:solidFill>
              <a:latin typeface="Segoe UI"/>
              <a:ea typeface="맑은 고딕"/>
              <a:cs typeface="Segoe UI"/>
            </a:endParaRP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943600" y="1827561"/>
            <a:ext cx="59690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68D391"/>
                </a:solidFill>
                <a:latin typeface="Segoe UI"/>
              </a:rPr>
              <a:t>🟢 GREEN · </a:t>
            </a:r>
            <a:r>
              <a:rPr lang="en-US" sz="1400" b="1" dirty="0" err="1">
                <a:solidFill>
                  <a:srgbClr val="68D391"/>
                </a:solidFill>
                <a:latin typeface="Segoe UI"/>
              </a:rPr>
              <a:t>최소</a:t>
            </a:r>
            <a:r>
              <a:rPr lang="en-US" sz="1400" b="1" dirty="0">
                <a:solidFill>
                  <a:srgbClr val="68D391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68D391"/>
                </a:solidFill>
                <a:latin typeface="Segoe UI"/>
              </a:rPr>
              <a:t>구현</a:t>
            </a:r>
            <a:endParaRPr lang="en-US" sz="1400" b="1" dirty="0" err="1">
              <a:solidFill>
                <a:srgbClr val="68D391"/>
              </a:solidFill>
              <a:latin typeface="Segoe UI"/>
              <a:cs typeface="Segoe UI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  <a:ea typeface="맑은 고딕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  <a:ea typeface="맑은 고딕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  <a:ea typeface="맑은 고딕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  <a:ea typeface="맑은 고딕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  <a:ea typeface="맑은 고딕"/>
            </a:endParaRPr>
          </a:p>
          <a:p>
            <a:pPr>
              <a:spcBef>
                <a:spcPts val="150"/>
              </a:spcBef>
            </a:pPr>
            <a:endParaRPr lang="en-US" altLang="ko-KR" sz="1100" dirty="0">
              <a:solidFill>
                <a:srgbClr val="E8EAF0"/>
              </a:solidFill>
              <a:latin typeface="Consolas"/>
              <a:ea typeface="맑은 고딕"/>
            </a:endParaRPr>
          </a:p>
          <a:p>
            <a:pPr>
              <a:spcBef>
                <a:spcPts val="150"/>
              </a:spcBef>
            </a:pPr>
            <a:r>
              <a:rPr lang="ko-KR" sz="1200">
                <a:solidFill>
                  <a:srgbClr val="A0AEC0"/>
                </a:solidFill>
                <a:latin typeface="Segoe UI"/>
              </a:rPr>
              <a:t>▎ visitBlock은 스코프의 범위를 만들고, visitVarDeclare는 그 범위 안에서 중복을 막습니다.</a:t>
            </a:r>
            <a:endParaRPr lang="ko-KR"/>
          </a:p>
        </p:txBody>
      </p:sp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3F5AE4-7E39-0F2F-9E36-21EC8C80D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7" y="2842051"/>
            <a:ext cx="4993656" cy="2261142"/>
          </a:xfrm>
          <a:prstGeom prst="rect">
            <a:avLst/>
          </a:prstGeom>
        </p:spPr>
      </p:pic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E35EF6-981C-9F99-4807-BD196C9D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762" y="2658985"/>
            <a:ext cx="5098209" cy="356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0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09  CHECKER · 리팩토링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반복 패턴 → 헬퍼 메서드 추출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6192" y="1827561"/>
            <a:ext cx="5700132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endParaRPr lang="en-US" sz="1200" dirty="0">
              <a:solidFill>
                <a:srgbClr val="A0AEC0"/>
              </a:solidFill>
              <a:latin typeface="Consolas"/>
            </a:endParaRP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6311900" y="1827561"/>
            <a:ext cx="54864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endParaRPr lang="ko-KR" sz="1300" dirty="0">
              <a:solidFill>
                <a:srgbClr val="E8EAF0"/>
              </a:solidFill>
              <a:latin typeface="Segoe UI"/>
            </a:endParaRPr>
          </a:p>
        </p:txBody>
      </p:sp>
      <p:sp>
        <p:nvSpPr>
          <p:cNvPr id="2" name="RefTopL">
            <a:extLst>
              <a:ext uri="{FF2B5EF4-FFF2-40B4-BE49-F238E27FC236}">
                <a16:creationId xmlns:a16="http://schemas.microsoft.com/office/drawing/2014/main" id="{580DE175-ECD1-4225-9FBD-0BE26063055D}"/>
              </a:ext>
            </a:extLst>
          </p:cNvPr>
          <p:cNvSpPr txBox="1"/>
          <p:nvPr/>
        </p:nvSpPr>
        <p:spPr>
          <a:xfrm>
            <a:off x="1110166" y="2387600"/>
            <a:ext cx="5334000" cy="2154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ko-KR" altLang="en-US" sz="1400" b="1" dirty="0" err="1">
                <a:solidFill>
                  <a:srgbClr val="FC8181"/>
                </a:solidFill>
                <a:latin typeface="Segoe UI"/>
                <a:ea typeface="맑은 고딕"/>
                <a:cs typeface="Segoe UI"/>
              </a:rPr>
              <a:t>Before</a:t>
            </a:r>
            <a:endParaRPr lang="ko-KR" altLang="en-US" sz="1400" b="1" dirty="0">
              <a:solidFill>
                <a:srgbClr val="FC8181"/>
              </a:solidFill>
              <a:latin typeface="Segoe UI"/>
              <a:ea typeface="맑은 고딕"/>
              <a:cs typeface="Segoe UI"/>
            </a:endParaRPr>
          </a:p>
        </p:txBody>
      </p:sp>
      <p:sp>
        <p:nvSpPr>
          <p:cNvPr id="3" name="RefTopR">
            <a:extLst>
              <a:ext uri="{FF2B5EF4-FFF2-40B4-BE49-F238E27FC236}">
                <a16:creationId xmlns:a16="http://schemas.microsoft.com/office/drawing/2014/main" id="{EBDC9594-50B7-467A-A426-72B272B30654}"/>
              </a:ext>
            </a:extLst>
          </p:cNvPr>
          <p:cNvSpPr txBox="1"/>
          <p:nvPr/>
        </p:nvSpPr>
        <p:spPr>
          <a:xfrm>
            <a:off x="6845300" y="23876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af-ZA" altLang="ko-KR" sz="1400" b="1">
                <a:solidFill>
                  <a:srgbClr val="68D391"/>
                </a:solidFill>
                <a:latin typeface="Segoe UI"/>
                <a:cs typeface="Segoe UI"/>
              </a:rPr>
              <a:t>After</a:t>
            </a:r>
            <a:endParaRPr lang="ko-KR" altLang="en-US" sz="1400" b="1">
              <a:solidFill>
                <a:srgbClr val="68D391"/>
              </a:solidFill>
              <a:latin typeface="Segoe UI"/>
              <a:cs typeface="Segoe UI"/>
            </a:endParaRPr>
          </a:p>
        </p:txBody>
      </p:sp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A9D244-131F-AA19-CA35-8106B231C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318" y="2698014"/>
            <a:ext cx="4371045" cy="3534239"/>
          </a:xfrm>
          <a:prstGeom prst="rect">
            <a:avLst/>
          </a:prstGeom>
        </p:spPr>
      </p:pic>
      <p:pic>
        <p:nvPicPr>
          <p:cNvPr id="19" name="그림 1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06AAD6-ED53-7333-5BEB-99EF1EBC4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526" y="2696156"/>
            <a:ext cx="4700702" cy="353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18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10  EXECUTOR · 기능 구현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Executor · 트리 실행 &amp; 런타임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9600" y="2159000"/>
            <a:ext cx="4826000" cy="3810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buNone/>
            </a:pPr>
            <a:r>
              <a:rPr lang="en-US" sz="1500" b="1" dirty="0">
                <a:solidFill>
                  <a:srgbClr val="4FD1C5"/>
                </a:solidFill>
                <a:latin typeface="Segoe UI"/>
              </a:rPr>
              <a:t>① 트리 실행 + </a:t>
            </a: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스코프</a:t>
            </a:r>
            <a:endParaRPr lang="en-US" sz="1500" b="1" dirty="0">
              <a:solidFill>
                <a:srgbClr val="4FD1C5"/>
              </a:solidFill>
              <a:latin typeface="Segoe UI"/>
            </a:endParaRPr>
          </a:p>
          <a:p>
            <a:pPr>
              <a:buNone/>
            </a:pPr>
            <a:endParaRPr lang="en-US" sz="1500" b="1" dirty="0">
              <a:solidFill>
                <a:srgbClr val="4FD1C5"/>
              </a:solidFill>
              <a:latin typeface="Segoe UI"/>
            </a:endParaRP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AST를 DFS로 순회하며 평가·실행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Global / Local 스코프 분리 관리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변수 저장소(Environment)로 값 관리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300" dirty="0">
                <a:solidFill>
                  <a:srgbClr val="4FD1C5"/>
                </a:solidFill>
                <a:latin typeface="Consolas"/>
              </a:rPr>
              <a:t>eval(node) → 스코프 체인 탐색</a:t>
            </a: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740400" y="2159000"/>
            <a:ext cx="5842000" cy="3810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3B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buNone/>
            </a:pPr>
            <a:r>
              <a:rPr lang="en-US" sz="1500" b="1" dirty="0">
                <a:solidFill>
                  <a:srgbClr val="63B3ED"/>
                </a:solidFill>
                <a:latin typeface="Segoe UI"/>
              </a:rPr>
              <a:t>② 런타임 </a:t>
            </a:r>
            <a:r>
              <a:rPr lang="en-US" sz="1500" b="1" dirty="0" err="1">
                <a:solidFill>
                  <a:srgbClr val="63B3ED"/>
                </a:solidFill>
                <a:latin typeface="Segoe UI"/>
              </a:rPr>
              <a:t>오류</a:t>
            </a:r>
            <a:r>
              <a:rPr lang="en-US" sz="1500" b="1" dirty="0">
                <a:solidFill>
                  <a:srgbClr val="63B3ED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63B3ED"/>
                </a:solidFill>
                <a:latin typeface="Segoe UI"/>
              </a:rPr>
              <a:t>처리</a:t>
            </a:r>
            <a:endParaRPr lang="en-US" sz="1500" b="1" dirty="0">
              <a:solidFill>
                <a:srgbClr val="63B3ED"/>
              </a:solidFill>
              <a:latin typeface="Segoe UI"/>
            </a:endParaRPr>
          </a:p>
          <a:p>
            <a:pPr>
              <a:buNone/>
            </a:pPr>
            <a:endParaRPr lang="en-US" sz="1500" b="1" dirty="0">
              <a:solidFill>
                <a:srgbClr val="63B3ED"/>
              </a:solidFill>
              <a:latin typeface="Segoe UI"/>
            </a:endParaRP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타입 불일치: 연산 대상 타입 검사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미정의 변수: 스코프에 없는 참조 차단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0으로 나누기: 나눗셈 분모 검사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300" dirty="0">
                <a:solidFill>
                  <a:srgbClr val="4FD1C5"/>
                </a:solidFill>
                <a:latin typeface="Consolas"/>
              </a:rPr>
              <a:t>1 / 0  // ❌ DivByZeroError</a:t>
            </a:r>
          </a:p>
        </p:txBody>
      </p:sp>
    </p:spTree>
    <p:extLst>
      <p:ext uri="{BB962C8B-B14F-4D97-AF65-F5344CB8AC3E}">
        <p14:creationId xmlns:p14="http://schemas.microsoft.com/office/powerpoint/2010/main" val="1628690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11  EXECUTOR · TDD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Executor · 테스트 주도 개발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6192" y="1827561"/>
            <a:ext cx="53340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FC8181"/>
                </a:solidFill>
                <a:latin typeface="Segoe UI"/>
              </a:rPr>
              <a:t>🔴 RED · </a:t>
            </a:r>
            <a:r>
              <a:rPr lang="en-US" sz="1400" b="1" dirty="0" err="1">
                <a:solidFill>
                  <a:srgbClr val="FC8181"/>
                </a:solidFill>
                <a:latin typeface="Segoe UI"/>
              </a:rPr>
              <a:t>테스트</a:t>
            </a:r>
            <a:r>
              <a:rPr lang="en-US" sz="1400" b="1" dirty="0">
                <a:solidFill>
                  <a:srgbClr val="FC8181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FC8181"/>
                </a:solidFill>
                <a:latin typeface="Segoe UI"/>
              </a:rPr>
              <a:t>먼저</a:t>
            </a:r>
            <a:endParaRPr lang="en-US" sz="1400" b="1" dirty="0" err="1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ko-KR" sz="1200" dirty="0">
              <a:solidFill>
                <a:srgbClr val="A0AEC0"/>
              </a:solidFill>
              <a:latin typeface="Segoe UI"/>
            </a:endParaRP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943600" y="1827561"/>
            <a:ext cx="59690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68D391"/>
                </a:solidFill>
                <a:latin typeface="Segoe UI"/>
              </a:rPr>
              <a:t>🟢 GREEN · </a:t>
            </a:r>
            <a:r>
              <a:rPr lang="en-US" sz="1400" b="1" dirty="0" err="1">
                <a:solidFill>
                  <a:srgbClr val="68D391"/>
                </a:solidFill>
                <a:latin typeface="Segoe UI"/>
              </a:rPr>
              <a:t>최소</a:t>
            </a:r>
            <a:r>
              <a:rPr lang="en-US" sz="1400" b="1" dirty="0">
                <a:solidFill>
                  <a:srgbClr val="68D391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68D391"/>
                </a:solidFill>
                <a:latin typeface="Segoe UI"/>
              </a:rPr>
              <a:t>구현</a:t>
            </a:r>
            <a:endParaRPr lang="en-US" sz="1400" b="1" dirty="0" err="1">
              <a:solidFill>
                <a:srgbClr val="68D391"/>
              </a:solidFill>
              <a:latin typeface="Segoe UI"/>
              <a:cs typeface="Segoe UI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150"/>
              </a:spcBef>
              <a:buNone/>
            </a:pPr>
            <a:endParaRPr lang="ko-KR" sz="1200" dirty="0">
              <a:solidFill>
                <a:srgbClr val="A0AEC0"/>
              </a:solidFill>
              <a:latin typeface="Segoe UI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B252DA-DAB2-0FE3-1BDD-23F40571A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01" y="2728797"/>
            <a:ext cx="4969263" cy="2785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269FD5-A590-4048-9BC8-1E09A6BB1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981" y="2728797"/>
            <a:ext cx="5397719" cy="305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07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6192" y="1827561"/>
            <a:ext cx="53340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endParaRPr lang="en-US" altLang="ko-KR" sz="1400" b="1" dirty="0">
              <a:solidFill>
                <a:srgbClr val="FC8181"/>
              </a:solidFill>
              <a:latin typeface="Segoe UI"/>
              <a:cs typeface="Segoe UI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FC8181"/>
                </a:solidFill>
                <a:latin typeface="Segoe UI"/>
                <a:cs typeface="Segoe UI"/>
              </a:rPr>
              <a:t>Map</a:t>
            </a:r>
            <a:r>
              <a:rPr lang="ko-KR" altLang="en-US" sz="1400" b="1" dirty="0">
                <a:solidFill>
                  <a:srgbClr val="FC8181"/>
                </a:solidFill>
                <a:latin typeface="Segoe UI"/>
                <a:cs typeface="Segoe UI"/>
              </a:rPr>
              <a:t>이 </a:t>
            </a:r>
            <a:r>
              <a:rPr lang="en-US" altLang="ko-KR" sz="1400" b="1" dirty="0">
                <a:solidFill>
                  <a:srgbClr val="FC8181"/>
                </a:solidFill>
                <a:latin typeface="Segoe UI"/>
                <a:cs typeface="Segoe UI"/>
              </a:rPr>
              <a:t>Executor </a:t>
            </a:r>
            <a:r>
              <a:rPr lang="ko-KR" altLang="en-US" sz="1400" b="1" dirty="0">
                <a:solidFill>
                  <a:srgbClr val="FC8181"/>
                </a:solidFill>
                <a:latin typeface="Segoe UI"/>
                <a:cs typeface="Segoe UI"/>
              </a:rPr>
              <a:t>안에 있어서 </a:t>
            </a:r>
            <a:r>
              <a:rPr lang="ko-KR" altLang="en-US" sz="1400" b="1" dirty="0" err="1">
                <a:solidFill>
                  <a:srgbClr val="FC8181"/>
                </a:solidFill>
                <a:latin typeface="Segoe UI"/>
                <a:cs typeface="Segoe UI"/>
              </a:rPr>
              <a:t>스코프가</a:t>
            </a:r>
            <a:r>
              <a:rPr lang="ko-KR" altLang="en-US" sz="1400" b="1" dirty="0">
                <a:solidFill>
                  <a:srgbClr val="FC8181"/>
                </a:solidFill>
                <a:latin typeface="Segoe UI"/>
                <a:cs typeface="Segoe UI"/>
              </a:rPr>
              <a:t> 하나밖에 없습니다</a:t>
            </a:r>
            <a:r>
              <a:rPr lang="en-US" altLang="ko-KR" sz="1400" b="1" dirty="0">
                <a:solidFill>
                  <a:srgbClr val="FC8181"/>
                </a:solidFill>
                <a:latin typeface="Segoe UI"/>
                <a:cs typeface="Segoe UI"/>
              </a:rPr>
              <a:t>. </a:t>
            </a:r>
            <a:r>
              <a:rPr lang="ko-KR" altLang="en-US" sz="1400" b="1" dirty="0">
                <a:solidFill>
                  <a:srgbClr val="FC8181"/>
                </a:solidFill>
                <a:latin typeface="Segoe UI"/>
                <a:cs typeface="Segoe UI"/>
              </a:rPr>
              <a:t>블록</a:t>
            </a:r>
            <a:r>
              <a:rPr lang="en-US" altLang="ko-KR" sz="1400" b="1" dirty="0">
                <a:solidFill>
                  <a:srgbClr val="FC8181"/>
                </a:solidFill>
                <a:latin typeface="Segoe UI"/>
                <a:cs typeface="Segoe UI"/>
              </a:rPr>
              <a:t>({}) </a:t>
            </a:r>
            <a:r>
              <a:rPr lang="ko-KR" altLang="en-US" sz="1400" b="1" dirty="0">
                <a:solidFill>
                  <a:srgbClr val="FC8181"/>
                </a:solidFill>
                <a:latin typeface="Segoe UI"/>
                <a:cs typeface="Segoe UI"/>
              </a:rPr>
              <a:t>안에 변수를 선언해도 전부 같은 </a:t>
            </a:r>
            <a:r>
              <a:rPr lang="en-US" altLang="ko-KR" sz="1400" b="1" dirty="0">
                <a:solidFill>
                  <a:srgbClr val="FC8181"/>
                </a:solidFill>
                <a:latin typeface="Segoe UI"/>
                <a:cs typeface="Segoe UI"/>
              </a:rPr>
              <a:t>Map</a:t>
            </a:r>
            <a:r>
              <a:rPr lang="ko-KR" altLang="en-US" sz="1400" b="1" dirty="0">
                <a:solidFill>
                  <a:srgbClr val="FC8181"/>
                </a:solidFill>
                <a:latin typeface="Segoe UI"/>
                <a:cs typeface="Segoe UI"/>
              </a:rPr>
              <a:t>에</a:t>
            </a:r>
          </a:p>
          <a:p>
            <a:pPr>
              <a:buNone/>
            </a:pPr>
            <a:r>
              <a:rPr lang="ko-KR" altLang="en-US" sz="1400" b="1" dirty="0">
                <a:solidFill>
                  <a:srgbClr val="FC8181"/>
                </a:solidFill>
                <a:latin typeface="Segoe UI"/>
                <a:cs typeface="Segoe UI"/>
              </a:rPr>
              <a:t>  들어가고</a:t>
            </a:r>
            <a:r>
              <a:rPr lang="en-US" altLang="ko-KR" sz="1400" b="1" dirty="0">
                <a:solidFill>
                  <a:srgbClr val="FC8181"/>
                </a:solidFill>
                <a:latin typeface="Segoe UI"/>
                <a:cs typeface="Segoe UI"/>
              </a:rPr>
              <a:t>, </a:t>
            </a:r>
            <a:r>
              <a:rPr lang="ko-KR" altLang="en-US" sz="1400" b="1" dirty="0">
                <a:solidFill>
                  <a:srgbClr val="FC8181"/>
                </a:solidFill>
                <a:latin typeface="Segoe UI"/>
                <a:cs typeface="Segoe UI"/>
              </a:rPr>
              <a:t>블록이 끝나도 변수가 사라지지 않습니다</a:t>
            </a:r>
            <a:r>
              <a:rPr lang="en-US" altLang="ko-KR" sz="1400" b="1" dirty="0">
                <a:solidFill>
                  <a:srgbClr val="FC8181"/>
                </a:solidFill>
                <a:latin typeface="Segoe UI"/>
                <a:cs typeface="Segoe UI"/>
              </a:rPr>
              <a:t>.</a:t>
            </a:r>
            <a:endParaRPr lang="en-US" sz="1400" b="1" dirty="0">
              <a:solidFill>
                <a:srgbClr val="FC8181"/>
              </a:solidFill>
              <a:latin typeface="Segoe UI"/>
              <a:cs typeface="Segoe UI"/>
            </a:endParaRPr>
          </a:p>
        </p:txBody>
      </p:sp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12  EXECUTOR · 리팩토링 &amp; 패턴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Executor · 리팩토링 &amp; 패턴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943600" y="1827561"/>
            <a:ext cx="5969000" cy="4714487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buNone/>
            </a:pPr>
            <a:endParaRPr lang="en-US" sz="1400" b="1" dirty="0">
              <a:solidFill>
                <a:srgbClr val="68D391"/>
              </a:solidFill>
              <a:latin typeface="Segoe UI"/>
            </a:endParaRPr>
          </a:p>
          <a:p>
            <a:pPr marL="0" indent="0">
              <a:spcBef>
                <a:spcPts val="300"/>
              </a:spcBef>
              <a:buNone/>
            </a:pPr>
            <a:endParaRPr lang="en-US" altLang="ko-KR" sz="1200" dirty="0">
              <a:solidFill>
                <a:srgbClr val="A0AEC0"/>
              </a:solidFill>
              <a:latin typeface="Consolas"/>
            </a:endParaRPr>
          </a:p>
        </p:txBody>
      </p:sp>
      <p:sp>
        <p:nvSpPr>
          <p:cNvPr id="3" name="RefTopL">
            <a:extLst>
              <a:ext uri="{FF2B5EF4-FFF2-40B4-BE49-F238E27FC236}">
                <a16:creationId xmlns:a16="http://schemas.microsoft.com/office/drawing/2014/main" id="{B89A2221-84DE-BED6-6646-4DF885549408}"/>
              </a:ext>
            </a:extLst>
          </p:cNvPr>
          <p:cNvSpPr txBox="1"/>
          <p:nvPr/>
        </p:nvSpPr>
        <p:spPr>
          <a:xfrm>
            <a:off x="961483" y="2173868"/>
            <a:ext cx="5334000" cy="2154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FC8181"/>
                </a:solidFill>
                <a:latin typeface="Segoe UI"/>
                <a:ea typeface="맑은 고딕"/>
                <a:cs typeface="Segoe UI"/>
              </a:rPr>
              <a:t>Before</a:t>
            </a:r>
          </a:p>
        </p:txBody>
      </p:sp>
      <p:sp>
        <p:nvSpPr>
          <p:cNvPr id="5" name="RefTopR">
            <a:extLst>
              <a:ext uri="{FF2B5EF4-FFF2-40B4-BE49-F238E27FC236}">
                <a16:creationId xmlns:a16="http://schemas.microsoft.com/office/drawing/2014/main" id="{6AC7C288-328A-D18D-EBAF-A9F43BA2C7C1}"/>
              </a:ext>
            </a:extLst>
          </p:cNvPr>
          <p:cNvSpPr txBox="1"/>
          <p:nvPr/>
        </p:nvSpPr>
        <p:spPr>
          <a:xfrm>
            <a:off x="6696617" y="2173868"/>
            <a:ext cx="4572000" cy="2154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af-ZA" altLang="ko-KR" sz="1400" b="1" dirty="0">
                <a:solidFill>
                  <a:srgbClr val="68D391"/>
                </a:solidFill>
                <a:latin typeface="Segoe UI"/>
                <a:cs typeface="Segoe UI"/>
              </a:rPr>
              <a:t>After</a:t>
            </a:r>
            <a:r>
              <a:rPr lang="en-US" altLang="ko-KR" sz="1400" b="1" dirty="0">
                <a:solidFill>
                  <a:srgbClr val="68D391"/>
                </a:solidFill>
                <a:latin typeface="Segoe UI"/>
              </a:rPr>
              <a:t> · SRP </a:t>
            </a:r>
            <a:r>
              <a:rPr lang="ko-KR" altLang="en-US" sz="1400" b="1" dirty="0">
                <a:solidFill>
                  <a:srgbClr val="68D391"/>
                </a:solidFill>
                <a:latin typeface="Segoe UI"/>
              </a:rPr>
              <a:t>적용</a:t>
            </a:r>
            <a:endParaRPr lang="ko-KR" altLang="en-US" sz="1400" b="1" dirty="0">
              <a:solidFill>
                <a:srgbClr val="68D391"/>
              </a:solidFill>
              <a:latin typeface="Segoe UI"/>
              <a:cs typeface="Segoe UI"/>
            </a:endParaRP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8542C0-E623-8943-899F-4594AE48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070" y="2612058"/>
            <a:ext cx="5275688" cy="2897689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B0927B-7A53-9FCA-61AD-AA420C1E1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39" y="2610664"/>
            <a:ext cx="4920708" cy="2900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48BF8-CBEE-4C6A-811D-437ADED0F7A9}"/>
              </a:ext>
            </a:extLst>
          </p:cNvPr>
          <p:cNvSpPr txBox="1"/>
          <p:nvPr/>
        </p:nvSpPr>
        <p:spPr>
          <a:xfrm>
            <a:off x="923383" y="5566418"/>
            <a:ext cx="45469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800" dirty="0">
                <a:latin typeface="+mn-ea"/>
              </a:rPr>
              <a:t>▎</a:t>
            </a:r>
            <a:r>
              <a:rPr lang="ko-KR" altLang="en-US" sz="1800" dirty="0">
                <a:latin typeface="+mn-ea"/>
              </a:rPr>
              <a:t> </a:t>
            </a:r>
            <a:r>
              <a:rPr lang="en-US" altLang="ko-KR" sz="1400" dirty="0">
                <a:latin typeface="+mn-ea"/>
              </a:rPr>
              <a:t>Map</a:t>
            </a:r>
            <a:r>
              <a:rPr lang="ko-KR" altLang="en-US" sz="1400" dirty="0">
                <a:latin typeface="+mn-ea"/>
              </a:rPr>
              <a:t>이 </a:t>
            </a:r>
            <a:r>
              <a:rPr lang="en-US" altLang="ko-KR" sz="1400" dirty="0">
                <a:latin typeface="+mn-ea"/>
              </a:rPr>
              <a:t>Executor </a:t>
            </a:r>
            <a:r>
              <a:rPr lang="ko-KR" altLang="en-US" sz="1400" dirty="0">
                <a:latin typeface="+mn-ea"/>
              </a:rPr>
              <a:t>안에 있어서 </a:t>
            </a:r>
            <a:r>
              <a:rPr lang="ko-KR" altLang="en-US" sz="1400" dirty="0" err="1">
                <a:latin typeface="+mn-ea"/>
              </a:rPr>
              <a:t>스코프가</a:t>
            </a:r>
            <a:r>
              <a:rPr lang="ko-KR" altLang="en-US" sz="1400" dirty="0">
                <a:latin typeface="+mn-ea"/>
              </a:rPr>
              <a:t> 하나밖에 없습니다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블록</a:t>
            </a:r>
            <a:r>
              <a:rPr lang="en-US" altLang="ko-KR" sz="1400" dirty="0">
                <a:latin typeface="+mn-ea"/>
              </a:rPr>
              <a:t>({}) </a:t>
            </a:r>
            <a:r>
              <a:rPr lang="ko-KR" altLang="en-US" sz="1400" dirty="0">
                <a:latin typeface="+mn-ea"/>
              </a:rPr>
              <a:t>안에 변수를 선언해도 전부 같은 </a:t>
            </a:r>
            <a:r>
              <a:rPr lang="en-US" altLang="ko-KR" sz="1400" dirty="0">
                <a:latin typeface="+mn-ea"/>
              </a:rPr>
              <a:t>Map</a:t>
            </a:r>
            <a:r>
              <a:rPr lang="ko-KR" altLang="en-US" sz="1400" dirty="0">
                <a:latin typeface="+mn-ea"/>
              </a:rPr>
              <a:t>에 들어가고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블록이 끝나도 변수가 사라지지 않습니다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0A0985-1898-4944-9D95-DDA8CA538A7C}"/>
              </a:ext>
            </a:extLst>
          </p:cNvPr>
          <p:cNvSpPr txBox="1"/>
          <p:nvPr/>
        </p:nvSpPr>
        <p:spPr>
          <a:xfrm>
            <a:off x="6661426" y="5602274"/>
            <a:ext cx="45469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800" dirty="0">
                <a:solidFill>
                  <a:srgbClr val="A0AEC0"/>
                </a:solidFill>
                <a:latin typeface="Segoe UI"/>
                <a:ea typeface="맑은 고딕"/>
              </a:rPr>
              <a:t>▎</a:t>
            </a:r>
            <a:r>
              <a:rPr lang="ko-KR" altLang="en-US" sz="1800" dirty="0">
                <a:solidFill>
                  <a:srgbClr val="A0AEC0"/>
                </a:solidFill>
                <a:latin typeface="Segoe UI"/>
                <a:ea typeface="맑은 고딕"/>
              </a:rPr>
              <a:t> </a:t>
            </a:r>
            <a:r>
              <a:rPr lang="ko-KR" altLang="en-US" sz="1400" dirty="0"/>
              <a:t>블록 진입 시 </a:t>
            </a:r>
            <a:r>
              <a:rPr lang="en-US" altLang="ko-KR" sz="1400" dirty="0"/>
              <a:t>new Environment(</a:t>
            </a:r>
            <a:r>
              <a:rPr lang="ko-KR" altLang="en-US" sz="1400" dirty="0"/>
              <a:t>현재</a:t>
            </a:r>
            <a:r>
              <a:rPr lang="en-US" altLang="ko-KR" sz="1400" dirty="0"/>
              <a:t>) </a:t>
            </a:r>
            <a:r>
              <a:rPr lang="ko-KR" altLang="en-US" sz="1400" dirty="0"/>
              <a:t>로 자식 환경을 만들고</a:t>
            </a:r>
            <a:r>
              <a:rPr lang="en-US" altLang="ko-KR" sz="1400" dirty="0"/>
              <a:t>, </a:t>
            </a:r>
            <a:r>
              <a:rPr lang="ko-KR" altLang="en-US" sz="1400" dirty="0"/>
              <a:t>블록이 끝나면 부모 환경으로 복귀하는</a:t>
            </a:r>
          </a:p>
          <a:p>
            <a:r>
              <a:rPr lang="ko-KR" altLang="en-US" sz="1400" dirty="0"/>
              <a:t>  방식으로 </a:t>
            </a:r>
            <a:r>
              <a:rPr lang="ko-KR" altLang="en-US" sz="1400" dirty="0" err="1"/>
              <a:t>스코프</a:t>
            </a:r>
            <a:r>
              <a:rPr lang="ko-KR" altLang="en-US" sz="1400" dirty="0"/>
              <a:t> 중첩이 가능해집니다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038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13  CODE REVIEW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코드리뷰가 만든 변화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ReviewCard1">
            <a:extLst>
              <a:ext uri="{FF2B5EF4-FFF2-40B4-BE49-F238E27FC236}">
                <a16:creationId xmlns:a16="http://schemas.microsoft.com/office/drawing/2014/main" id="{E03A3B58-C9D0-4DB8-BD5C-F1FA84BCE5FE}"/>
              </a:ext>
            </a:extLst>
          </p:cNvPr>
          <p:cNvSpPr/>
          <p:nvPr/>
        </p:nvSpPr>
        <p:spPr>
          <a:xfrm>
            <a:off x="609600" y="1905000"/>
            <a:ext cx="5486400" cy="2184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203200" tIns="177800" rIns="203200" bIns="152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4FD1C5"/>
                </a:solidFill>
                <a:latin typeface="Segoe UI"/>
              </a:rPr>
              <a:t>①  </a:t>
            </a:r>
            <a:r>
              <a:rPr lang="ko-KR" sz="1400" b="1" dirty="0">
                <a:solidFill>
                  <a:srgbClr val="FFFFFF"/>
                </a:solidFill>
                <a:latin typeface="Segoe UI"/>
              </a:rPr>
              <a:t>String → TokenType enum</a:t>
            </a:r>
          </a:p>
          <a:p>
            <a:pPr>
              <a:spcBef>
                <a:spcPts val="400"/>
              </a:spcBef>
              <a:buNone/>
            </a:pPr>
            <a:r>
              <a:rPr lang="en-US" sz="1100" i="1" dirty="0">
                <a:solidFill>
                  <a:srgbClr val="A0AEC0"/>
                </a:solidFill>
                <a:latin typeface="Segoe UI"/>
              </a:rPr>
              <a:t>@insungahn  </a:t>
            </a:r>
            <a:r>
              <a:rPr lang="ko-KR" sz="1100" i="1" dirty="0">
                <a:solidFill>
                  <a:srgbClr val="CBD5E0"/>
                </a:solidFill>
                <a:latin typeface="Segoe UI"/>
              </a:rPr>
              <a:t>“enum으로 컴파일 타임에 오류 감지”</a:t>
            </a:r>
          </a:p>
          <a:p>
            <a:pPr>
              <a:spcBef>
                <a:spcPts val="400"/>
              </a:spcBef>
            </a:pPr>
            <a:endParaRPr lang="ko-KR" altLang="en-US" sz="1100" i="1" dirty="0">
              <a:solidFill>
                <a:srgbClr val="CBD5E0"/>
              </a:solidFill>
              <a:latin typeface="Segoe UI"/>
              <a:ea typeface="맑은 고딕"/>
            </a:endParaRPr>
          </a:p>
          <a:p>
            <a:pPr>
              <a:spcBef>
                <a:spcPts val="350"/>
              </a:spcBef>
              <a:buNone/>
            </a:pPr>
            <a:r>
              <a:rPr lang="en-US" sz="1100" b="1" dirty="0">
                <a:solidFill>
                  <a:srgbClr val="FC8181"/>
                </a:solidFill>
                <a:latin typeface="Segoe UI"/>
              </a:rPr>
              <a:t>Before 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case "+": ...  //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오타도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런타임에야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발견</a:t>
            </a:r>
          </a:p>
          <a:p>
            <a:pPr>
              <a:spcBef>
                <a:spcPts val="350"/>
              </a:spcBef>
              <a:buNone/>
            </a:pPr>
            <a:r>
              <a:rPr lang="en-US" sz="1100" b="1" dirty="0">
                <a:solidFill>
                  <a:srgbClr val="68D391"/>
                </a:solidFill>
                <a:latin typeface="Segoe UI"/>
              </a:rPr>
              <a:t>After 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case PLUS -&gt; ...  //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미존재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 값=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컴파일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에러</a:t>
            </a:r>
          </a:p>
        </p:txBody>
      </p:sp>
      <p:sp>
        <p:nvSpPr>
          <p:cNvPr id="7" name="ReviewCard2">
            <a:extLst>
              <a:ext uri="{FF2B5EF4-FFF2-40B4-BE49-F238E27FC236}">
                <a16:creationId xmlns:a16="http://schemas.microsoft.com/office/drawing/2014/main" id="{128ABA0A-EB91-45F1-ACDF-132DB8EBE202}"/>
              </a:ext>
            </a:extLst>
          </p:cNvPr>
          <p:cNvSpPr/>
          <p:nvPr/>
        </p:nvSpPr>
        <p:spPr>
          <a:xfrm>
            <a:off x="6350000" y="1905000"/>
            <a:ext cx="5689600" cy="2184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6AD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203200" tIns="177800" rIns="203200" bIns="152400" rtlCol="0" anchor="t" anchorCtr="0"/>
          <a:lstStyle/>
          <a:p>
            <a:pPr>
              <a:buNone/>
            </a:pPr>
            <a:r>
              <a:rPr lang="en-US" altLang="ko-KR" sz="1400" b="1" dirty="0">
                <a:solidFill>
                  <a:srgbClr val="F6AD55"/>
                </a:solidFill>
                <a:latin typeface="Segoe UI"/>
              </a:rPr>
              <a:t>②</a:t>
            </a:r>
            <a:r>
              <a:rPr lang="en-US" sz="1400" b="1" dirty="0">
                <a:solidFill>
                  <a:srgbClr val="F6AD55"/>
                </a:solidFill>
                <a:latin typeface="Segoe UI"/>
              </a:rPr>
              <a:t>  </a:t>
            </a:r>
            <a:r>
              <a:rPr lang="ko-KR" sz="1400" b="1" dirty="0">
                <a:solidFill>
                  <a:srgbClr val="FFFFFF"/>
                </a:solidFill>
                <a:latin typeface="Segoe UI"/>
              </a:rPr>
              <a:t>향상된 switch 적용</a:t>
            </a:r>
          </a:p>
          <a:p>
            <a:pPr>
              <a:spcBef>
                <a:spcPts val="400"/>
              </a:spcBef>
              <a:buNone/>
            </a:pPr>
            <a:r>
              <a:rPr lang="en-US" sz="1100" i="1" dirty="0">
                <a:solidFill>
                  <a:srgbClr val="A0AEC0"/>
                </a:solidFill>
                <a:latin typeface="Segoe UI"/>
              </a:rPr>
              <a:t>@soysoybean22  </a:t>
            </a:r>
            <a:r>
              <a:rPr lang="ko-KR" sz="1100" i="1" dirty="0">
                <a:solidFill>
                  <a:srgbClr val="CBD5E0"/>
                </a:solidFill>
                <a:latin typeface="Segoe UI"/>
                <a:ea typeface="맑은 고딕"/>
              </a:rPr>
              <a:t>“향상된 </a:t>
            </a:r>
            <a:r>
              <a:rPr lang="ko-KR" sz="1100" i="1" dirty="0" err="1">
                <a:solidFill>
                  <a:srgbClr val="CBD5E0"/>
                </a:solidFill>
                <a:latin typeface="Segoe UI"/>
                <a:ea typeface="맑은 고딕"/>
              </a:rPr>
              <a:t>switch</a:t>
            </a:r>
            <a:r>
              <a:rPr lang="ko-KR" altLang="en-US" sz="1100" i="1" dirty="0" err="1">
                <a:solidFill>
                  <a:srgbClr val="CBD5E0"/>
                </a:solidFill>
                <a:latin typeface="Segoe UI"/>
                <a:ea typeface="맑은 고딕"/>
              </a:rPr>
              <a:t>문으로</a:t>
            </a:r>
            <a:r>
              <a:rPr lang="ko-KR" sz="1100" i="1" dirty="0">
                <a:solidFill>
                  <a:srgbClr val="CBD5E0"/>
                </a:solidFill>
                <a:latin typeface="Segoe UI"/>
                <a:ea typeface="맑은 고딕"/>
              </a:rPr>
              <a:t> </a:t>
            </a:r>
            <a:r>
              <a:rPr lang="ko-KR" sz="1100" i="1" dirty="0" err="1">
                <a:solidFill>
                  <a:srgbClr val="CBD5E0"/>
                </a:solidFill>
                <a:latin typeface="Segoe UI"/>
                <a:ea typeface="맑은 고딕"/>
              </a:rPr>
              <a:t>fall-through</a:t>
            </a:r>
            <a:r>
              <a:rPr lang="ko-KR" sz="1100" i="1" dirty="0">
                <a:solidFill>
                  <a:srgbClr val="CBD5E0"/>
                </a:solidFill>
                <a:latin typeface="Segoe UI"/>
                <a:ea typeface="맑은 고딕"/>
              </a:rPr>
              <a:t> 차단”</a:t>
            </a:r>
            <a:endParaRPr lang="ko-KR" sz="1100" i="1" dirty="0">
              <a:solidFill>
                <a:srgbClr val="CBD5E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400"/>
              </a:spcBef>
            </a:pPr>
            <a:endParaRPr lang="ko-KR" altLang="en-US" sz="1100" i="1" dirty="0">
              <a:solidFill>
                <a:srgbClr val="CBD5E0"/>
              </a:solidFill>
              <a:latin typeface="Segoe UI"/>
              <a:ea typeface="맑은 고딕"/>
            </a:endParaRPr>
          </a:p>
          <a:p>
            <a:pPr>
              <a:spcBef>
                <a:spcPts val="350"/>
              </a:spcBef>
              <a:buNone/>
            </a:pPr>
            <a:r>
              <a:rPr lang="en-US" sz="1100" b="1" dirty="0">
                <a:solidFill>
                  <a:srgbClr val="FC8181"/>
                </a:solidFill>
                <a:latin typeface="Segoe UI"/>
              </a:rPr>
              <a:t>Before 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case '(':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addToken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(...); break;  // break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누락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위험</a:t>
            </a:r>
            <a:endParaRPr lang="en-US" sz="1100" dirty="0">
              <a:solidFill>
                <a:srgbClr val="E8EAF0"/>
              </a:solidFill>
              <a:latin typeface="Consolas"/>
            </a:endParaRPr>
          </a:p>
          <a:p>
            <a:pPr>
              <a:spcBef>
                <a:spcPts val="350"/>
              </a:spcBef>
              <a:buNone/>
            </a:pPr>
            <a:r>
              <a:rPr lang="en-US" sz="1100" b="1" dirty="0">
                <a:solidFill>
                  <a:srgbClr val="68D391"/>
                </a:solidFill>
                <a:latin typeface="Segoe UI"/>
              </a:rPr>
              <a:t>After 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case '(' -&gt;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addToken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(...);  // fall-through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불가</a:t>
            </a:r>
            <a:endParaRPr lang="en-US" sz="1100" dirty="0">
              <a:solidFill>
                <a:srgbClr val="E8EAF0"/>
              </a:solidFill>
              <a:latin typeface="Consolas"/>
            </a:endParaRPr>
          </a:p>
        </p:txBody>
      </p:sp>
      <p:sp>
        <p:nvSpPr>
          <p:cNvPr id="9" name="ReviewCard3">
            <a:extLst>
              <a:ext uri="{FF2B5EF4-FFF2-40B4-BE49-F238E27FC236}">
                <a16:creationId xmlns:a16="http://schemas.microsoft.com/office/drawing/2014/main" id="{748D5BFF-27EF-4638-A2D1-077FBA0460A0}"/>
              </a:ext>
            </a:extLst>
          </p:cNvPr>
          <p:cNvSpPr/>
          <p:nvPr/>
        </p:nvSpPr>
        <p:spPr>
          <a:xfrm>
            <a:off x="609600" y="4216400"/>
            <a:ext cx="5486400" cy="2184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3B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203199" tIns="177800" rIns="203199" bIns="152399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63B3ED"/>
                </a:solidFill>
                <a:latin typeface="Segoe UI"/>
              </a:rPr>
              <a:t>③  </a:t>
            </a:r>
            <a:r>
              <a:rPr lang="ko-KR" sz="1400" b="1" dirty="0">
                <a:solidFill>
                  <a:srgbClr val="FFFFFF"/>
                </a:solidFill>
                <a:latin typeface="Segoe UI"/>
                <a:ea typeface="맑은 고딕"/>
              </a:rPr>
              <a:t>+ 연산자 문자열 연결 버그</a:t>
            </a:r>
          </a:p>
          <a:p>
            <a:pPr>
              <a:spcBef>
                <a:spcPts val="400"/>
              </a:spcBef>
              <a:buNone/>
            </a:pPr>
            <a:r>
              <a:rPr lang="en-US" sz="1100" i="1" dirty="0">
                <a:solidFill>
                  <a:srgbClr val="A0AEC0"/>
                </a:solidFill>
                <a:latin typeface="Segoe UI"/>
              </a:rPr>
              <a:t>@insungahn  </a:t>
            </a:r>
            <a:r>
              <a:rPr lang="ko-KR" sz="1100" i="1" dirty="0">
                <a:solidFill>
                  <a:srgbClr val="CBD5E0"/>
                </a:solidFill>
                <a:latin typeface="Segoe UI"/>
                <a:ea typeface="맑은 고딕"/>
              </a:rPr>
              <a:t>“String 피연산자에서 오류 발생”</a:t>
            </a:r>
            <a:endParaRPr lang="ko-KR" dirty="0">
              <a:ea typeface="맑은 고딕"/>
            </a:endParaRPr>
          </a:p>
          <a:p>
            <a:pPr>
              <a:spcBef>
                <a:spcPts val="400"/>
              </a:spcBef>
            </a:pPr>
            <a:endParaRPr lang="ko-KR" altLang="en-US" sz="1100" i="1" dirty="0">
              <a:solidFill>
                <a:srgbClr val="CBD5E0"/>
              </a:solidFill>
              <a:latin typeface="Segoe UI"/>
              <a:ea typeface="맑은 고딕"/>
            </a:endParaRPr>
          </a:p>
          <a:p>
            <a:pPr>
              <a:spcBef>
                <a:spcPts val="350"/>
              </a:spcBef>
              <a:buNone/>
            </a:pPr>
            <a:r>
              <a:rPr lang="en-US" sz="1100" b="1" dirty="0">
                <a:solidFill>
                  <a:srgbClr val="FC8181"/>
                </a:solidFill>
                <a:latin typeface="Segoe UI"/>
              </a:rPr>
              <a:t>Before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checkNumberOperands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(...)  //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숫자만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처리</a:t>
            </a:r>
            <a:endParaRPr lang="en-US" dirty="0"/>
          </a:p>
          <a:p>
            <a:pPr>
              <a:spcBef>
                <a:spcPts val="350"/>
              </a:spcBef>
              <a:buNone/>
            </a:pPr>
            <a:r>
              <a:rPr lang="en-US" sz="1100" b="1" dirty="0">
                <a:solidFill>
                  <a:srgbClr val="68D391"/>
                </a:solidFill>
                <a:latin typeface="Segoe UI"/>
              </a:rPr>
              <a:t>After 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if (l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instanceof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 String) return </a:t>
            </a:r>
            <a:r>
              <a:rPr lang="en-US" sz="1100" dirty="0" err="1">
                <a:solidFill>
                  <a:srgbClr val="E8EAF0"/>
                </a:solidFill>
                <a:latin typeface="Consolas"/>
              </a:rPr>
              <a:t>l+r</a:t>
            </a:r>
            <a:r>
              <a:rPr lang="en-US" sz="1100" dirty="0">
                <a:solidFill>
                  <a:srgbClr val="E8EAF0"/>
                </a:solidFill>
                <a:latin typeface="Consolas"/>
              </a:rPr>
              <a:t>;</a:t>
            </a:r>
            <a:endParaRPr lang="en-US" dirty="0"/>
          </a:p>
        </p:txBody>
      </p:sp>
      <p:sp>
        <p:nvSpPr>
          <p:cNvPr id="16" name="ReviewCard4">
            <a:extLst>
              <a:ext uri="{FF2B5EF4-FFF2-40B4-BE49-F238E27FC236}">
                <a16:creationId xmlns:a16="http://schemas.microsoft.com/office/drawing/2014/main" id="{DCF63151-3F4F-409F-A285-0A4CBFBFE08C}"/>
              </a:ext>
            </a:extLst>
          </p:cNvPr>
          <p:cNvSpPr/>
          <p:nvPr/>
        </p:nvSpPr>
        <p:spPr>
          <a:xfrm>
            <a:off x="6350000" y="4216400"/>
            <a:ext cx="5689600" cy="2184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203200" tIns="177800" rIns="203200" bIns="152400" rtlCol="0" anchor="t" anchorCtr="0"/>
          <a:lstStyle/>
          <a:p>
            <a:pPr>
              <a:buNone/>
            </a:pPr>
            <a:r>
              <a:rPr lang="en-US" sz="1400" b="1" dirty="0">
                <a:solidFill>
                  <a:srgbClr val="FC8181"/>
                </a:solidFill>
                <a:latin typeface="Segoe UI"/>
              </a:rPr>
              <a:t>④  </a:t>
            </a:r>
            <a:r>
              <a:rPr lang="ko-KR" sz="1400" b="1" dirty="0">
                <a:solidFill>
                  <a:srgbClr val="FFFFFF"/>
                </a:solidFill>
                <a:latin typeface="Segoe UI"/>
              </a:rPr>
              <a:t>visitIndexSet 타입 검사 누락</a:t>
            </a:r>
          </a:p>
          <a:p>
            <a:pPr>
              <a:spcBef>
                <a:spcPts val="400"/>
              </a:spcBef>
              <a:buNone/>
            </a:pPr>
            <a:r>
              <a:rPr lang="en-US" sz="1100" i="1" dirty="0">
                <a:solidFill>
                  <a:srgbClr val="A0AEC0"/>
                </a:solidFill>
                <a:latin typeface="Segoe UI"/>
              </a:rPr>
              <a:t>@YongbonJeon  </a:t>
            </a:r>
            <a:r>
              <a:rPr lang="ko-KR" sz="1100" i="1" dirty="0">
                <a:solidFill>
                  <a:srgbClr val="CBD5E0"/>
                </a:solidFill>
                <a:latin typeface="Segoe UI"/>
                <a:ea typeface="맑은 고딕"/>
              </a:rPr>
              <a:t>“비배열에 인덱스 쓰기가 통과됨”</a:t>
            </a:r>
            <a:endParaRPr lang="ko-KR" sz="1100" i="1" dirty="0">
              <a:solidFill>
                <a:srgbClr val="CBD5E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350"/>
              </a:spcBef>
              <a:buNone/>
            </a:pPr>
            <a:r>
              <a:rPr lang="en-US" sz="1100" b="1" dirty="0">
                <a:solidFill>
                  <a:srgbClr val="FC8181"/>
                </a:solidFill>
                <a:latin typeface="Segoe UI"/>
                <a:cs typeface="Segoe UI"/>
              </a:rPr>
              <a:t>Before </a:t>
            </a:r>
            <a:endParaRPr lang="ko-KR" sz="1100" dirty="0">
              <a:latin typeface="Segoe UI"/>
              <a:cs typeface="Segoe UI"/>
            </a:endParaRPr>
          </a:p>
          <a:p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  int index = </a:t>
            </a:r>
            <a:r>
              <a:rPr lang="en-US" sz="1000" dirty="0" err="1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indexOf</a:t>
            </a:r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000" dirty="0" err="1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expr.index</a:t>
            </a:r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, </a:t>
            </a:r>
            <a:r>
              <a:rPr lang="en-US" sz="1000" dirty="0" err="1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expr.bracket</a:t>
            </a:r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, (CodeFabArray) target);</a:t>
            </a:r>
            <a:endParaRPr lang="ko-KR" altLang="en-US" sz="1000" dirty="0">
              <a:solidFill>
                <a:srgbClr val="E8EAF0"/>
              </a:solidFill>
              <a:latin typeface="Consolas"/>
              <a:ea typeface="맑은 고딕"/>
              <a:cs typeface="Segoe UI"/>
            </a:endParaRPr>
          </a:p>
          <a:p>
            <a:r>
              <a:rPr lang="en-US" sz="1100" b="1" dirty="0">
                <a:solidFill>
                  <a:srgbClr val="68D391"/>
                </a:solidFill>
                <a:latin typeface="Segoe UI"/>
                <a:ea typeface="+mn-lt"/>
                <a:cs typeface="+mn-lt"/>
              </a:rPr>
              <a:t>After </a:t>
            </a:r>
            <a:endParaRPr lang="ko-KR" sz="1100" dirty="0">
              <a:latin typeface="Segoe UI"/>
            </a:endParaRPr>
          </a:p>
          <a:p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  if (!(target </a:t>
            </a:r>
            <a:r>
              <a:rPr lang="en-US" sz="1000" dirty="0" err="1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instanceof</a:t>
            </a:r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 CodeFabArray array)) {</a:t>
            </a:r>
            <a:endParaRPr lang="en-US" sz="1000" dirty="0">
              <a:latin typeface="Consolas"/>
            </a:endParaRPr>
          </a:p>
          <a:p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      throw new </a:t>
            </a:r>
            <a:r>
              <a:rPr lang="en-US" sz="1000" dirty="0" err="1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ExecutionError</a:t>
            </a:r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1000" dirty="0" err="1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expr.bracket.line</a:t>
            </a:r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, "</a:t>
            </a:r>
            <a:r>
              <a:rPr lang="ko-KR" alt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인덱스</a:t>
            </a:r>
            <a:r>
              <a:rPr lang="en-US" altLang="ko-KR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접근은</a:t>
            </a:r>
            <a:r>
              <a:rPr lang="en-US" altLang="ko-KR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배열만</a:t>
            </a:r>
            <a:r>
              <a:rPr lang="en-US" altLang="ko-KR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ko-KR" alt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지원합니다</a:t>
            </a:r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.");</a:t>
            </a:r>
            <a:endParaRPr lang="en-US" sz="1000" dirty="0">
              <a:latin typeface="Consolas"/>
            </a:endParaRPr>
          </a:p>
          <a:p>
            <a:pPr>
              <a:spcBef>
                <a:spcPts val="350"/>
              </a:spcBef>
            </a:pPr>
            <a:r>
              <a:rPr lang="en-US" sz="1000" dirty="0">
                <a:solidFill>
                  <a:srgbClr val="E8EAF0"/>
                </a:solidFill>
                <a:latin typeface="Consolas"/>
                <a:ea typeface="+mn-lt"/>
                <a:cs typeface="+mn-lt"/>
              </a:rPr>
              <a:t>  }</a:t>
            </a:r>
            <a:endParaRPr lang="en-US" sz="1000" dirty="0">
              <a:solidFill>
                <a:srgbClr val="E8EAF0"/>
              </a:solidFill>
              <a:latin typeface="Consolas"/>
            </a:endParaRPr>
          </a:p>
        </p:txBody>
      </p:sp>
      <p:sp>
        <p:nvSpPr>
          <p:cNvPr id="17" name="ReviewFooter">
            <a:extLst>
              <a:ext uri="{FF2B5EF4-FFF2-40B4-BE49-F238E27FC236}">
                <a16:creationId xmlns:a16="http://schemas.microsoft.com/office/drawing/2014/main" id="{5B368079-39C6-4C9C-AFE6-FFA45144D9AE}"/>
              </a:ext>
            </a:extLst>
          </p:cNvPr>
          <p:cNvSpPr txBox="1"/>
          <p:nvPr/>
        </p:nvSpPr>
        <p:spPr>
          <a:xfrm>
            <a:off x="609600" y="6502400"/>
            <a:ext cx="11226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tIns="0" bIns="0" rtlCol="0" anchor="t">
            <a:spAutoFit/>
          </a:bodyPr>
          <a:lstStyle/>
          <a:p>
            <a:pPr algn="l"/>
            <a:r>
              <a:rPr lang="ko-KR" altLang="en-US" sz="1300" i="1">
                <a:solidFill>
                  <a:srgbClr val="A0AEC0"/>
                </a:solidFill>
                <a:latin typeface="Segoe UI"/>
                <a:cs typeface="Segoe UI"/>
              </a:rPr>
              <a:t>리뷰어 코멘트 → 반영 커밋으로 직결된 실제 사례</a:t>
            </a:r>
          </a:p>
        </p:txBody>
      </p:sp>
    </p:spTree>
    <p:extLst>
      <p:ext uri="{BB962C8B-B14F-4D97-AF65-F5344CB8AC3E}">
        <p14:creationId xmlns:p14="http://schemas.microsoft.com/office/powerpoint/2010/main" val="804948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14 </a:t>
            </a:r>
            <a:r>
              <a:rPr lang="en-US" sz="1400" b="1" dirty="0" err="1">
                <a:solidFill>
                  <a:srgbClr val="F6AD55"/>
                </a:solidFill>
                <a:latin typeface="Segoe UI"/>
              </a:rPr>
              <a:t>GoF</a:t>
            </a:r>
            <a:r>
              <a:rPr lang="en-US" sz="1400" b="1" dirty="0">
                <a:solidFill>
                  <a:srgbClr val="F6AD55"/>
                </a:solidFill>
                <a:latin typeface="Segoe UI"/>
              </a:rPr>
              <a:t> </a:t>
            </a:r>
            <a:r>
              <a:rPr lang="ko-KR" altLang="en-US" sz="1400" b="1" dirty="0">
                <a:solidFill>
                  <a:srgbClr val="F6AD55"/>
                </a:solidFill>
                <a:latin typeface="Segoe UI"/>
                <a:ea typeface="맑은 고딕"/>
              </a:rPr>
              <a:t>디자인</a:t>
            </a:r>
            <a:r>
              <a:rPr lang="en-US" sz="1400" b="1" dirty="0">
                <a:solidFill>
                  <a:srgbClr val="F6AD55"/>
                </a:solidFill>
                <a:latin typeface="Segoe UI"/>
              </a:rPr>
              <a:t> </a:t>
            </a:r>
            <a:r>
              <a:rPr lang="ko-KR" altLang="en-US" sz="1400" b="1" dirty="0">
                <a:solidFill>
                  <a:srgbClr val="F6AD55"/>
                </a:solidFill>
                <a:latin typeface="Segoe UI"/>
                <a:ea typeface="맑은 고딕"/>
              </a:rPr>
              <a:t>패턴</a:t>
            </a:r>
            <a:r>
              <a:rPr lang="en-US" altLang="ko-KR" sz="1400" b="1" dirty="0">
                <a:solidFill>
                  <a:srgbClr val="F6AD55"/>
                </a:solidFill>
                <a:latin typeface="Segoe UI"/>
                <a:ea typeface="맑은 고딕"/>
              </a:rPr>
              <a:t> </a:t>
            </a:r>
            <a:r>
              <a:rPr lang="ko-KR" altLang="en-US" sz="1400" b="1" dirty="0">
                <a:solidFill>
                  <a:srgbClr val="F6AD55"/>
                </a:solidFill>
                <a:latin typeface="Segoe UI"/>
                <a:ea typeface="맑은 고딕"/>
              </a:rPr>
              <a:t>적용</a:t>
            </a:r>
            <a:endParaRPr lang="en-US" sz="1400" b="1" dirty="0">
              <a:solidFill>
                <a:srgbClr val="F6AD55"/>
              </a:solidFill>
              <a:latin typeface="Segoe UI"/>
              <a:cs typeface="Segoe UI"/>
            </a:endParaRP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AST 노드 · Visitor 패턴 적용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0308" y="2032000"/>
            <a:ext cx="5386038" cy="4463585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FC81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endParaRPr lang="en-US" altLang="ko-KR" sz="1500" b="1" dirty="0">
              <a:solidFill>
                <a:srgbClr val="4FD1C5"/>
              </a:solidFill>
              <a:latin typeface="Segoe UI"/>
              <a:ea typeface="맑은 고딕"/>
              <a:cs typeface="Segoe UI"/>
            </a:endParaRP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977054" y="2032000"/>
            <a:ext cx="5906428" cy="4463585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8D39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t" anchorCtr="0"/>
          <a:lstStyle/>
          <a:p>
            <a:pPr>
              <a:buNone/>
            </a:pPr>
            <a:endParaRPr lang="en-US" altLang="ko-KR" sz="1500" b="1" dirty="0">
              <a:solidFill>
                <a:srgbClr val="63B3ED"/>
              </a:solidFill>
              <a:latin typeface="Segoe UI"/>
              <a:cs typeface="Segoe UI"/>
            </a:endParaRPr>
          </a:p>
          <a:p>
            <a:endParaRPr lang="en-US" sz="1500" b="1" dirty="0">
              <a:solidFill>
                <a:srgbClr val="63B3ED"/>
              </a:solidFill>
              <a:latin typeface="Segoe UI"/>
              <a:cs typeface="Segoe UI"/>
            </a:endParaRPr>
          </a:p>
        </p:txBody>
      </p:sp>
      <p:pic>
        <p:nvPicPr>
          <p:cNvPr id="2" name="그림 1" descr="텍스트, 폰트, 화이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8DAC6B-A88C-863A-06B7-DCCED2357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45" y="2706378"/>
            <a:ext cx="1990725" cy="962025"/>
          </a:xfrm>
          <a:prstGeom prst="rect">
            <a:avLst/>
          </a:prstGeom>
        </p:spPr>
      </p:pic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780E06-D596-A5CC-F809-8B5519DD4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97" y="3892124"/>
            <a:ext cx="4686300" cy="202882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8B1940-47A8-A634-9526-B9C8F5A7E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244" y="2468021"/>
            <a:ext cx="5073341" cy="3836252"/>
          </a:xfrm>
          <a:prstGeom prst="rect">
            <a:avLst/>
          </a:prstGeom>
        </p:spPr>
      </p:pic>
      <p:sp>
        <p:nvSpPr>
          <p:cNvPr id="6" name="RefTopL">
            <a:extLst>
              <a:ext uri="{FF2B5EF4-FFF2-40B4-BE49-F238E27FC236}">
                <a16:creationId xmlns:a16="http://schemas.microsoft.com/office/drawing/2014/main" id="{51CFDCAD-CD80-7CE2-484E-16A37326C668}"/>
              </a:ext>
            </a:extLst>
          </p:cNvPr>
          <p:cNvSpPr txBox="1"/>
          <p:nvPr/>
        </p:nvSpPr>
        <p:spPr>
          <a:xfrm>
            <a:off x="961483" y="2192454"/>
            <a:ext cx="5334000" cy="2154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FC8181"/>
                </a:solidFill>
                <a:latin typeface="Segoe UI"/>
                <a:ea typeface="맑은 고딕"/>
                <a:cs typeface="Segoe UI"/>
              </a:rPr>
              <a:t>Before</a:t>
            </a:r>
          </a:p>
        </p:txBody>
      </p:sp>
      <p:sp>
        <p:nvSpPr>
          <p:cNvPr id="8" name="RefTopR">
            <a:extLst>
              <a:ext uri="{FF2B5EF4-FFF2-40B4-BE49-F238E27FC236}">
                <a16:creationId xmlns:a16="http://schemas.microsoft.com/office/drawing/2014/main" id="{7C8C7BA4-22F3-0ABE-4EB8-5F562F0F9B25}"/>
              </a:ext>
            </a:extLst>
          </p:cNvPr>
          <p:cNvSpPr txBox="1"/>
          <p:nvPr/>
        </p:nvSpPr>
        <p:spPr>
          <a:xfrm>
            <a:off x="6696617" y="2192454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af-ZA" altLang="ko-KR" sz="1400" b="1">
                <a:solidFill>
                  <a:srgbClr val="68D391"/>
                </a:solidFill>
                <a:latin typeface="Segoe UI"/>
                <a:cs typeface="Segoe UI"/>
              </a:rPr>
              <a:t>After</a:t>
            </a:r>
            <a:endParaRPr lang="ko-KR" altLang="en-US" sz="1400" b="1">
              <a:solidFill>
                <a:srgbClr val="68D391"/>
              </a:solidFill>
              <a:latin typeface="Segoe UI"/>
              <a:cs typeface="Segoe U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50AC53-801D-40F7-BA84-F33B4EE8F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305" y="3306402"/>
            <a:ext cx="1405291" cy="92871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BD4FD4C-9513-48AC-AD4A-B516E88C0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090" y="2300176"/>
            <a:ext cx="1505160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29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15  기능 추가 ① 함수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함수 · 클로저 + Return 시그널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LinkCard">
            <a:extLst>
              <a:ext uri="{FF2B5EF4-FFF2-40B4-BE49-F238E27FC236}">
                <a16:creationId xmlns:a16="http://schemas.microsoft.com/office/drawing/2014/main" id="{96340078-F50D-45FB-BCBD-73B9023434D9}"/>
              </a:ext>
            </a:extLst>
          </p:cNvPr>
          <p:cNvSpPr/>
          <p:nvPr/>
        </p:nvSpPr>
        <p:spPr>
          <a:xfrm>
            <a:off x="5638800" y="2997200"/>
            <a:ext cx="914400" cy="914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17" name="Graphic 17" descr="코드 보기 링크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9507" y="30009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41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16  기능 추가 ② 정적 배열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정적 배열 · 네이티브 함수 + indexOf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LinkCard">
            <a:extLst>
              <a:ext uri="{FF2B5EF4-FFF2-40B4-BE49-F238E27FC236}">
                <a16:creationId xmlns:a16="http://schemas.microsoft.com/office/drawing/2014/main" id="{23D48CA1-9DFF-4C52-B34D-87E56DCC6E1E}"/>
              </a:ext>
            </a:extLst>
          </p:cNvPr>
          <p:cNvSpPr/>
          <p:nvPr/>
        </p:nvSpPr>
        <p:spPr>
          <a:xfrm>
            <a:off x="5638800" y="2997200"/>
            <a:ext cx="914400" cy="914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14" name="Graphic 14" descr="코드 보기 링크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393" y="30009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16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17  기능 추가 ③ 실행 전 최적화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실행 전 최적화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LinkCard">
            <a:extLst>
              <a:ext uri="{FF2B5EF4-FFF2-40B4-BE49-F238E27FC236}">
                <a16:creationId xmlns:a16="http://schemas.microsoft.com/office/drawing/2014/main" id="{50CCC3DE-6CCF-4B8D-BE4F-3809CA77DDC6}"/>
              </a:ext>
            </a:extLst>
          </p:cNvPr>
          <p:cNvSpPr/>
          <p:nvPr/>
        </p:nvSpPr>
        <p:spPr>
          <a:xfrm>
            <a:off x="5638800" y="2997200"/>
            <a:ext cx="914400" cy="914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14" name="Graphic 14" descr="코드 보기 링크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6100" y="30009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52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18  기능 추가 ④ 공장 제어 쉘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공장 제어 쉘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LinkCard">
            <a:extLst>
              <a:ext uri="{FF2B5EF4-FFF2-40B4-BE49-F238E27FC236}">
                <a16:creationId xmlns:a16="http://schemas.microsoft.com/office/drawing/2014/main" id="{0F0DAC0C-7C72-43BD-864A-DB054D75D6B9}"/>
              </a:ext>
            </a:extLst>
          </p:cNvPr>
          <p:cNvSpPr/>
          <p:nvPr/>
        </p:nvSpPr>
        <p:spPr>
          <a:xfrm>
            <a:off x="5638800" y="2997200"/>
            <a:ext cx="914400" cy="9144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14" name="Graphic 14" descr="코드 보기 링크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5393" y="30009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80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19  LIVE DEMO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시연 — </a:t>
            </a:r>
            <a:r>
              <a:rPr lang="ko-KR" sz="3200" b="1" dirty="0" err="1">
                <a:solidFill>
                  <a:srgbClr val="FFFFFF"/>
                </a:solidFill>
                <a:latin typeface="Segoe UI Semibold"/>
              </a:rPr>
              <a:t>CodeFab</a:t>
            </a:r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 실</a:t>
            </a:r>
            <a:r>
              <a:rPr lang="ko-KR" altLang="en-US" sz="3200" b="1" dirty="0">
                <a:solidFill>
                  <a:srgbClr val="FFFFFF"/>
                </a:solidFill>
                <a:latin typeface="Segoe UI Semibold"/>
              </a:rPr>
              <a:t>행</a:t>
            </a:r>
            <a:endParaRPr lang="ko-KR" sz="3200" b="1" dirty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3622598" y="2132106"/>
            <a:ext cx="4946804" cy="3810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buNone/>
            </a:pP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시연</a:t>
            </a:r>
            <a:r>
              <a:rPr lang="en-US" sz="1500" b="1" dirty="0">
                <a:solidFill>
                  <a:srgbClr val="4FD1C5"/>
                </a:solidFill>
                <a:latin typeface="Segoe UI"/>
              </a:rPr>
              <a:t> </a:t>
            </a: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시나리오</a:t>
            </a:r>
            <a:endParaRPr lang="en-US" sz="1500" b="1" dirty="0">
              <a:solidFill>
                <a:srgbClr val="4FD1C5"/>
              </a:solidFill>
              <a:latin typeface="Segoe UI"/>
            </a:endParaRPr>
          </a:p>
          <a:p>
            <a:pPr>
              <a:buNone/>
            </a:pPr>
            <a:endParaRPr lang="en-US" sz="1500" b="1" dirty="0">
              <a:solidFill>
                <a:srgbClr val="4FD1C5"/>
              </a:solidFill>
              <a:latin typeface="Segoe UI"/>
            </a:endParaRPr>
          </a:p>
          <a:p>
            <a:pPr marL="0" indent="0"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F6AD55"/>
                </a:solidFill>
                <a:latin typeface="Segoe UI"/>
              </a:rPr>
              <a:t>STEP 1  </a:t>
            </a:r>
            <a:r>
              <a:rPr lang="ko-KR" altLang="en-US" sz="1500" b="1" dirty="0">
                <a:solidFill>
                  <a:srgbClr val="E8EAF0"/>
                </a:solidFill>
                <a:latin typeface="Segoe UI"/>
              </a:rPr>
              <a:t>파일 실행 모드 </a:t>
            </a:r>
            <a:r>
              <a:rPr lang="en-US" altLang="ko-KR" sz="1500" b="1" dirty="0">
                <a:solidFill>
                  <a:srgbClr val="E8EAF0"/>
                </a:solidFill>
                <a:latin typeface="Segoe UI"/>
              </a:rPr>
              <a:t>: </a:t>
            </a:r>
            <a:r>
              <a:rPr lang="en-US" altLang="ko-KR" sz="1500" dirty="0">
                <a:solidFill>
                  <a:srgbClr val="E8EAF0"/>
                </a:solidFill>
                <a:latin typeface="Segoe UI"/>
              </a:rPr>
              <a:t>Bubble Sort </a:t>
            </a:r>
            <a:endParaRPr lang="ko-KR" sz="1500" dirty="0">
              <a:solidFill>
                <a:srgbClr val="E8EAF0"/>
              </a:solidFill>
              <a:latin typeface="Segoe UI"/>
            </a:endParaRPr>
          </a:p>
          <a:p>
            <a:pPr marL="0" indent="0"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F6AD55"/>
                </a:solidFill>
                <a:latin typeface="Segoe UI"/>
              </a:rPr>
              <a:t>STEP 2  </a:t>
            </a:r>
            <a:r>
              <a:rPr lang="en-US" sz="1500" b="1" dirty="0">
                <a:solidFill>
                  <a:srgbClr val="E8EAF0"/>
                </a:solidFill>
                <a:latin typeface="Segoe UI"/>
              </a:rPr>
              <a:t>D</a:t>
            </a:r>
            <a:r>
              <a:rPr lang="en-US" altLang="ko-KR" sz="1500" dirty="0">
                <a:solidFill>
                  <a:srgbClr val="E8EAF0"/>
                </a:solidFill>
                <a:latin typeface="Segoe UI"/>
              </a:rPr>
              <a:t>ebug </a:t>
            </a:r>
            <a:r>
              <a:rPr lang="ko-KR" altLang="en-US" sz="1500" dirty="0">
                <a:solidFill>
                  <a:srgbClr val="E8EAF0"/>
                </a:solidFill>
                <a:latin typeface="Segoe UI"/>
              </a:rPr>
              <a:t>모드 </a:t>
            </a:r>
            <a:r>
              <a:rPr lang="en-US" altLang="ko-KR" sz="1500" dirty="0">
                <a:solidFill>
                  <a:srgbClr val="E8EAF0"/>
                </a:solidFill>
                <a:latin typeface="Segoe UI"/>
              </a:rPr>
              <a:t>: Factorial</a:t>
            </a:r>
          </a:p>
        </p:txBody>
      </p:sp>
    </p:spTree>
    <p:extLst>
      <p:ext uri="{BB962C8B-B14F-4D97-AF65-F5344CB8AC3E}">
        <p14:creationId xmlns:p14="http://schemas.microsoft.com/office/powerpoint/2010/main" val="1024136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E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AccentBar">
            <a:extLst>
              <a:ext uri="{FF2B5EF4-FFF2-40B4-BE49-F238E27FC236}">
                <a16:creationId xmlns:a16="http://schemas.microsoft.com/office/drawing/2014/main" id="{29FF770E-C7F7-4489-AFB0-629CA43003E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5F14D70F-0A8D-4A1D-953F-A4685CBD72C9}"/>
              </a:ext>
            </a:extLst>
          </p:cNvPr>
          <p:cNvSpPr txBox="1"/>
          <p:nvPr/>
        </p:nvSpPr>
        <p:spPr>
          <a:xfrm>
            <a:off x="609600" y="482600"/>
            <a:ext cx="762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400" b="1" dirty="0">
                <a:solidFill>
                  <a:srgbClr val="F6AD55"/>
                </a:solidFill>
                <a:latin typeface="Segoe UI"/>
              </a:rPr>
              <a:t>20  WRAP-UP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E244791-8A37-4CDE-A7BA-6EE00A431333}"/>
              </a:ext>
            </a:extLst>
          </p:cNvPr>
          <p:cNvSpPr txBox="1"/>
          <p:nvPr/>
        </p:nvSpPr>
        <p:spPr>
          <a:xfrm>
            <a:off x="596900" y="787400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sz="3200" b="1" dirty="0">
                <a:solidFill>
                  <a:srgbClr val="FFFFFF"/>
                </a:solidFill>
                <a:latin typeface="Segoe UI Semibold"/>
              </a:rPr>
              <a:t>회고 &amp; Q&amp;A</a:t>
            </a:r>
          </a:p>
        </p:txBody>
      </p:sp>
      <p:sp>
        <p:nvSpPr>
          <p:cNvPr id="13" name="TitleRule">
            <a:extLst>
              <a:ext uri="{FF2B5EF4-FFF2-40B4-BE49-F238E27FC236}">
                <a16:creationId xmlns:a16="http://schemas.microsoft.com/office/drawing/2014/main" id="{3CCA5443-E819-4314-9D2D-411125898B71}"/>
              </a:ext>
            </a:extLst>
          </p:cNvPr>
          <p:cNvSpPr/>
          <p:nvPr/>
        </p:nvSpPr>
        <p:spPr>
          <a:xfrm>
            <a:off x="609600" y="1549400"/>
            <a:ext cx="812800" cy="50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GoalCard">
            <a:extLst>
              <a:ext uri="{FF2B5EF4-FFF2-40B4-BE49-F238E27FC236}">
                <a16:creationId xmlns:a16="http://schemas.microsoft.com/office/drawing/2014/main" id="{D899334B-48AD-4693-8B67-68DA84742580}"/>
              </a:ext>
            </a:extLst>
          </p:cNvPr>
          <p:cNvSpPr/>
          <p:nvPr/>
        </p:nvSpPr>
        <p:spPr>
          <a:xfrm>
            <a:off x="609600" y="2159000"/>
            <a:ext cx="4826000" cy="3810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4FD1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buNone/>
            </a:pPr>
            <a:r>
              <a:rPr lang="en-US" sz="1500" b="1" dirty="0" err="1">
                <a:solidFill>
                  <a:srgbClr val="4FD1C5"/>
                </a:solidFill>
                <a:latin typeface="Segoe UI"/>
              </a:rPr>
              <a:t>배운</a:t>
            </a:r>
            <a:r>
              <a:rPr lang="en-US" sz="1500" b="1" dirty="0">
                <a:solidFill>
                  <a:srgbClr val="4FD1C5"/>
                </a:solidFill>
                <a:latin typeface="Segoe UI"/>
              </a:rPr>
              <a:t> 점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3-Unit 분리로 책임이 명확한 구조 설계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TDD가 리팩토링의 안전망이 됨을 체감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디자인 패턴으로 분기문 폭증 해결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단계적 기능 확장의 중요성 (</a:t>
            </a:r>
            <a:r>
              <a:rPr lang="ko-KR" sz="1500" dirty="0" err="1">
                <a:solidFill>
                  <a:srgbClr val="E8EAF0"/>
                </a:solidFill>
                <a:latin typeface="Segoe UI"/>
              </a:rPr>
              <a:t>함수→쉘</a:t>
            </a:r>
            <a:r>
              <a:rPr lang="ko-KR" sz="1500" dirty="0">
                <a:solidFill>
                  <a:srgbClr val="E8EAF0"/>
                </a:solidFill>
                <a:latin typeface="Segoe UI"/>
              </a:rPr>
              <a:t>)</a:t>
            </a:r>
            <a:endParaRPr lang="en-US" altLang="ko-KR" sz="1500" dirty="0">
              <a:solidFill>
                <a:srgbClr val="E8EAF0"/>
              </a:solidFill>
              <a:latin typeface="Segoe UI"/>
            </a:endParaRP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altLang="ko-KR" sz="1500" dirty="0">
                <a:solidFill>
                  <a:srgbClr val="E8EAF0"/>
                </a:solidFill>
                <a:latin typeface="Segoe UI"/>
              </a:rPr>
              <a:t>AI </a:t>
            </a:r>
            <a:r>
              <a:rPr lang="ko-KR" altLang="en-US" sz="1500" dirty="0">
                <a:solidFill>
                  <a:srgbClr val="E8EAF0"/>
                </a:solidFill>
                <a:latin typeface="Segoe UI"/>
              </a:rPr>
              <a:t>보조 도구 활용의 편리함</a:t>
            </a:r>
            <a:endParaRPr lang="ko-KR" sz="1500" dirty="0">
              <a:solidFill>
                <a:srgbClr val="E8EAF0"/>
              </a:solidFill>
              <a:latin typeface="Segoe UI"/>
            </a:endParaRPr>
          </a:p>
        </p:txBody>
      </p:sp>
      <p:sp>
        <p:nvSpPr>
          <p:cNvPr id="15" name="TimelineCard">
            <a:extLst>
              <a:ext uri="{FF2B5EF4-FFF2-40B4-BE49-F238E27FC236}">
                <a16:creationId xmlns:a16="http://schemas.microsoft.com/office/drawing/2014/main" id="{F3BCE98E-382B-4AEA-83F6-8A8DE697831F}"/>
              </a:ext>
            </a:extLst>
          </p:cNvPr>
          <p:cNvSpPr/>
          <p:nvPr/>
        </p:nvSpPr>
        <p:spPr>
          <a:xfrm>
            <a:off x="5740400" y="2159000"/>
            <a:ext cx="5842000" cy="3810000"/>
          </a:xfrm>
          <a:prstGeom prst="roundRect">
            <a:avLst/>
          </a:prstGeom>
          <a:solidFill>
            <a:srgbClr val="242A3A"/>
          </a:solidFill>
          <a:ln w="12700" cap="flat" cmpd="sng" algn="ctr">
            <a:solidFill>
              <a:srgbClr val="63B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04800" tIns="279400" rIns="304800" bIns="279400" rtlCol="0" anchor="ctr" anchorCtr="0"/>
          <a:lstStyle/>
          <a:p>
            <a:pPr>
              <a:spcBef>
                <a:spcPts val="600"/>
              </a:spcBef>
              <a:buNone/>
            </a:pPr>
            <a:r>
              <a:rPr lang="ko-KR" sz="2000" b="1" dirty="0">
                <a:solidFill>
                  <a:srgbClr val="4FD1C5"/>
                </a:solidFill>
                <a:latin typeface="Segoe UI Semibold"/>
              </a:rPr>
              <a:t>5일간 완성한 인터프리터</a:t>
            </a:r>
          </a:p>
          <a:p>
            <a:pPr>
              <a:spcBef>
                <a:spcPts val="300"/>
              </a:spcBef>
              <a:buNone/>
            </a:pPr>
            <a:r>
              <a:rPr lang="ko-KR" sz="1400" dirty="0">
                <a:solidFill>
                  <a:srgbClr val="A0AEC0"/>
                </a:solidFill>
                <a:latin typeface="Segoe UI"/>
              </a:rPr>
              <a:t>Assembler · Checker · Executor 풀 파이프라인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함수 · 배열 · 최적화 · 제어 쉘까지 확장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ko-KR" sz="1500" dirty="0">
                <a:solidFill>
                  <a:srgbClr val="E8EAF0"/>
                </a:solidFill>
                <a:latin typeface="Segoe UI"/>
              </a:rPr>
              <a:t>TDD + GoF 패턴 기반 리팩토링 적용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endParaRPr lang="ko-KR" altLang="en-US" sz="1500" dirty="0">
              <a:solidFill>
                <a:srgbClr val="E8EAF0"/>
              </a:solidFill>
              <a:latin typeface="Segoe UI"/>
              <a:ea typeface="맑은 고딕"/>
              <a:cs typeface="Segoe UI"/>
            </a:endParaRPr>
          </a:p>
          <a:p>
            <a:pPr>
              <a:spcBef>
                <a:spcPts val="600"/>
              </a:spcBef>
              <a:buNone/>
            </a:pPr>
            <a:r>
              <a:rPr lang="ko-KR" sz="2000" b="1" dirty="0">
                <a:solidFill>
                  <a:srgbClr val="F6AD55"/>
                </a:solidFill>
                <a:latin typeface="Segoe UI Semibold"/>
              </a:rPr>
              <a:t>감사합니다 — Q&amp;A</a:t>
            </a:r>
          </a:p>
          <a:p>
            <a:pPr>
              <a:spcBef>
                <a:spcPts val="300"/>
              </a:spcBef>
              <a:buNone/>
            </a:pPr>
            <a:r>
              <a:rPr lang="ko-KR" sz="1400" dirty="0">
                <a:solidFill>
                  <a:srgbClr val="A0AEC0"/>
                </a:solidFill>
                <a:latin typeface="Segoe UI"/>
              </a:rPr>
              <a:t>Team AceCoder · 안인성 · 김용우 · 전용본</a:t>
            </a:r>
          </a:p>
        </p:txBody>
      </p:sp>
    </p:spTree>
    <p:extLst>
      <p:ext uri="{BB962C8B-B14F-4D97-AF65-F5344CB8AC3E}">
        <p14:creationId xmlns:p14="http://schemas.microsoft.com/office/powerpoint/2010/main" val="173685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80644801109]">
  <a:themeElements>
    <a:clrScheme name="Office">
      <a:dk1>
        <a:srgbClr val="E8EAF0"/>
      </a:dk1>
      <a:lt1>
        <a:srgbClr val="1A1E2A"/>
      </a:lt1>
      <a:dk2>
        <a:srgbClr val="0F1420"/>
      </a:dk2>
      <a:lt2>
        <a:srgbClr val="242A3A"/>
      </a:lt2>
      <a:accent1>
        <a:srgbClr val="4FD1C5"/>
      </a:accent1>
      <a:accent2>
        <a:srgbClr val="F6AD55"/>
      </a:accent2>
      <a:accent3>
        <a:srgbClr val="63B3ED"/>
      </a:accent3>
      <a:accent4>
        <a:srgbClr val="68D391"/>
      </a:accent4>
      <a:accent5>
        <a:srgbClr val="B794F4"/>
      </a:accent5>
      <a:accent6>
        <a:srgbClr val="FC8181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C966B46-B9C0-47EC-9ED1-91AD9C3F3A1B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15c36e69-196b-40a0-b23e-067612e013ae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1316</Words>
  <Application>Microsoft Office PowerPoint</Application>
  <PresentationFormat>와이드스크린</PresentationFormat>
  <Paragraphs>367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Arial</vt:lpstr>
      <vt:lpstr>Consolas</vt:lpstr>
      <vt:lpstr>Segoe UI</vt:lpstr>
      <vt:lpstr>Segoe UI Semibold</vt:lpstr>
      <vt:lpstr>Office 테마 [1780644801109]</vt:lpstr>
      <vt:lpstr>CodeFab Interpreter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CodeFab Interpreter</dc:title>
  <dc:creator/>
  <cp:lastModifiedBy>User</cp:lastModifiedBy>
  <cp:revision>437</cp:revision>
  <dcterms:created xsi:type="dcterms:W3CDTF">2026-06-05T06:39:30Z</dcterms:created>
  <dcterms:modified xsi:type="dcterms:W3CDTF">2026-06-09T05:34:57Z</dcterms:modified>
</cp:coreProperties>
</file>